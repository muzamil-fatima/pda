
<file path=[Content_Types].xml><?xml version="1.0" encoding="utf-8"?>
<Types xmlns="http://schemas.openxmlformats.org/package/2006/content-types">
  <Default Extension="png" ContentType="image/png"/>
  <Default Extension="svg" ContentType="image/svg+xml"/>
  <Default Extension="wmf" ContentType="image/x-w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27"/>
  </p:notesMasterIdLst>
  <p:sldIdLst>
    <p:sldId id="311" r:id="rId2"/>
    <p:sldId id="283" r:id="rId3"/>
    <p:sldId id="281" r:id="rId4"/>
    <p:sldId id="305" r:id="rId5"/>
    <p:sldId id="306" r:id="rId6"/>
    <p:sldId id="387" r:id="rId7"/>
    <p:sldId id="388" r:id="rId8"/>
    <p:sldId id="382" r:id="rId9"/>
    <p:sldId id="386" r:id="rId10"/>
    <p:sldId id="383" r:id="rId11"/>
    <p:sldId id="384" r:id="rId12"/>
    <p:sldId id="385" r:id="rId13"/>
    <p:sldId id="393" r:id="rId14"/>
    <p:sldId id="394" r:id="rId15"/>
    <p:sldId id="399" r:id="rId16"/>
    <p:sldId id="400" r:id="rId17"/>
    <p:sldId id="401" r:id="rId18"/>
    <p:sldId id="395" r:id="rId19"/>
    <p:sldId id="396" r:id="rId20"/>
    <p:sldId id="286" r:id="rId21"/>
    <p:sldId id="389" r:id="rId22"/>
    <p:sldId id="390" r:id="rId23"/>
    <p:sldId id="280" r:id="rId24"/>
    <p:sldId id="285" r:id="rId25"/>
    <p:sldId id="398" r:id="rId2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92218" autoAdjust="0"/>
  </p:normalViewPr>
  <p:slideViewPr>
    <p:cSldViewPr snapToGrid="0">
      <p:cViewPr varScale="1">
        <p:scale>
          <a:sx n="82" d="100"/>
          <a:sy n="82" d="100"/>
        </p:scale>
        <p:origin x="888" y="126"/>
      </p:cViewPr>
      <p:guideLst/>
    </p:cSldViewPr>
  </p:slideViewPr>
  <p:outlineViewPr>
    <p:cViewPr>
      <p:scale>
        <a:sx n="33" d="100"/>
        <a:sy n="33" d="100"/>
      </p:scale>
      <p:origin x="0" y="-12126"/>
    </p:cViewPr>
  </p:outlineViewPr>
  <p:notesTextViewPr>
    <p:cViewPr>
      <p:scale>
        <a:sx n="1" d="1"/>
        <a:sy n="1" d="1"/>
      </p:scale>
      <p:origin x="0" y="0"/>
    </p:cViewPr>
  </p:notesTextViewPr>
  <p:sorterViewPr>
    <p:cViewPr>
      <p:scale>
        <a:sx n="100" d="100"/>
        <a:sy n="100" d="100"/>
      </p:scale>
      <p:origin x="0" y="-377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86A7654-4E2B-4822-BAE0-8BF48C8D095C}" type="datetimeFigureOut">
              <a:rPr lang="en-US" smtClean="0"/>
              <a:t>10/22/2024</a:t>
            </a:fld>
            <a:endParaRPr lang="en-US" dirty="0"/>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D701400-B431-4047-89AC-DA61F7C3E04A}" type="slidenum">
              <a:rPr lang="en-US" smtClean="0"/>
              <a:t>‹#›</a:t>
            </a:fld>
            <a:endParaRPr lang="en-US" dirty="0"/>
          </a:p>
        </p:txBody>
      </p:sp>
    </p:spTree>
    <p:extLst>
      <p:ext uri="{BB962C8B-B14F-4D97-AF65-F5344CB8AC3E}">
        <p14:creationId xmlns:p14="http://schemas.microsoft.com/office/powerpoint/2010/main" val="766390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69C32AA-29E0-4558-BC14-174AC8456D63}" type="slidenum">
              <a:rPr lang="en-US" altLang="en-US" smtClean="0"/>
              <a:pPr>
                <a:defRPr/>
              </a:pPr>
              <a:t>1</a:t>
            </a:fld>
            <a:endParaRPr lang="en-US" altLang="en-US"/>
          </a:p>
        </p:txBody>
      </p:sp>
    </p:spTree>
    <p:extLst>
      <p:ext uri="{BB962C8B-B14F-4D97-AF65-F5344CB8AC3E}">
        <p14:creationId xmlns:p14="http://schemas.microsoft.com/office/powerpoint/2010/main" val="3727846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a:t>
            </a:fld>
            <a:endParaRPr lang="en-US" dirty="0"/>
          </a:p>
        </p:txBody>
      </p:sp>
    </p:spTree>
    <p:extLst>
      <p:ext uri="{BB962C8B-B14F-4D97-AF65-F5344CB8AC3E}">
        <p14:creationId xmlns:p14="http://schemas.microsoft.com/office/powerpoint/2010/main" val="1655815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and when </a:t>
            </a:r>
          </a:p>
        </p:txBody>
      </p:sp>
      <p:sp>
        <p:nvSpPr>
          <p:cNvPr id="4" name="Slide Number Placeholder 3"/>
          <p:cNvSpPr>
            <a:spLocks noGrp="1"/>
          </p:cNvSpPr>
          <p:nvPr>
            <p:ph type="sldNum" sz="quarter" idx="10"/>
          </p:nvPr>
        </p:nvSpPr>
        <p:spPr/>
        <p:txBody>
          <a:bodyPr/>
          <a:lstStyle/>
          <a:p>
            <a:fld id="{1D701400-B431-4047-89AC-DA61F7C3E04A}" type="slidenum">
              <a:rPr lang="en-US" smtClean="0"/>
              <a:t>3</a:t>
            </a:fld>
            <a:endParaRPr lang="en-US" dirty="0"/>
          </a:p>
        </p:txBody>
      </p:sp>
    </p:spTree>
    <p:extLst>
      <p:ext uri="{BB962C8B-B14F-4D97-AF65-F5344CB8AC3E}">
        <p14:creationId xmlns:p14="http://schemas.microsoft.com/office/powerpoint/2010/main" val="21136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point to point</a:t>
            </a:r>
          </a:p>
          <a:p>
            <a:r>
              <a:rPr lang="en-US" dirty="0"/>
              <a:t>Dynamic: indirect</a:t>
            </a:r>
          </a:p>
        </p:txBody>
      </p:sp>
      <p:sp>
        <p:nvSpPr>
          <p:cNvPr id="4" name="Slide Number Placeholder 3"/>
          <p:cNvSpPr>
            <a:spLocks noGrp="1"/>
          </p:cNvSpPr>
          <p:nvPr>
            <p:ph type="sldNum" sz="quarter" idx="10"/>
          </p:nvPr>
        </p:nvSpPr>
        <p:spPr/>
        <p:txBody>
          <a:bodyPr/>
          <a:lstStyle/>
          <a:p>
            <a:fld id="{1D701400-B431-4047-89AC-DA61F7C3E04A}" type="slidenum">
              <a:rPr lang="en-US" smtClean="0"/>
              <a:t>6</a:t>
            </a:fld>
            <a:endParaRPr lang="en-US" dirty="0"/>
          </a:p>
        </p:txBody>
      </p:sp>
    </p:spTree>
    <p:extLst>
      <p:ext uri="{BB962C8B-B14F-4D97-AF65-F5344CB8AC3E}">
        <p14:creationId xmlns:p14="http://schemas.microsoft.com/office/powerpoint/2010/main" val="438317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7</a:t>
            </a:fld>
            <a:endParaRPr lang="en-US" dirty="0"/>
          </a:p>
        </p:txBody>
      </p:sp>
    </p:spTree>
    <p:extLst>
      <p:ext uri="{BB962C8B-B14F-4D97-AF65-F5344CB8AC3E}">
        <p14:creationId xmlns:p14="http://schemas.microsoft.com/office/powerpoint/2010/main" val="3856337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8</a:t>
            </a:fld>
            <a:endParaRPr lang="en-US" dirty="0"/>
          </a:p>
        </p:txBody>
      </p:sp>
    </p:spTree>
    <p:extLst>
      <p:ext uri="{BB962C8B-B14F-4D97-AF65-F5344CB8AC3E}">
        <p14:creationId xmlns:p14="http://schemas.microsoft.com/office/powerpoint/2010/main" val="1705389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is a device that opens or closes access to certain data bank </a:t>
            </a:r>
            <a:r>
              <a:rPr lang="en-US"/>
              <a:t>or word</a:t>
            </a:r>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9</a:t>
            </a:fld>
            <a:endParaRPr lang="en-US" dirty="0"/>
          </a:p>
        </p:txBody>
      </p:sp>
    </p:spTree>
    <p:extLst>
      <p:ext uri="{BB962C8B-B14F-4D97-AF65-F5344CB8AC3E}">
        <p14:creationId xmlns:p14="http://schemas.microsoft.com/office/powerpoint/2010/main" val="2578653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3d-weather modeling, 3d-structure modeling</a:t>
            </a:r>
          </a:p>
        </p:txBody>
      </p:sp>
      <p:sp>
        <p:nvSpPr>
          <p:cNvPr id="4" name="Slide Number Placeholder 3"/>
          <p:cNvSpPr>
            <a:spLocks noGrp="1"/>
          </p:cNvSpPr>
          <p:nvPr>
            <p:ph type="sldNum" sz="quarter" idx="10"/>
          </p:nvPr>
        </p:nvSpPr>
        <p:spPr/>
        <p:txBody>
          <a:bodyPr/>
          <a:lstStyle/>
          <a:p>
            <a:fld id="{1D701400-B431-4047-89AC-DA61F7C3E04A}" type="slidenum">
              <a:rPr lang="en-US" smtClean="0"/>
              <a:t>10</a:t>
            </a:fld>
            <a:endParaRPr lang="en-US" dirty="0"/>
          </a:p>
        </p:txBody>
      </p:sp>
    </p:spTree>
    <p:extLst>
      <p:ext uri="{BB962C8B-B14F-4D97-AF65-F5344CB8AC3E}">
        <p14:creationId xmlns:p14="http://schemas.microsoft.com/office/powerpoint/2010/main" val="1932409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11</a:t>
            </a:fld>
            <a:endParaRPr lang="en-US" dirty="0"/>
          </a:p>
        </p:txBody>
      </p:sp>
    </p:spTree>
    <p:extLst>
      <p:ext uri="{BB962C8B-B14F-4D97-AF65-F5344CB8AC3E}">
        <p14:creationId xmlns:p14="http://schemas.microsoft.com/office/powerpoint/2010/main" val="3016955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12</a:t>
            </a:fld>
            <a:endParaRPr lang="en-US" dirty="0"/>
          </a:p>
        </p:txBody>
      </p:sp>
    </p:spTree>
    <p:extLst>
      <p:ext uri="{BB962C8B-B14F-4D97-AF65-F5344CB8AC3E}">
        <p14:creationId xmlns:p14="http://schemas.microsoft.com/office/powerpoint/2010/main" val="3644163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13</a:t>
            </a:fld>
            <a:endParaRPr lang="en-US" dirty="0"/>
          </a:p>
        </p:txBody>
      </p:sp>
    </p:spTree>
    <p:extLst>
      <p:ext uri="{BB962C8B-B14F-4D97-AF65-F5344CB8AC3E}">
        <p14:creationId xmlns:p14="http://schemas.microsoft.com/office/powerpoint/2010/main" val="2233804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14</a:t>
            </a:fld>
            <a:endParaRPr lang="en-US" dirty="0"/>
          </a:p>
        </p:txBody>
      </p:sp>
    </p:spTree>
    <p:extLst>
      <p:ext uri="{BB962C8B-B14F-4D97-AF65-F5344CB8AC3E}">
        <p14:creationId xmlns:p14="http://schemas.microsoft.com/office/powerpoint/2010/main" val="3048313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18</a:t>
            </a:fld>
            <a:endParaRPr lang="en-US" dirty="0"/>
          </a:p>
        </p:txBody>
      </p:sp>
    </p:spTree>
    <p:extLst>
      <p:ext uri="{BB962C8B-B14F-4D97-AF65-F5344CB8AC3E}">
        <p14:creationId xmlns:p14="http://schemas.microsoft.com/office/powerpoint/2010/main" val="2192178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19</a:t>
            </a:fld>
            <a:endParaRPr lang="en-US" dirty="0"/>
          </a:p>
        </p:txBody>
      </p:sp>
    </p:spTree>
    <p:extLst>
      <p:ext uri="{BB962C8B-B14F-4D97-AF65-F5344CB8AC3E}">
        <p14:creationId xmlns:p14="http://schemas.microsoft.com/office/powerpoint/2010/main" val="3972176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Bisection width is related to available bandwidth of the network when first half of network communicates with second half of the network  </a:t>
            </a:r>
          </a:p>
          <a:p>
            <a:r>
              <a:rPr lang="en-US" dirty="0"/>
              <a:t>Our performance increases as no. of dimensions increase</a:t>
            </a:r>
          </a:p>
        </p:txBody>
      </p:sp>
      <p:sp>
        <p:nvSpPr>
          <p:cNvPr id="4" name="Slide Number Placeholder 3"/>
          <p:cNvSpPr>
            <a:spLocks noGrp="1"/>
          </p:cNvSpPr>
          <p:nvPr>
            <p:ph type="sldNum" sz="quarter" idx="10"/>
          </p:nvPr>
        </p:nvSpPr>
        <p:spPr/>
        <p:txBody>
          <a:bodyPr/>
          <a:lstStyle/>
          <a:p>
            <a:fld id="{1D701400-B431-4047-89AC-DA61F7C3E04A}" type="slidenum">
              <a:rPr lang="en-US" smtClean="0"/>
              <a:t>20</a:t>
            </a:fld>
            <a:endParaRPr lang="en-US" dirty="0"/>
          </a:p>
        </p:txBody>
      </p:sp>
    </p:spTree>
    <p:extLst>
      <p:ext uri="{BB962C8B-B14F-4D97-AF65-F5344CB8AC3E}">
        <p14:creationId xmlns:p14="http://schemas.microsoft.com/office/powerpoint/2010/main" val="2326030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21</a:t>
            </a:fld>
            <a:endParaRPr lang="en-US" dirty="0"/>
          </a:p>
        </p:txBody>
      </p:sp>
    </p:spTree>
    <p:extLst>
      <p:ext uri="{BB962C8B-B14F-4D97-AF65-F5344CB8AC3E}">
        <p14:creationId xmlns:p14="http://schemas.microsoft.com/office/powerpoint/2010/main" val="1584338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dirty="0">
                <a:sym typeface="Wingdings" panose="05000000000000000000" pitchFamily="2" charset="2"/>
              </a:rPr>
              <a:t>log(p+1)-1 floors of links in binary trees </a:t>
            </a:r>
            <a:r>
              <a:rPr lang="en-US" b="1" dirty="0">
                <a:sym typeface="Wingdings" panose="05000000000000000000" pitchFamily="2" charset="2"/>
              </a:rPr>
              <a:t>Exponential formula=</a:t>
            </a:r>
            <a:r>
              <a:rPr lang="en-US" dirty="0">
                <a:sym typeface="Wingdings" panose="05000000000000000000" pitchFamily="2" charset="2"/>
              </a:rPr>
              <a:t>2^0 + 2^1+…+2^n=2^(n+1)  -1</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dirty="0">
                <a:sym typeface="Wingdings" panose="05000000000000000000" pitchFamily="2" charset="2"/>
              </a:rPr>
              <a:t>To solve hypercube induce concept of directed links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 bisection= not </a:t>
            </a:r>
            <a:r>
              <a:rPr lang="en-US" sz="1050" dirty="0">
                <a:solidFill>
                  <a:schemeClr val="tx1">
                    <a:lumMod val="85000"/>
                    <a:lumOff val="15000"/>
                  </a:schemeClr>
                </a:solidFill>
              </a:rPr>
              <a:t>⎣ </a:t>
            </a:r>
            <a:r>
              <a:rPr lang="en-US" i="1" dirty="0">
                <a:solidFill>
                  <a:schemeClr val="tx1">
                    <a:lumMod val="85000"/>
                    <a:lumOff val="15000"/>
                  </a:schemeClr>
                </a:solidFill>
              </a:rPr>
              <a:t>p/2</a:t>
            </a:r>
            <a:r>
              <a:rPr lang="en-US" sz="1050" dirty="0">
                <a:solidFill>
                  <a:schemeClr val="tx1">
                    <a:lumMod val="85000"/>
                    <a:lumOff val="15000"/>
                  </a:schemeClr>
                </a:solidFill>
              </a:rPr>
              <a:t> ⎦</a:t>
            </a:r>
            <a:r>
              <a:rPr lang="en-US" b="1" dirty="0"/>
              <a:t> but </a:t>
            </a:r>
            <a:r>
              <a:rPr lang="en-US" b="0" dirty="0"/>
              <a:t>1 because we only have one link to transfer data to second half </a:t>
            </a:r>
            <a:endParaRPr lang="en-US" dirty="0"/>
          </a:p>
          <a:p>
            <a:r>
              <a:rPr lang="en-US" dirty="0"/>
              <a:t>Determine expressions for all the interconnections</a:t>
            </a:r>
          </a:p>
          <a:p>
            <a:r>
              <a:rPr lang="en-US" dirty="0"/>
              <a:t>Discuss scalability issues</a:t>
            </a:r>
            <a:r>
              <a:rPr lang="en-US" dirty="0">
                <a:sym typeface="Wingdings" panose="05000000000000000000" pitchFamily="2" charset="2"/>
              </a:rPr>
              <a:t> How adding or removing a node effects overall network</a:t>
            </a:r>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22</a:t>
            </a:fld>
            <a:endParaRPr lang="en-US" dirty="0"/>
          </a:p>
        </p:txBody>
      </p:sp>
    </p:spTree>
    <p:extLst>
      <p:ext uri="{BB962C8B-B14F-4D97-AF65-F5344CB8AC3E}">
        <p14:creationId xmlns:p14="http://schemas.microsoft.com/office/powerpoint/2010/main" val="4163342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23</a:t>
            </a:fld>
            <a:endParaRPr lang="en-US" dirty="0"/>
          </a:p>
        </p:txBody>
      </p:sp>
    </p:spTree>
    <p:extLst>
      <p:ext uri="{BB962C8B-B14F-4D97-AF65-F5344CB8AC3E}">
        <p14:creationId xmlns:p14="http://schemas.microsoft.com/office/powerpoint/2010/main" val="566507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25</a:t>
            </a:fld>
            <a:endParaRPr lang="en-US" dirty="0"/>
          </a:p>
        </p:txBody>
      </p:sp>
    </p:spTree>
    <p:extLst>
      <p:ext uri="{BB962C8B-B14F-4D97-AF65-F5344CB8AC3E}">
        <p14:creationId xmlns:p14="http://schemas.microsoft.com/office/powerpoint/2010/main" val="120152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B57EFC55-2150-4DCA-A94B-D94290C10DF5}"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0EB7319F-4077-44B4-9A6C-FEF1EF56DF15}"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74440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18" y="142188"/>
            <a:ext cx="8323551" cy="815755"/>
          </a:xfrm>
        </p:spPr>
        <p:txBody>
          <a:bodyPr/>
          <a:lstStyle>
            <a:lvl1pPr>
              <a:defRPr b="1"/>
            </a:lvl1pPr>
          </a:lstStyle>
          <a:p>
            <a:r>
              <a:rPr lang="en-US" dirty="0"/>
              <a:t>Click to edit Master title style</a:t>
            </a:r>
          </a:p>
        </p:txBody>
      </p:sp>
      <p:sp>
        <p:nvSpPr>
          <p:cNvPr id="3" name="Content Placeholder 2"/>
          <p:cNvSpPr>
            <a:spLocks noGrp="1"/>
          </p:cNvSpPr>
          <p:nvPr>
            <p:ph idx="1"/>
          </p:nvPr>
        </p:nvSpPr>
        <p:spPr>
          <a:xfrm>
            <a:off x="711218" y="1280277"/>
            <a:ext cx="8323551" cy="4987331"/>
          </a:xfrm>
        </p:spPr>
        <p:txBody>
          <a:bodyPr/>
          <a:lstStyle>
            <a:lvl1pPr>
              <a:spcBef>
                <a:spcPts val="600"/>
              </a:spcBef>
              <a:defRPr sz="2400"/>
            </a:lvl1pPr>
            <a:lvl2pPr>
              <a:spcBef>
                <a:spcPts val="600"/>
              </a:spcBef>
              <a:defRPr sz="2000"/>
            </a:lvl2pPr>
            <a:lvl3pPr>
              <a:spcBef>
                <a:spcPts val="600"/>
              </a:spcBef>
              <a:defRPr sz="1800"/>
            </a:lvl3pPr>
            <a:lvl4pPr>
              <a:spcBef>
                <a:spcPts val="600"/>
              </a:spcBef>
              <a:defRPr sz="1600"/>
            </a:lvl4pPr>
            <a:lvl5pPr>
              <a:spcBef>
                <a:spcPts val="600"/>
              </a:spcBef>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686261" y="6322697"/>
            <a:ext cx="1348509" cy="370171"/>
          </a:xfrm>
        </p:spPr>
        <p:txBody>
          <a:bodyPr/>
          <a:lstStyle/>
          <a:p>
            <a:pPr>
              <a:defRPr/>
            </a:pPr>
            <a:fld id="{C552FA3A-4200-4FFD-8286-32516157B691}"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11"/>
          </p:nvPr>
        </p:nvSpPr>
        <p:spPr>
          <a:xfrm>
            <a:off x="711218" y="6322697"/>
            <a:ext cx="6227641" cy="365125"/>
          </a:xfrm>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88"/>
            <a:ext cx="702307"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8911" y="782633"/>
            <a:ext cx="584978" cy="365125"/>
          </a:xfrm>
        </p:spPr>
        <p:txBody>
          <a:bodyPr/>
          <a:lstStyle/>
          <a:p>
            <a:fld id="{C50AD498-1756-4FAA-884D-721A5EF92E83}" type="slidenum">
              <a:rPr lang="en-US" altLang="en-US" smtClean="0"/>
              <a:pPr/>
              <a:t>‹#›</a:t>
            </a:fld>
            <a:endParaRPr lang="en-US" altLang="en-US" dirty="0"/>
          </a:p>
        </p:txBody>
      </p:sp>
    </p:spTree>
    <p:extLst>
      <p:ext uri="{BB962C8B-B14F-4D97-AF65-F5344CB8AC3E}">
        <p14:creationId xmlns:p14="http://schemas.microsoft.com/office/powerpoint/2010/main" val="651202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D1FBDA5-A075-40BD-8702-E7D76040DCE3}"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lvl1pPr>
              <a:defRPr>
                <a:solidFill>
                  <a:schemeClr val="bg1"/>
                </a:solidFill>
              </a:defRPr>
            </a:lvl1pPr>
          </a:lstStyle>
          <a:p>
            <a:fld id="{8DC59533-E7C0-4494-9DC9-3F44FD5B2288}" type="slidenum">
              <a:rPr lang="en-US" altLang="en-US" smtClean="0"/>
              <a:pPr/>
              <a:t>‹#›</a:t>
            </a:fld>
            <a:endParaRPr lang="en-US" altLang="en-US" dirty="0"/>
          </a:p>
        </p:txBody>
      </p:sp>
    </p:spTree>
    <p:extLst>
      <p:ext uri="{BB962C8B-B14F-4D97-AF65-F5344CB8AC3E}">
        <p14:creationId xmlns:p14="http://schemas.microsoft.com/office/powerpoint/2010/main" val="357339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0321" y="1280278"/>
            <a:ext cx="4126722" cy="4915891"/>
          </a:xfrm>
        </p:spPr>
        <p:txBody>
          <a:bodyPr>
            <a:normAutofit/>
          </a:bodyPr>
          <a:lstStyle>
            <a:lvl1pPr>
              <a:spcBef>
                <a:spcPts val="600"/>
              </a:spcBef>
              <a:defRPr sz="1800"/>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969565" y="1281539"/>
            <a:ext cx="4126157" cy="4915891"/>
          </a:xfrm>
        </p:spPr>
        <p:txBody>
          <a:bodyPr>
            <a:normAutofit/>
          </a:bodyPr>
          <a:lstStyle>
            <a:lvl1pPr>
              <a:spcBef>
                <a:spcPts val="600"/>
              </a:spcBef>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7673010" y="6368709"/>
            <a:ext cx="1361760" cy="370171"/>
          </a:xfrm>
        </p:spPr>
        <p:txBody>
          <a:bodyPr/>
          <a:lstStyle/>
          <a:p>
            <a:pPr>
              <a:defRPr/>
            </a:pPr>
            <a:fld id="{E583BB08-63EF-4C08-ADE8-693E93200533}" type="datetime1">
              <a:rPr lang="en-US" altLang="en-US" smtClean="0">
                <a:solidFill>
                  <a:srgbClr val="000000"/>
                </a:solidFill>
              </a:rPr>
              <a:t>10/22/2024</a:t>
            </a:fld>
            <a:endParaRPr lang="en-US" altLang="en-US" dirty="0">
              <a:solidFill>
                <a:srgbClr val="000000"/>
              </a:solidFill>
            </a:endParaRPr>
          </a:p>
        </p:txBody>
      </p:sp>
      <p:sp>
        <p:nvSpPr>
          <p:cNvPr id="6" name="Footer Placeholder 5"/>
          <p:cNvSpPr>
            <a:spLocks noGrp="1"/>
          </p:cNvSpPr>
          <p:nvPr>
            <p:ph type="ftr" sz="quarter" idx="11"/>
          </p:nvPr>
        </p:nvSpPr>
        <p:spPr>
          <a:xfrm>
            <a:off x="702365" y="6365849"/>
            <a:ext cx="6236494" cy="365125"/>
          </a:xfrm>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9" name="Freeform 11"/>
          <p:cNvSpPr/>
          <p:nvPr/>
        </p:nvSpPr>
        <p:spPr bwMode="auto">
          <a:xfrm flipV="1">
            <a:off x="59" y="711190"/>
            <a:ext cx="70230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22162" y="782633"/>
            <a:ext cx="584978" cy="365125"/>
          </a:xfrm>
        </p:spPr>
        <p:txBody>
          <a:bodyPr/>
          <a:lstStyle/>
          <a:p>
            <a:fld id="{4B01923B-769F-4373-B3D8-C2DA6094E9C2}" type="slidenum">
              <a:rPr lang="en-US" altLang="en-US" smtClean="0"/>
              <a:pPr/>
              <a:t>‹#›</a:t>
            </a:fld>
            <a:endParaRPr lang="en-US" altLang="en-US" dirty="0"/>
          </a:p>
        </p:txBody>
      </p:sp>
      <p:sp>
        <p:nvSpPr>
          <p:cNvPr id="11" name="Title 1"/>
          <p:cNvSpPr>
            <a:spLocks noGrp="1"/>
          </p:cNvSpPr>
          <p:nvPr>
            <p:ph type="title"/>
          </p:nvPr>
        </p:nvSpPr>
        <p:spPr>
          <a:xfrm>
            <a:off x="724468" y="142188"/>
            <a:ext cx="8310301" cy="815755"/>
          </a:xfrm>
        </p:spPr>
        <p:txBody>
          <a:bodyPr/>
          <a:lstStyle>
            <a:lvl1pPr>
              <a:defRPr b="1"/>
            </a:lvl1pPr>
          </a:lstStyle>
          <a:p>
            <a:r>
              <a:rPr lang="en-US" dirty="0"/>
              <a:t>Click to edit Master title style</a:t>
            </a:r>
          </a:p>
        </p:txBody>
      </p:sp>
    </p:spTree>
    <p:extLst>
      <p:ext uri="{BB962C8B-B14F-4D97-AF65-F5344CB8AC3E}">
        <p14:creationId xmlns:p14="http://schemas.microsoft.com/office/powerpoint/2010/main" val="109575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E77374A2-FA59-4CCB-9B57-FEACAC17A908}" type="datetime1">
              <a:rPr lang="en-US" altLang="en-US" smtClean="0">
                <a:solidFill>
                  <a:srgbClr val="000000"/>
                </a:solidFill>
              </a:rPr>
              <a:t>10/22/2024</a:t>
            </a:fld>
            <a:endParaRPr lang="en-US" altLang="en-US" dirty="0">
              <a:solidFill>
                <a:srgbClr val="000000"/>
              </a:solidFill>
            </a:endParaRPr>
          </a:p>
        </p:txBody>
      </p:sp>
      <p:sp>
        <p:nvSpPr>
          <p:cNvPr id="8" name="Footer Placeholder 7"/>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DE6CBD27-9711-4E21-8679-3436A2D8D267}"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1625719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5783D8B9-6CDA-42BD-992C-8BB132371F70}" type="datetime1">
              <a:rPr lang="en-US" altLang="en-US" smtClean="0">
                <a:solidFill>
                  <a:srgbClr val="000000"/>
                </a:solidFill>
              </a:rPr>
              <a:t>10/22/2024</a:t>
            </a:fld>
            <a:endParaRPr lang="en-US" altLang="en-US" dirty="0">
              <a:solidFill>
                <a:srgbClr val="000000"/>
              </a:solidFill>
            </a:endParaRPr>
          </a:p>
        </p:txBody>
      </p:sp>
      <p:sp>
        <p:nvSpPr>
          <p:cNvPr id="4" name="Footer Placeholder 3"/>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7A37EDB-9B1E-42BE-B450-001CA8028EA4}"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072866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B8B9BA96-4B7C-4334-9601-50E7183A77A3}" type="datetime1">
              <a:rPr lang="en-US" altLang="en-US" smtClean="0">
                <a:solidFill>
                  <a:srgbClr val="000000"/>
                </a:solidFill>
              </a:rPr>
              <a:t>10/22/2024</a:t>
            </a:fld>
            <a:endParaRPr lang="en-US" altLang="en-US" dirty="0">
              <a:solidFill>
                <a:srgbClr val="000000"/>
              </a:solidFill>
            </a:endParaRPr>
          </a:p>
        </p:txBody>
      </p:sp>
      <p:sp>
        <p:nvSpPr>
          <p:cNvPr id="3" name="Footer Placeholder 2"/>
          <p:cNvSpPr>
            <a:spLocks noGrp="1"/>
          </p:cNvSpPr>
          <p:nvPr>
            <p:ph type="ftr" sz="quarter" idx="11"/>
          </p:nvPr>
        </p:nvSpPr>
        <p:spPr/>
        <p:txBody>
          <a:bodyPr/>
          <a:lstStyle/>
          <a:p>
            <a:pPr>
              <a:defRPr/>
            </a:pPr>
            <a:r>
              <a:rPr lang="en-US" altLang="en-US" dirty="0" smtClean="0">
                <a:solidFill>
                  <a:srgbClr val="000000"/>
                </a:solidFill>
              </a:rPr>
              <a:t>PDC F23</a:t>
            </a:r>
            <a:endParaRPr lang="en-US" altLang="en-US" dirty="0">
              <a:solidFill>
                <a:srgbClr val="000000"/>
              </a:solidFill>
            </a:endParaRP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B632233-7D2A-45E8-BFA2-E1C56202CBE5}"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4152307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81A9DA5-C5C9-4C7C-92DE-25F88EFFC8E2}" type="datetime1">
              <a:rPr lang="en-US" altLang="en-US" smtClean="0">
                <a:solidFill>
                  <a:srgbClr val="000000"/>
                </a:solidFill>
              </a:rPr>
              <a:t>10/22/2024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474D973-3C1B-4A83-87AE-CB7A258334E1}"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661365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9E133C5-831E-402D-ABEE-B1CEF91717B5}" type="datetime1">
              <a:rPr lang="en-US" altLang="en-US" smtClean="0">
                <a:solidFill>
                  <a:srgbClr val="000000"/>
                </a:solidFill>
              </a:rPr>
              <a:t>10/22/2024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E1426E4D-2F12-42DC-9E77-4F2E38723F64}"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44915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E505BDE3-BF7B-4840-929A-C81D6309E92C}"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522925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F0AD85DB-8CB5-48C2-A4D8-68D768C578D2}"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47146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FFC95FDF-DF6E-4587-BB16-380F8ED1D1CE}" type="datetime1">
              <a:rPr lang="en-US" altLang="en-US" smtClean="0">
                <a:solidFill>
                  <a:srgbClr val="000000"/>
                </a:solidFill>
              </a:rPr>
              <a:t>10/22/2024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165318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94487D90-5C8F-4A5E-B7B9-5064AE5CB65B}" type="datetime1">
              <a:rPr lang="en-US" altLang="en-US" smtClean="0">
                <a:solidFill>
                  <a:srgbClr val="000000"/>
                </a:solidFill>
              </a:rPr>
              <a:t>10/22/2024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863725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2A70868E-8FC8-4802-919B-E1FE9A8EB2AC}" type="datetime1">
              <a:rPr lang="en-US" altLang="en-US" smtClean="0">
                <a:solidFill>
                  <a:srgbClr val="000000"/>
                </a:solidFill>
              </a:rPr>
              <a:t>10/22/2024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91380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EE53527A-256D-425D-B27C-D8E048B3FDFB}"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0217B6-24F4-4090-A44B-3393AA32DD5C}"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5292245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E2AB4FB3-6686-4A71-B4A8-99F2CAD9082D}"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D8F4FB-256D-429C-81CA-F531534D6146}"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70194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8939" y="6135089"/>
            <a:ext cx="1289841"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base">
              <a:spcBef>
                <a:spcPct val="0"/>
              </a:spcBef>
              <a:spcAft>
                <a:spcPct val="0"/>
              </a:spcAft>
              <a:defRPr/>
            </a:pPr>
            <a:fld id="{1C408D8A-6F9C-434F-B3D6-A5B3E0788FE8}" type="datetime1">
              <a:rPr lang="en-US" altLang="en-US" smtClean="0">
                <a:solidFill>
                  <a:srgbClr val="000000"/>
                </a:solidFill>
              </a:rPr>
              <a:t>10/22/2024</a:t>
            </a:fld>
            <a:endParaRPr lang="en-US" altLang="en-US" dirty="0">
              <a:solidFill>
                <a:srgbClr val="000000"/>
              </a:solidFill>
            </a:endParaRPr>
          </a:p>
        </p:txBody>
      </p:sp>
      <p:sp>
        <p:nvSpPr>
          <p:cNvPr id="5" name="Footer Placeholder 4"/>
          <p:cNvSpPr>
            <a:spLocks noGrp="1"/>
          </p:cNvSpPr>
          <p:nvPr>
            <p:ph type="ftr" sz="quarter" idx="3"/>
          </p:nvPr>
        </p:nvSpPr>
        <p:spPr>
          <a:xfrm>
            <a:off x="1942415" y="6135809"/>
            <a:ext cx="510774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429172709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03717" y="1320921"/>
            <a:ext cx="8229600" cy="4997450"/>
          </a:xfrm>
        </p:spPr>
        <p:txBody>
          <a:bodyPr>
            <a:normAutofit/>
          </a:bodyPr>
          <a:lstStyle/>
          <a:p>
            <a:pPr marL="0" indent="0" algn="ctr">
              <a:buFont typeface="Monotype Sorts" pitchFamily="-84" charset="2"/>
              <a:buNone/>
              <a:defRPr/>
            </a:pPr>
            <a:r>
              <a:rPr lang="en-GB" sz="4400" b="1" dirty="0">
                <a:solidFill>
                  <a:srgbClr val="0070C0"/>
                </a:solidFill>
              </a:rPr>
              <a:t>Parallel and Distributed Computing</a:t>
            </a:r>
          </a:p>
          <a:p>
            <a:pPr marL="0" indent="0" algn="ctr">
              <a:buFont typeface="Monotype Sorts" pitchFamily="-84" charset="2"/>
              <a:buNone/>
              <a:defRPr/>
            </a:pPr>
            <a:endParaRPr lang="en-GB" sz="2800" dirty="0"/>
          </a:p>
          <a:p>
            <a:pPr marL="0" indent="0" algn="ctr">
              <a:buFont typeface="Monotype Sorts" pitchFamily="-84" charset="2"/>
              <a:buNone/>
              <a:defRPr/>
            </a:pPr>
            <a:r>
              <a:rPr lang="en-GB" sz="3200" dirty="0"/>
              <a:t>Lecture 4</a:t>
            </a:r>
          </a:p>
          <a:p>
            <a:pPr marL="0" indent="0" algn="ctr">
              <a:buFont typeface="Monotype Sorts" pitchFamily="-84" charset="2"/>
              <a:buNone/>
              <a:defRPr/>
            </a:pPr>
            <a:r>
              <a:rPr lang="en-GB" sz="3200" b="1" dirty="0">
                <a:solidFill>
                  <a:srgbClr val="FF0000"/>
                </a:solidFill>
              </a:rPr>
              <a:t>Network Topologies</a:t>
            </a:r>
          </a:p>
          <a:p>
            <a:pPr marL="0" indent="0" algn="ctr">
              <a:buFont typeface="Monotype Sorts" pitchFamily="-84" charset="2"/>
              <a:buNone/>
              <a:defRPr/>
            </a:pPr>
            <a:endParaRPr lang="en-GB" sz="3200" dirty="0"/>
          </a:p>
          <a:p>
            <a:pPr marL="0" indent="0" algn="r">
              <a:buFont typeface="Monotype Sorts" pitchFamily="-84" charset="2"/>
              <a:buNone/>
              <a:defRPr/>
            </a:pPr>
            <a:endParaRPr lang="en-GB" sz="1200" dirty="0">
              <a:solidFill>
                <a:srgbClr val="00B050"/>
              </a:solidFill>
            </a:endParaRPr>
          </a:p>
          <a:p>
            <a:pPr marL="0" indent="0" algn="r">
              <a:buFont typeface="Monotype Sorts" pitchFamily="-84" charset="2"/>
              <a:buNone/>
              <a:defRPr/>
            </a:pPr>
            <a:r>
              <a:rPr lang="en-GB" sz="1200" dirty="0"/>
              <a:t> </a:t>
            </a:r>
          </a:p>
          <a:p>
            <a:pPr marL="0" indent="0">
              <a:buFont typeface="Monotype Sorts" pitchFamily="-84" charset="2"/>
              <a:buNone/>
              <a:defRPr/>
            </a:pPr>
            <a:endParaRPr lang="cy-GB" dirty="0"/>
          </a:p>
        </p:txBody>
      </p:sp>
    </p:spTree>
    <p:extLst>
      <p:ext uri="{BB962C8B-B14F-4D97-AF65-F5344CB8AC3E}">
        <p14:creationId xmlns:p14="http://schemas.microsoft.com/office/powerpoint/2010/main" val="2712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Agenda</a:t>
            </a:r>
          </a:p>
        </p:txBody>
      </p:sp>
      <p:sp>
        <p:nvSpPr>
          <p:cNvPr id="3" name="Content Placeholder 2"/>
          <p:cNvSpPr>
            <a:spLocks noGrp="1"/>
          </p:cNvSpPr>
          <p:nvPr>
            <p:ph idx="1"/>
          </p:nvPr>
        </p:nvSpPr>
        <p:spPr/>
        <p:txBody>
          <a:bodyPr>
            <a:normAutofit/>
          </a:bodyPr>
          <a:lstStyle/>
          <a:p>
            <a:pPr algn="just"/>
            <a:r>
              <a:rPr lang="en-US" altLang="en-US" b="1" dirty="0"/>
              <a:t>A Quick Review </a:t>
            </a:r>
          </a:p>
          <a:p>
            <a:pPr algn="just"/>
            <a:endParaRPr lang="en-US" altLang="en-US" b="1" dirty="0"/>
          </a:p>
          <a:p>
            <a:pPr algn="just"/>
            <a:r>
              <a:rPr lang="en-US" altLang="en-US" b="1" dirty="0"/>
              <a:t>Static Interconnection vs Dynamic interconnections</a:t>
            </a:r>
          </a:p>
          <a:p>
            <a:pPr algn="just"/>
            <a:endParaRPr lang="en-US" altLang="en-US" b="1" dirty="0"/>
          </a:p>
          <a:p>
            <a:pPr algn="just"/>
            <a:r>
              <a:rPr lang="en-US" altLang="en-US" b="1" dirty="0"/>
              <a:t>Some Basic Interconnections</a:t>
            </a:r>
          </a:p>
          <a:p>
            <a:pPr algn="just"/>
            <a:endParaRPr lang="en-US" altLang="en-US" b="1" dirty="0"/>
          </a:p>
          <a:p>
            <a:pPr algn="just"/>
            <a:r>
              <a:rPr lang="en-US" altLang="en-US" b="1" dirty="0"/>
              <a:t>Evaluating Static Interconnections </a:t>
            </a:r>
          </a:p>
          <a:p>
            <a:pPr algn="just"/>
            <a:endParaRPr lang="en-US" altLang="en-US" b="1" dirty="0"/>
          </a:p>
          <a:p>
            <a:pPr algn="just"/>
            <a:r>
              <a:rPr lang="en-US" altLang="en-US" b="1" dirty="0"/>
              <a:t>Parallel Algorithm Design Life Cycle </a:t>
            </a:r>
          </a:p>
          <a:p>
            <a:pPr marL="0" indent="0" algn="just">
              <a:buNone/>
            </a:pPr>
            <a:endParaRPr lang="en-US" altLang="en-US" dirty="0"/>
          </a:p>
          <a:p>
            <a:pPr algn="just"/>
            <a:endParaRPr lang="en-US" altLang="en-US" dirty="0"/>
          </a:p>
          <a:p>
            <a:pPr marL="0" indent="0" algn="just">
              <a:buNone/>
            </a:pPr>
            <a:endParaRPr lang="en-US" altLang="en-US" b="1" dirty="0"/>
          </a:p>
          <a:p>
            <a:pPr algn="just"/>
            <a:endParaRPr lang="en-US" b="1" dirty="0"/>
          </a:p>
          <a:p>
            <a:pPr algn="just"/>
            <a:endParaRPr lang="en-US" b="1" dirty="0"/>
          </a:p>
          <a:p>
            <a:pPr algn="just"/>
            <a:endParaRPr 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2830248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Quick Review to the Previous Lecture</a:t>
            </a:r>
          </a:p>
        </p:txBody>
      </p:sp>
      <p:sp>
        <p:nvSpPr>
          <p:cNvPr id="3" name="Content Placeholder 2"/>
          <p:cNvSpPr>
            <a:spLocks noGrp="1"/>
          </p:cNvSpPr>
          <p:nvPr>
            <p:ph idx="1"/>
          </p:nvPr>
        </p:nvSpPr>
        <p:spPr>
          <a:xfrm>
            <a:off x="593890" y="1280277"/>
            <a:ext cx="8440880" cy="4987331"/>
          </a:xfrm>
        </p:spPr>
        <p:txBody>
          <a:bodyPr>
            <a:normAutofit/>
          </a:bodyPr>
          <a:lstStyle/>
          <a:p>
            <a:pPr algn="just"/>
            <a:endParaRPr lang="en-US" altLang="en-US" dirty="0"/>
          </a:p>
          <a:p>
            <a:pPr algn="just"/>
            <a:r>
              <a:rPr lang="en-US" altLang="en-US" b="1" dirty="0"/>
              <a:t>Flynn’s Taxonomy</a:t>
            </a:r>
          </a:p>
          <a:p>
            <a:pPr lvl="1" algn="just"/>
            <a:r>
              <a:rPr lang="en-US" altLang="en-US" dirty="0"/>
              <a:t>SISD</a:t>
            </a:r>
          </a:p>
          <a:p>
            <a:pPr lvl="1" algn="just"/>
            <a:r>
              <a:rPr lang="en-US" altLang="en-US" dirty="0"/>
              <a:t>MISD</a:t>
            </a:r>
          </a:p>
          <a:p>
            <a:pPr lvl="1" algn="just"/>
            <a:r>
              <a:rPr lang="en-US" altLang="en-US" dirty="0"/>
              <a:t>SIMD</a:t>
            </a:r>
          </a:p>
          <a:p>
            <a:pPr lvl="1" algn="just"/>
            <a:r>
              <a:rPr lang="en-US" altLang="en-US" dirty="0"/>
              <a:t>MIMD</a:t>
            </a:r>
          </a:p>
          <a:p>
            <a:pPr algn="just"/>
            <a:r>
              <a:rPr lang="en-US" altLang="en-US" b="1" dirty="0"/>
              <a:t>PRAM Model</a:t>
            </a:r>
          </a:p>
          <a:p>
            <a:pPr lvl="1" algn="just"/>
            <a:r>
              <a:rPr lang="en-US" altLang="en-US" dirty="0"/>
              <a:t>Types</a:t>
            </a:r>
          </a:p>
          <a:p>
            <a:pPr lvl="1" algn="just"/>
            <a:r>
              <a:rPr lang="en-US" altLang="en-US" dirty="0"/>
              <a:t>Arbitration protocols</a:t>
            </a:r>
          </a:p>
          <a:p>
            <a:pPr algn="just"/>
            <a:r>
              <a:rPr lang="en-US" altLang="en-US" b="1" dirty="0"/>
              <a:t>Routing techniques and Costs</a:t>
            </a:r>
          </a:p>
          <a:p>
            <a:pPr algn="just"/>
            <a:endParaRPr lang="en-US" altLang="en-US" b="1" dirty="0"/>
          </a:p>
          <a:p>
            <a:pPr algn="just"/>
            <a:endParaRPr lang="en-US" b="1" dirty="0"/>
          </a:p>
          <a:p>
            <a:pPr algn="just"/>
            <a:endParaRPr lang="en-US" b="1" dirty="0"/>
          </a:p>
          <a:p>
            <a:pPr algn="just"/>
            <a:endParaRPr 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3579250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001000" cy="471412"/>
          </a:xfrm>
        </p:spPr>
        <p:txBody>
          <a:bodyPr>
            <a:normAutofit fontScale="90000"/>
          </a:bodyPr>
          <a:lstStyle/>
          <a:p>
            <a:r>
              <a:rPr lang="en-US" sz="3200" dirty="0"/>
              <a:t>Interconnection Networks</a:t>
            </a:r>
            <a:endParaRPr lang="en-US" dirty="0"/>
          </a:p>
        </p:txBody>
      </p:sp>
      <p:sp>
        <p:nvSpPr>
          <p:cNvPr id="3" name="Content Placeholder 2"/>
          <p:cNvSpPr>
            <a:spLocks noGrp="1"/>
          </p:cNvSpPr>
          <p:nvPr>
            <p:ph idx="1"/>
          </p:nvPr>
        </p:nvSpPr>
        <p:spPr>
          <a:xfrm>
            <a:off x="426720" y="1280277"/>
            <a:ext cx="8608049" cy="5227203"/>
          </a:xfrm>
        </p:spPr>
        <p:txBody>
          <a:bodyPr>
            <a:normAutofit/>
          </a:bodyPr>
          <a:lstStyle/>
          <a:p>
            <a:pPr algn="just" eaLnBrk="1" hangingPunct="1">
              <a:lnSpc>
                <a:spcPct val="80000"/>
              </a:lnSpc>
            </a:pPr>
            <a:r>
              <a:rPr lang="en-US" sz="3200" dirty="0">
                <a:solidFill>
                  <a:srgbClr val="FF0000"/>
                </a:solidFill>
              </a:rPr>
              <a:t>Main problem is how to do interconnections of the CPUs to each other and to the memory</a:t>
            </a:r>
          </a:p>
          <a:p>
            <a:pPr eaLnBrk="1" hangingPunct="1">
              <a:lnSpc>
                <a:spcPct val="80000"/>
              </a:lnSpc>
            </a:pPr>
            <a:endParaRPr lang="en-US" sz="3200" dirty="0">
              <a:solidFill>
                <a:srgbClr val="FF0000"/>
              </a:solidFill>
            </a:endParaRPr>
          </a:p>
          <a:p>
            <a:pPr eaLnBrk="1" hangingPunct="1">
              <a:lnSpc>
                <a:spcPct val="80000"/>
              </a:lnSpc>
            </a:pPr>
            <a:r>
              <a:rPr lang="en-US" sz="3200" dirty="0"/>
              <a:t>There are three main network topologies available:</a:t>
            </a:r>
          </a:p>
          <a:p>
            <a:pPr lvl="1" eaLnBrk="1" hangingPunct="1">
              <a:lnSpc>
                <a:spcPct val="80000"/>
              </a:lnSpc>
            </a:pPr>
            <a:r>
              <a:rPr lang="en-US" sz="2800" dirty="0">
                <a:solidFill>
                  <a:srgbClr val="009900"/>
                </a:solidFill>
              </a:rPr>
              <a:t>Crossbar </a:t>
            </a:r>
            <a:r>
              <a:rPr lang="en-US" sz="2800" dirty="0"/>
              <a:t>(n</a:t>
            </a:r>
            <a:r>
              <a:rPr lang="en-US" sz="2800" baseline="30000" dirty="0"/>
              <a:t>2</a:t>
            </a:r>
            <a:r>
              <a:rPr lang="en-US" sz="2800" dirty="0"/>
              <a:t> connections – data path without sharing)</a:t>
            </a:r>
          </a:p>
          <a:p>
            <a:pPr lvl="1" eaLnBrk="1" hangingPunct="1">
              <a:lnSpc>
                <a:spcPct val="80000"/>
              </a:lnSpc>
            </a:pPr>
            <a:r>
              <a:rPr lang="en-US" sz="2800" dirty="0">
                <a:solidFill>
                  <a:srgbClr val="009900"/>
                </a:solidFill>
                <a:sym typeface="Symbol" pitchFamily="1" charset="2"/>
              </a:rPr>
              <a:t>Multi-stages network</a:t>
            </a:r>
            <a:r>
              <a:rPr lang="en-US" sz="2800" dirty="0">
                <a:sym typeface="Symbol" pitchFamily="1" charset="2"/>
              </a:rPr>
              <a:t> (n log</a:t>
            </a:r>
            <a:r>
              <a:rPr lang="en-US" sz="2800" baseline="-25000" dirty="0"/>
              <a:t>2 </a:t>
            </a:r>
            <a:r>
              <a:rPr lang="en-US" sz="2800" dirty="0"/>
              <a:t>n connections - </a:t>
            </a:r>
            <a:r>
              <a:rPr lang="en-US" sz="2800" dirty="0">
                <a:sym typeface="Symbol" pitchFamily="1" charset="2"/>
              </a:rPr>
              <a:t>log</a:t>
            </a:r>
            <a:r>
              <a:rPr lang="en-US" sz="2800" baseline="-25000" dirty="0"/>
              <a:t>2 </a:t>
            </a:r>
            <a:r>
              <a:rPr lang="en-US" sz="2800" dirty="0"/>
              <a:t>n switching stages and shared on a path)</a:t>
            </a:r>
            <a:endParaRPr lang="en-US" sz="2800" dirty="0">
              <a:sym typeface="Symbol" pitchFamily="1" charset="2"/>
            </a:endParaRPr>
          </a:p>
          <a:p>
            <a:pPr lvl="1" eaLnBrk="1" hangingPunct="1">
              <a:lnSpc>
                <a:spcPct val="80000"/>
              </a:lnSpc>
            </a:pPr>
            <a:r>
              <a:rPr lang="en-US" sz="2800" dirty="0">
                <a:solidFill>
                  <a:srgbClr val="009900"/>
                </a:solidFill>
                <a:sym typeface="Symbol" pitchFamily="1" charset="2"/>
              </a:rPr>
              <a:t>Central </a:t>
            </a:r>
            <a:r>
              <a:rPr lang="en-US" sz="2800" dirty="0" err="1">
                <a:solidFill>
                  <a:srgbClr val="009900"/>
                </a:solidFill>
                <a:sym typeface="Symbol" pitchFamily="1" charset="2"/>
              </a:rPr>
              <a:t>databus</a:t>
            </a:r>
            <a:r>
              <a:rPr lang="en-US" sz="2800" dirty="0">
                <a:solidFill>
                  <a:srgbClr val="009900"/>
                </a:solidFill>
                <a:sym typeface="Symbol" pitchFamily="1" charset="2"/>
              </a:rPr>
              <a:t> </a:t>
            </a:r>
            <a:r>
              <a:rPr lang="en-US" sz="2800" dirty="0">
                <a:sym typeface="Symbol" pitchFamily="1" charset="2"/>
              </a:rPr>
              <a:t>(1 connections - n shared)</a:t>
            </a:r>
          </a:p>
          <a:p>
            <a:endParaRPr lang="en-US" dirty="0"/>
          </a:p>
        </p:txBody>
      </p:sp>
    </p:spTree>
    <p:extLst>
      <p:ext uri="{BB962C8B-B14F-4D97-AF65-F5344CB8AC3E}">
        <p14:creationId xmlns:p14="http://schemas.microsoft.com/office/powerpoint/2010/main" val="114804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Interconnection Networks</a:t>
            </a:r>
          </a:p>
        </p:txBody>
      </p:sp>
      <p:grpSp>
        <p:nvGrpSpPr>
          <p:cNvPr id="4" name="Group 6"/>
          <p:cNvGrpSpPr>
            <a:grpSpLocks/>
          </p:cNvGrpSpPr>
          <p:nvPr/>
        </p:nvGrpSpPr>
        <p:grpSpPr bwMode="auto">
          <a:xfrm>
            <a:off x="299094" y="1577752"/>
            <a:ext cx="720725" cy="457200"/>
            <a:chOff x="170" y="1200"/>
            <a:chExt cx="454" cy="288"/>
          </a:xfrm>
        </p:grpSpPr>
        <p:sp>
          <p:nvSpPr>
            <p:cNvPr id="5" name="AutoShape 4"/>
            <p:cNvSpPr>
              <a:spLocks noChangeArrowheads="1"/>
            </p:cNvSpPr>
            <p:nvPr/>
          </p:nvSpPr>
          <p:spPr bwMode="auto">
            <a:xfrm>
              <a:off x="192" y="1200"/>
              <a:ext cx="384" cy="288"/>
            </a:xfrm>
            <a:prstGeom prst="roundRect">
              <a:avLst>
                <a:gd name="adj" fmla="val 16667"/>
              </a:avLst>
            </a:prstGeom>
            <a:solidFill>
              <a:schemeClr val="accent1"/>
            </a:solidFill>
            <a:ln w="9525">
              <a:solidFill>
                <a:schemeClr val="tx1"/>
              </a:solidFill>
              <a:round/>
              <a:headEnd/>
              <a:tailEnd/>
            </a:ln>
          </p:spPr>
          <p:txBody>
            <a:bodyPr wrap="none" anchor="ctr"/>
            <a:lstStyle/>
            <a:p>
              <a:endParaRPr lang="en-US"/>
            </a:p>
          </p:txBody>
        </p:sp>
        <p:sp>
          <p:nvSpPr>
            <p:cNvPr id="6" name="Text Box 5"/>
            <p:cNvSpPr txBox="1">
              <a:spLocks noChangeArrowheads="1"/>
            </p:cNvSpPr>
            <p:nvPr/>
          </p:nvSpPr>
          <p:spPr bwMode="auto">
            <a:xfrm>
              <a:off x="170" y="1238"/>
              <a:ext cx="454"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CPU</a:t>
              </a:r>
              <a:endParaRPr lang="en-US"/>
            </a:p>
          </p:txBody>
        </p:sp>
      </p:grpSp>
      <p:grpSp>
        <p:nvGrpSpPr>
          <p:cNvPr id="7" name="Group 7"/>
          <p:cNvGrpSpPr>
            <a:grpSpLocks/>
          </p:cNvGrpSpPr>
          <p:nvPr/>
        </p:nvGrpSpPr>
        <p:grpSpPr bwMode="auto">
          <a:xfrm>
            <a:off x="1477019" y="1577752"/>
            <a:ext cx="720725" cy="457200"/>
            <a:chOff x="170" y="1200"/>
            <a:chExt cx="454" cy="288"/>
          </a:xfrm>
        </p:grpSpPr>
        <p:sp>
          <p:nvSpPr>
            <p:cNvPr id="8" name="AutoShape 8"/>
            <p:cNvSpPr>
              <a:spLocks noChangeArrowheads="1"/>
            </p:cNvSpPr>
            <p:nvPr/>
          </p:nvSpPr>
          <p:spPr bwMode="auto">
            <a:xfrm>
              <a:off x="192" y="1200"/>
              <a:ext cx="384" cy="288"/>
            </a:xfrm>
            <a:prstGeom prst="roundRect">
              <a:avLst>
                <a:gd name="adj" fmla="val 16667"/>
              </a:avLst>
            </a:prstGeom>
            <a:solidFill>
              <a:schemeClr val="accent1"/>
            </a:solidFill>
            <a:ln w="9525">
              <a:solidFill>
                <a:schemeClr val="tx1"/>
              </a:solidFill>
              <a:round/>
              <a:headEnd/>
              <a:tailEnd/>
            </a:ln>
          </p:spPr>
          <p:txBody>
            <a:bodyPr wrap="none" anchor="ctr"/>
            <a:lstStyle/>
            <a:p>
              <a:endParaRPr lang="en-US"/>
            </a:p>
          </p:txBody>
        </p:sp>
        <p:sp>
          <p:nvSpPr>
            <p:cNvPr id="9" name="Text Box 9"/>
            <p:cNvSpPr txBox="1">
              <a:spLocks noChangeArrowheads="1"/>
            </p:cNvSpPr>
            <p:nvPr/>
          </p:nvSpPr>
          <p:spPr bwMode="auto">
            <a:xfrm>
              <a:off x="170" y="1238"/>
              <a:ext cx="454"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CPU</a:t>
              </a:r>
              <a:endParaRPr lang="en-US"/>
            </a:p>
          </p:txBody>
        </p:sp>
      </p:grpSp>
      <p:grpSp>
        <p:nvGrpSpPr>
          <p:cNvPr id="10" name="Group 10"/>
          <p:cNvGrpSpPr>
            <a:grpSpLocks/>
          </p:cNvGrpSpPr>
          <p:nvPr/>
        </p:nvGrpSpPr>
        <p:grpSpPr bwMode="auto">
          <a:xfrm>
            <a:off x="2315219" y="1577752"/>
            <a:ext cx="720725" cy="457200"/>
            <a:chOff x="170" y="1200"/>
            <a:chExt cx="454" cy="288"/>
          </a:xfrm>
        </p:grpSpPr>
        <p:sp>
          <p:nvSpPr>
            <p:cNvPr id="11" name="AutoShape 11"/>
            <p:cNvSpPr>
              <a:spLocks noChangeArrowheads="1"/>
            </p:cNvSpPr>
            <p:nvPr/>
          </p:nvSpPr>
          <p:spPr bwMode="auto">
            <a:xfrm>
              <a:off x="192" y="1200"/>
              <a:ext cx="384" cy="288"/>
            </a:xfrm>
            <a:prstGeom prst="roundRect">
              <a:avLst>
                <a:gd name="adj" fmla="val 16667"/>
              </a:avLst>
            </a:prstGeom>
            <a:solidFill>
              <a:schemeClr val="accent1"/>
            </a:solidFill>
            <a:ln w="9525">
              <a:solidFill>
                <a:schemeClr val="tx1"/>
              </a:solidFill>
              <a:round/>
              <a:headEnd/>
              <a:tailEnd/>
            </a:ln>
          </p:spPr>
          <p:txBody>
            <a:bodyPr wrap="none" anchor="ctr"/>
            <a:lstStyle/>
            <a:p>
              <a:endParaRPr lang="en-US"/>
            </a:p>
          </p:txBody>
        </p:sp>
        <p:sp>
          <p:nvSpPr>
            <p:cNvPr id="12" name="Text Box 12"/>
            <p:cNvSpPr txBox="1">
              <a:spLocks noChangeArrowheads="1"/>
            </p:cNvSpPr>
            <p:nvPr/>
          </p:nvSpPr>
          <p:spPr bwMode="auto">
            <a:xfrm>
              <a:off x="170" y="1238"/>
              <a:ext cx="454"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CPU</a:t>
              </a:r>
              <a:endParaRPr lang="en-US"/>
            </a:p>
          </p:txBody>
        </p:sp>
      </p:grpSp>
      <p:sp>
        <p:nvSpPr>
          <p:cNvPr id="13" name="Rectangle 13"/>
          <p:cNvSpPr>
            <a:spLocks noChangeArrowheads="1"/>
          </p:cNvSpPr>
          <p:nvPr/>
        </p:nvSpPr>
        <p:spPr bwMode="auto">
          <a:xfrm>
            <a:off x="257819" y="2339752"/>
            <a:ext cx="2819400" cy="381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 name="Text Box 14"/>
          <p:cNvSpPr txBox="1">
            <a:spLocks noChangeArrowheads="1"/>
          </p:cNvSpPr>
          <p:nvPr/>
        </p:nvSpPr>
        <p:spPr bwMode="auto">
          <a:xfrm>
            <a:off x="1123007" y="2339752"/>
            <a:ext cx="1116012"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Network</a:t>
            </a:r>
            <a:endParaRPr lang="en-US"/>
          </a:p>
        </p:txBody>
      </p:sp>
      <p:sp>
        <p:nvSpPr>
          <p:cNvPr id="17" name="Line 17"/>
          <p:cNvSpPr>
            <a:spLocks noChangeShapeType="1"/>
          </p:cNvSpPr>
          <p:nvPr/>
        </p:nvSpPr>
        <p:spPr bwMode="auto">
          <a:xfrm>
            <a:off x="1858019" y="2034952"/>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8"/>
          <p:cNvSpPr>
            <a:spLocks noChangeShapeType="1"/>
          </p:cNvSpPr>
          <p:nvPr/>
        </p:nvSpPr>
        <p:spPr bwMode="auto">
          <a:xfrm>
            <a:off x="2620019" y="2034952"/>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9"/>
          <p:cNvSpPr>
            <a:spLocks noChangeShapeType="1"/>
          </p:cNvSpPr>
          <p:nvPr/>
        </p:nvSpPr>
        <p:spPr bwMode="auto">
          <a:xfrm>
            <a:off x="562619" y="2034952"/>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1" name="Group 29"/>
          <p:cNvGrpSpPr>
            <a:grpSpLocks/>
          </p:cNvGrpSpPr>
          <p:nvPr/>
        </p:nvGrpSpPr>
        <p:grpSpPr bwMode="auto">
          <a:xfrm>
            <a:off x="5134619" y="1882552"/>
            <a:ext cx="1676400" cy="1066800"/>
            <a:chOff x="2832" y="1344"/>
            <a:chExt cx="1968" cy="672"/>
          </a:xfrm>
        </p:grpSpPr>
        <p:sp>
          <p:nvSpPr>
            <p:cNvPr id="22" name="Line 21"/>
            <p:cNvSpPr>
              <a:spLocks noChangeShapeType="1"/>
            </p:cNvSpPr>
            <p:nvPr/>
          </p:nvSpPr>
          <p:spPr bwMode="auto">
            <a:xfrm>
              <a:off x="2832" y="1344"/>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2"/>
            <p:cNvSpPr>
              <a:spLocks noChangeShapeType="1"/>
            </p:cNvSpPr>
            <p:nvPr/>
          </p:nvSpPr>
          <p:spPr bwMode="auto">
            <a:xfrm>
              <a:off x="2832" y="1440"/>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3"/>
            <p:cNvSpPr>
              <a:spLocks noChangeShapeType="1"/>
            </p:cNvSpPr>
            <p:nvPr/>
          </p:nvSpPr>
          <p:spPr bwMode="auto">
            <a:xfrm>
              <a:off x="2832" y="1536"/>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4"/>
            <p:cNvSpPr>
              <a:spLocks noChangeShapeType="1"/>
            </p:cNvSpPr>
            <p:nvPr/>
          </p:nvSpPr>
          <p:spPr bwMode="auto">
            <a:xfrm>
              <a:off x="2832" y="1632"/>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5"/>
            <p:cNvSpPr>
              <a:spLocks noChangeShapeType="1"/>
            </p:cNvSpPr>
            <p:nvPr/>
          </p:nvSpPr>
          <p:spPr bwMode="auto">
            <a:xfrm>
              <a:off x="2832" y="1728"/>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6"/>
            <p:cNvSpPr>
              <a:spLocks noChangeShapeType="1"/>
            </p:cNvSpPr>
            <p:nvPr/>
          </p:nvSpPr>
          <p:spPr bwMode="auto">
            <a:xfrm>
              <a:off x="2832" y="1824"/>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7"/>
            <p:cNvSpPr>
              <a:spLocks noChangeShapeType="1"/>
            </p:cNvSpPr>
            <p:nvPr/>
          </p:nvSpPr>
          <p:spPr bwMode="auto">
            <a:xfrm>
              <a:off x="2832" y="1920"/>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8"/>
            <p:cNvSpPr>
              <a:spLocks noChangeShapeType="1"/>
            </p:cNvSpPr>
            <p:nvPr/>
          </p:nvSpPr>
          <p:spPr bwMode="auto">
            <a:xfrm>
              <a:off x="2832" y="2016"/>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0" name="Group 30"/>
          <p:cNvGrpSpPr>
            <a:grpSpLocks/>
          </p:cNvGrpSpPr>
          <p:nvPr/>
        </p:nvGrpSpPr>
        <p:grpSpPr bwMode="auto">
          <a:xfrm rot="5400000">
            <a:off x="5096519" y="1920652"/>
            <a:ext cx="1752600" cy="1066800"/>
            <a:chOff x="2832" y="1344"/>
            <a:chExt cx="1968" cy="672"/>
          </a:xfrm>
        </p:grpSpPr>
        <p:sp>
          <p:nvSpPr>
            <p:cNvPr id="31" name="Line 31"/>
            <p:cNvSpPr>
              <a:spLocks noChangeShapeType="1"/>
            </p:cNvSpPr>
            <p:nvPr/>
          </p:nvSpPr>
          <p:spPr bwMode="auto">
            <a:xfrm>
              <a:off x="2832" y="1344"/>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32"/>
            <p:cNvSpPr>
              <a:spLocks noChangeShapeType="1"/>
            </p:cNvSpPr>
            <p:nvPr/>
          </p:nvSpPr>
          <p:spPr bwMode="auto">
            <a:xfrm>
              <a:off x="2832" y="1440"/>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33"/>
            <p:cNvSpPr>
              <a:spLocks noChangeShapeType="1"/>
            </p:cNvSpPr>
            <p:nvPr/>
          </p:nvSpPr>
          <p:spPr bwMode="auto">
            <a:xfrm>
              <a:off x="2832" y="1536"/>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34"/>
            <p:cNvSpPr>
              <a:spLocks noChangeShapeType="1"/>
            </p:cNvSpPr>
            <p:nvPr/>
          </p:nvSpPr>
          <p:spPr bwMode="auto">
            <a:xfrm>
              <a:off x="2832" y="1632"/>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35"/>
            <p:cNvSpPr>
              <a:spLocks noChangeShapeType="1"/>
            </p:cNvSpPr>
            <p:nvPr/>
          </p:nvSpPr>
          <p:spPr bwMode="auto">
            <a:xfrm>
              <a:off x="2832" y="1728"/>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36"/>
            <p:cNvSpPr>
              <a:spLocks noChangeShapeType="1"/>
            </p:cNvSpPr>
            <p:nvPr/>
          </p:nvSpPr>
          <p:spPr bwMode="auto">
            <a:xfrm>
              <a:off x="2832" y="1824"/>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7"/>
            <p:cNvSpPr>
              <a:spLocks noChangeShapeType="1"/>
            </p:cNvSpPr>
            <p:nvPr/>
          </p:nvSpPr>
          <p:spPr bwMode="auto">
            <a:xfrm>
              <a:off x="2832" y="1920"/>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38"/>
            <p:cNvSpPr>
              <a:spLocks noChangeShapeType="1"/>
            </p:cNvSpPr>
            <p:nvPr/>
          </p:nvSpPr>
          <p:spPr bwMode="auto">
            <a:xfrm>
              <a:off x="2832" y="2016"/>
              <a:ext cx="19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9" name="Text Box 39"/>
          <p:cNvSpPr txBox="1">
            <a:spLocks noChangeArrowheads="1"/>
          </p:cNvSpPr>
          <p:nvPr/>
        </p:nvSpPr>
        <p:spPr bwMode="auto">
          <a:xfrm>
            <a:off x="4677419" y="17301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0</a:t>
            </a:r>
            <a:endParaRPr lang="en-US"/>
          </a:p>
        </p:txBody>
      </p:sp>
      <p:sp>
        <p:nvSpPr>
          <p:cNvPr id="40" name="Text Box 41"/>
          <p:cNvSpPr txBox="1">
            <a:spLocks noChangeArrowheads="1"/>
          </p:cNvSpPr>
          <p:nvPr/>
        </p:nvSpPr>
        <p:spPr bwMode="auto">
          <a:xfrm>
            <a:off x="4671069" y="27969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7</a:t>
            </a:r>
            <a:endParaRPr lang="en-US"/>
          </a:p>
        </p:txBody>
      </p:sp>
      <p:sp>
        <p:nvSpPr>
          <p:cNvPr id="41" name="Text Box 42"/>
          <p:cNvSpPr txBox="1">
            <a:spLocks noChangeArrowheads="1"/>
          </p:cNvSpPr>
          <p:nvPr/>
        </p:nvSpPr>
        <p:spPr bwMode="auto">
          <a:xfrm>
            <a:off x="5287019" y="11967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0</a:t>
            </a:r>
            <a:endParaRPr lang="en-US"/>
          </a:p>
        </p:txBody>
      </p:sp>
      <p:sp>
        <p:nvSpPr>
          <p:cNvPr id="42" name="Text Box 43"/>
          <p:cNvSpPr txBox="1">
            <a:spLocks noChangeArrowheads="1"/>
          </p:cNvSpPr>
          <p:nvPr/>
        </p:nvSpPr>
        <p:spPr bwMode="auto">
          <a:xfrm>
            <a:off x="6353819" y="11967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7</a:t>
            </a:r>
            <a:endParaRPr lang="en-US"/>
          </a:p>
        </p:txBody>
      </p:sp>
      <p:sp>
        <p:nvSpPr>
          <p:cNvPr id="43" name="Text Box 44"/>
          <p:cNvSpPr txBox="1">
            <a:spLocks noChangeArrowheads="1"/>
          </p:cNvSpPr>
          <p:nvPr/>
        </p:nvSpPr>
        <p:spPr bwMode="auto">
          <a:xfrm>
            <a:off x="4448819" y="2187352"/>
            <a:ext cx="43815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IN</a:t>
            </a:r>
            <a:endParaRPr lang="en-US"/>
          </a:p>
        </p:txBody>
      </p:sp>
      <p:sp>
        <p:nvSpPr>
          <p:cNvPr id="44" name="Text Box 45"/>
          <p:cNvSpPr txBox="1">
            <a:spLocks noChangeArrowheads="1"/>
          </p:cNvSpPr>
          <p:nvPr/>
        </p:nvSpPr>
        <p:spPr bwMode="auto">
          <a:xfrm>
            <a:off x="5668019" y="1196752"/>
            <a:ext cx="720725"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OUT</a:t>
            </a:r>
            <a:endParaRPr lang="en-US"/>
          </a:p>
        </p:txBody>
      </p:sp>
      <p:sp>
        <p:nvSpPr>
          <p:cNvPr id="45" name="Text Box 46"/>
          <p:cNvSpPr txBox="1">
            <a:spLocks noChangeArrowheads="1"/>
          </p:cNvSpPr>
          <p:nvPr/>
        </p:nvSpPr>
        <p:spPr bwMode="auto">
          <a:xfrm>
            <a:off x="4886969" y="5647308"/>
            <a:ext cx="17922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dirty="0">
                <a:latin typeface="Lucida Grande" pitchFamily="1" charset="0"/>
                <a:sym typeface="Symbol" pitchFamily="1" charset="2"/>
              </a:rPr>
              <a:t>-network</a:t>
            </a:r>
            <a:endParaRPr lang="en-US" dirty="0"/>
          </a:p>
        </p:txBody>
      </p:sp>
      <p:sp>
        <p:nvSpPr>
          <p:cNvPr id="46" name="Rectangle 47"/>
          <p:cNvSpPr>
            <a:spLocks noChangeArrowheads="1"/>
          </p:cNvSpPr>
          <p:nvPr/>
        </p:nvSpPr>
        <p:spPr bwMode="auto">
          <a:xfrm>
            <a:off x="4982219" y="35589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7" name="Rectangle 48"/>
          <p:cNvSpPr>
            <a:spLocks noChangeArrowheads="1"/>
          </p:cNvSpPr>
          <p:nvPr/>
        </p:nvSpPr>
        <p:spPr bwMode="auto">
          <a:xfrm>
            <a:off x="6277619" y="35589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 name="Rectangle 49"/>
          <p:cNvSpPr>
            <a:spLocks noChangeArrowheads="1"/>
          </p:cNvSpPr>
          <p:nvPr/>
        </p:nvSpPr>
        <p:spPr bwMode="auto">
          <a:xfrm>
            <a:off x="5591819" y="35589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9" name="Rectangle 50"/>
          <p:cNvSpPr>
            <a:spLocks noChangeArrowheads="1"/>
          </p:cNvSpPr>
          <p:nvPr/>
        </p:nvSpPr>
        <p:spPr bwMode="auto">
          <a:xfrm>
            <a:off x="4982219" y="40923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0" name="Rectangle 51"/>
          <p:cNvSpPr>
            <a:spLocks noChangeArrowheads="1"/>
          </p:cNvSpPr>
          <p:nvPr/>
        </p:nvSpPr>
        <p:spPr bwMode="auto">
          <a:xfrm>
            <a:off x="5591819" y="40923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1" name="Rectangle 52"/>
          <p:cNvSpPr>
            <a:spLocks noChangeArrowheads="1"/>
          </p:cNvSpPr>
          <p:nvPr/>
        </p:nvSpPr>
        <p:spPr bwMode="auto">
          <a:xfrm>
            <a:off x="6277619" y="40923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2" name="Rectangle 53"/>
          <p:cNvSpPr>
            <a:spLocks noChangeArrowheads="1"/>
          </p:cNvSpPr>
          <p:nvPr/>
        </p:nvSpPr>
        <p:spPr bwMode="auto">
          <a:xfrm>
            <a:off x="4982219" y="46257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3" name="Rectangle 54"/>
          <p:cNvSpPr>
            <a:spLocks noChangeArrowheads="1"/>
          </p:cNvSpPr>
          <p:nvPr/>
        </p:nvSpPr>
        <p:spPr bwMode="auto">
          <a:xfrm>
            <a:off x="5591819" y="46257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4" name="Rectangle 55"/>
          <p:cNvSpPr>
            <a:spLocks noChangeArrowheads="1"/>
          </p:cNvSpPr>
          <p:nvPr/>
        </p:nvSpPr>
        <p:spPr bwMode="auto">
          <a:xfrm>
            <a:off x="6277619" y="46257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5" name="Rectangle 56"/>
          <p:cNvSpPr>
            <a:spLocks noChangeArrowheads="1"/>
          </p:cNvSpPr>
          <p:nvPr/>
        </p:nvSpPr>
        <p:spPr bwMode="auto">
          <a:xfrm>
            <a:off x="4982219" y="51591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6" name="Rectangle 57"/>
          <p:cNvSpPr>
            <a:spLocks noChangeArrowheads="1"/>
          </p:cNvSpPr>
          <p:nvPr/>
        </p:nvSpPr>
        <p:spPr bwMode="auto">
          <a:xfrm>
            <a:off x="5591819" y="51591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7" name="Rectangle 58"/>
          <p:cNvSpPr>
            <a:spLocks noChangeArrowheads="1"/>
          </p:cNvSpPr>
          <p:nvPr/>
        </p:nvSpPr>
        <p:spPr bwMode="auto">
          <a:xfrm>
            <a:off x="6277619" y="5159152"/>
            <a:ext cx="381000" cy="304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8" name="Text Box 60"/>
          <p:cNvSpPr txBox="1">
            <a:spLocks noChangeArrowheads="1"/>
          </p:cNvSpPr>
          <p:nvPr/>
        </p:nvSpPr>
        <p:spPr bwMode="auto">
          <a:xfrm>
            <a:off x="4213869" y="33303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0</a:t>
            </a:r>
            <a:endParaRPr lang="en-US"/>
          </a:p>
        </p:txBody>
      </p:sp>
      <p:sp>
        <p:nvSpPr>
          <p:cNvPr id="59" name="Text Box 61"/>
          <p:cNvSpPr txBox="1">
            <a:spLocks noChangeArrowheads="1"/>
          </p:cNvSpPr>
          <p:nvPr/>
        </p:nvSpPr>
        <p:spPr bwMode="auto">
          <a:xfrm>
            <a:off x="7115819" y="34065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0</a:t>
            </a:r>
            <a:endParaRPr lang="en-US"/>
          </a:p>
        </p:txBody>
      </p:sp>
      <p:sp>
        <p:nvSpPr>
          <p:cNvPr id="60" name="Text Box 62"/>
          <p:cNvSpPr txBox="1">
            <a:spLocks noChangeArrowheads="1"/>
          </p:cNvSpPr>
          <p:nvPr/>
        </p:nvSpPr>
        <p:spPr bwMode="auto">
          <a:xfrm>
            <a:off x="4213869" y="5325840"/>
            <a:ext cx="311150" cy="36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7</a:t>
            </a:r>
            <a:endParaRPr lang="en-US"/>
          </a:p>
        </p:txBody>
      </p:sp>
      <p:sp>
        <p:nvSpPr>
          <p:cNvPr id="61" name="Text Box 63"/>
          <p:cNvSpPr txBox="1">
            <a:spLocks noChangeArrowheads="1"/>
          </p:cNvSpPr>
          <p:nvPr/>
        </p:nvSpPr>
        <p:spPr bwMode="auto">
          <a:xfrm>
            <a:off x="7109469" y="53115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7</a:t>
            </a:r>
            <a:endParaRPr lang="en-US"/>
          </a:p>
        </p:txBody>
      </p:sp>
      <p:sp>
        <p:nvSpPr>
          <p:cNvPr id="62" name="Text Box 64"/>
          <p:cNvSpPr txBox="1">
            <a:spLocks noChangeArrowheads="1"/>
          </p:cNvSpPr>
          <p:nvPr/>
        </p:nvSpPr>
        <p:spPr bwMode="auto">
          <a:xfrm>
            <a:off x="7039619" y="2263552"/>
            <a:ext cx="142081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a:t>Crossbar</a:t>
            </a:r>
          </a:p>
        </p:txBody>
      </p:sp>
      <p:sp>
        <p:nvSpPr>
          <p:cNvPr id="63" name="Line 65"/>
          <p:cNvSpPr>
            <a:spLocks noChangeShapeType="1"/>
          </p:cNvSpPr>
          <p:nvPr/>
        </p:nvSpPr>
        <p:spPr bwMode="auto">
          <a:xfrm flipV="1">
            <a:off x="3305819" y="2415952"/>
            <a:ext cx="9906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66"/>
          <p:cNvSpPr>
            <a:spLocks noChangeShapeType="1"/>
          </p:cNvSpPr>
          <p:nvPr/>
        </p:nvSpPr>
        <p:spPr bwMode="auto">
          <a:xfrm>
            <a:off x="3305819" y="2568352"/>
            <a:ext cx="6096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67"/>
          <p:cNvSpPr>
            <a:spLocks noChangeShapeType="1"/>
          </p:cNvSpPr>
          <p:nvPr/>
        </p:nvSpPr>
        <p:spPr bwMode="auto">
          <a:xfrm flipH="1">
            <a:off x="2924819" y="2568352"/>
            <a:ext cx="381000" cy="160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8"/>
          <p:cNvSpPr>
            <a:spLocks noChangeShapeType="1"/>
          </p:cNvSpPr>
          <p:nvPr/>
        </p:nvSpPr>
        <p:spPr bwMode="auto">
          <a:xfrm>
            <a:off x="4448819" y="3635152"/>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69"/>
          <p:cNvSpPr>
            <a:spLocks noChangeShapeType="1"/>
          </p:cNvSpPr>
          <p:nvPr/>
        </p:nvSpPr>
        <p:spPr bwMode="auto">
          <a:xfrm>
            <a:off x="5363219" y="3635152"/>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70"/>
          <p:cNvSpPr>
            <a:spLocks noChangeShapeType="1"/>
          </p:cNvSpPr>
          <p:nvPr/>
        </p:nvSpPr>
        <p:spPr bwMode="auto">
          <a:xfrm>
            <a:off x="5972819" y="3635152"/>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71"/>
          <p:cNvSpPr>
            <a:spLocks noChangeShapeType="1"/>
          </p:cNvSpPr>
          <p:nvPr/>
        </p:nvSpPr>
        <p:spPr bwMode="auto">
          <a:xfrm>
            <a:off x="6658619" y="3635152"/>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76"/>
          <p:cNvSpPr>
            <a:spLocks noChangeShapeType="1"/>
          </p:cNvSpPr>
          <p:nvPr/>
        </p:nvSpPr>
        <p:spPr bwMode="auto">
          <a:xfrm>
            <a:off x="4448819" y="5387752"/>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Line 84"/>
          <p:cNvSpPr>
            <a:spLocks noChangeShapeType="1"/>
          </p:cNvSpPr>
          <p:nvPr/>
        </p:nvSpPr>
        <p:spPr bwMode="auto">
          <a:xfrm>
            <a:off x="6658619" y="5387752"/>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 name="Rectangle 86"/>
          <p:cNvSpPr>
            <a:spLocks noChangeArrowheads="1"/>
          </p:cNvSpPr>
          <p:nvPr/>
        </p:nvSpPr>
        <p:spPr bwMode="auto">
          <a:xfrm>
            <a:off x="943619" y="5159152"/>
            <a:ext cx="2286000" cy="152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73" name="Line 87"/>
          <p:cNvSpPr>
            <a:spLocks noChangeShapeType="1"/>
          </p:cNvSpPr>
          <p:nvPr/>
        </p:nvSpPr>
        <p:spPr bwMode="auto">
          <a:xfrm flipH="1" flipV="1">
            <a:off x="638819" y="4701952"/>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 name="Line 88"/>
          <p:cNvSpPr>
            <a:spLocks noChangeShapeType="1"/>
          </p:cNvSpPr>
          <p:nvPr/>
        </p:nvSpPr>
        <p:spPr bwMode="auto">
          <a:xfrm flipH="1">
            <a:off x="638819" y="5235352"/>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 name="Text Box 89"/>
          <p:cNvSpPr txBox="1">
            <a:spLocks noChangeArrowheads="1"/>
          </p:cNvSpPr>
          <p:nvPr/>
        </p:nvSpPr>
        <p:spPr bwMode="auto">
          <a:xfrm>
            <a:off x="334019" y="43971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0</a:t>
            </a:r>
            <a:endParaRPr lang="en-US"/>
          </a:p>
        </p:txBody>
      </p:sp>
      <p:sp>
        <p:nvSpPr>
          <p:cNvPr id="76" name="Text Box 90"/>
          <p:cNvSpPr txBox="1">
            <a:spLocks noChangeArrowheads="1"/>
          </p:cNvSpPr>
          <p:nvPr/>
        </p:nvSpPr>
        <p:spPr bwMode="auto">
          <a:xfrm>
            <a:off x="334019" y="56925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7</a:t>
            </a:r>
            <a:endParaRPr lang="en-US"/>
          </a:p>
        </p:txBody>
      </p:sp>
      <p:sp>
        <p:nvSpPr>
          <p:cNvPr id="77" name="Text Box 91"/>
          <p:cNvSpPr txBox="1">
            <a:spLocks noChangeArrowheads="1"/>
          </p:cNvSpPr>
          <p:nvPr/>
        </p:nvSpPr>
        <p:spPr bwMode="auto">
          <a:xfrm>
            <a:off x="3458219" y="56163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7</a:t>
            </a:r>
            <a:endParaRPr lang="en-US"/>
          </a:p>
        </p:txBody>
      </p:sp>
      <p:sp>
        <p:nvSpPr>
          <p:cNvPr id="78" name="Text Box 92"/>
          <p:cNvSpPr txBox="1">
            <a:spLocks noChangeArrowheads="1"/>
          </p:cNvSpPr>
          <p:nvPr/>
        </p:nvSpPr>
        <p:spPr bwMode="auto">
          <a:xfrm>
            <a:off x="3458219" y="4549552"/>
            <a:ext cx="311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1800"/>
              <a:t>0</a:t>
            </a:r>
            <a:endParaRPr lang="en-US"/>
          </a:p>
        </p:txBody>
      </p:sp>
      <p:sp>
        <p:nvSpPr>
          <p:cNvPr id="79" name="Line 93"/>
          <p:cNvSpPr>
            <a:spLocks noChangeShapeType="1"/>
          </p:cNvSpPr>
          <p:nvPr/>
        </p:nvSpPr>
        <p:spPr bwMode="auto">
          <a:xfrm>
            <a:off x="3229619" y="5235352"/>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 name="Line 94"/>
          <p:cNvSpPr>
            <a:spLocks noChangeShapeType="1"/>
          </p:cNvSpPr>
          <p:nvPr/>
        </p:nvSpPr>
        <p:spPr bwMode="auto">
          <a:xfrm flipV="1">
            <a:off x="3229619" y="4854352"/>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 name="Text Box 95"/>
          <p:cNvSpPr txBox="1">
            <a:spLocks noChangeArrowheads="1"/>
          </p:cNvSpPr>
          <p:nvPr/>
        </p:nvSpPr>
        <p:spPr bwMode="auto">
          <a:xfrm>
            <a:off x="943619" y="4701952"/>
            <a:ext cx="2336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a:t>Central databus</a:t>
            </a:r>
          </a:p>
        </p:txBody>
      </p:sp>
      <p:sp>
        <p:nvSpPr>
          <p:cNvPr id="82" name="Line 96"/>
          <p:cNvSpPr>
            <a:spLocks noChangeShapeType="1"/>
          </p:cNvSpPr>
          <p:nvPr/>
        </p:nvSpPr>
        <p:spPr bwMode="auto">
          <a:xfrm>
            <a:off x="4448819" y="3863752"/>
            <a:ext cx="533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 name="Line 97"/>
          <p:cNvSpPr>
            <a:spLocks noChangeShapeType="1"/>
          </p:cNvSpPr>
          <p:nvPr/>
        </p:nvSpPr>
        <p:spPr bwMode="auto">
          <a:xfrm>
            <a:off x="4448819" y="4092352"/>
            <a:ext cx="5334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 name="Line 98"/>
          <p:cNvSpPr>
            <a:spLocks noChangeShapeType="1"/>
          </p:cNvSpPr>
          <p:nvPr/>
        </p:nvSpPr>
        <p:spPr bwMode="auto">
          <a:xfrm>
            <a:off x="4448819" y="4397152"/>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 name="Line 99"/>
          <p:cNvSpPr>
            <a:spLocks noChangeShapeType="1"/>
          </p:cNvSpPr>
          <p:nvPr/>
        </p:nvSpPr>
        <p:spPr bwMode="auto">
          <a:xfrm flipV="1">
            <a:off x="4448819" y="3787552"/>
            <a:ext cx="5334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 name="Line 100"/>
          <p:cNvSpPr>
            <a:spLocks noChangeShapeType="1"/>
          </p:cNvSpPr>
          <p:nvPr/>
        </p:nvSpPr>
        <p:spPr bwMode="auto">
          <a:xfrm flipV="1">
            <a:off x="4448819" y="4397152"/>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 name="Line 101"/>
          <p:cNvSpPr>
            <a:spLocks noChangeShapeType="1"/>
          </p:cNvSpPr>
          <p:nvPr/>
        </p:nvSpPr>
        <p:spPr bwMode="auto">
          <a:xfrm flipV="1">
            <a:off x="4448819" y="4854352"/>
            <a:ext cx="533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 name="Line 102"/>
          <p:cNvSpPr>
            <a:spLocks noChangeShapeType="1"/>
          </p:cNvSpPr>
          <p:nvPr/>
        </p:nvSpPr>
        <p:spPr bwMode="auto">
          <a:xfrm>
            <a:off x="5363219" y="5387752"/>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 name="Line 103"/>
          <p:cNvSpPr>
            <a:spLocks noChangeShapeType="1"/>
          </p:cNvSpPr>
          <p:nvPr/>
        </p:nvSpPr>
        <p:spPr bwMode="auto">
          <a:xfrm>
            <a:off x="5972819" y="5387752"/>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 name="Line 104"/>
          <p:cNvSpPr>
            <a:spLocks noChangeShapeType="1"/>
          </p:cNvSpPr>
          <p:nvPr/>
        </p:nvSpPr>
        <p:spPr bwMode="auto">
          <a:xfrm>
            <a:off x="5363219" y="3787552"/>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1" name="Line 105"/>
          <p:cNvSpPr>
            <a:spLocks noChangeShapeType="1"/>
          </p:cNvSpPr>
          <p:nvPr/>
        </p:nvSpPr>
        <p:spPr bwMode="auto">
          <a:xfrm>
            <a:off x="5363219" y="4092352"/>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 name="Line 106"/>
          <p:cNvSpPr>
            <a:spLocks noChangeShapeType="1"/>
          </p:cNvSpPr>
          <p:nvPr/>
        </p:nvSpPr>
        <p:spPr bwMode="auto">
          <a:xfrm>
            <a:off x="5363219" y="4397152"/>
            <a:ext cx="228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 name="Line 107"/>
          <p:cNvSpPr>
            <a:spLocks noChangeShapeType="1"/>
          </p:cNvSpPr>
          <p:nvPr/>
        </p:nvSpPr>
        <p:spPr bwMode="auto">
          <a:xfrm flipV="1">
            <a:off x="5363219" y="3787552"/>
            <a:ext cx="228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 name="Line 108"/>
          <p:cNvSpPr>
            <a:spLocks noChangeShapeType="1"/>
          </p:cNvSpPr>
          <p:nvPr/>
        </p:nvSpPr>
        <p:spPr bwMode="auto">
          <a:xfrm flipV="1">
            <a:off x="5363219" y="4320952"/>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5" name="Line 109"/>
          <p:cNvSpPr>
            <a:spLocks noChangeShapeType="1"/>
          </p:cNvSpPr>
          <p:nvPr/>
        </p:nvSpPr>
        <p:spPr bwMode="auto">
          <a:xfrm flipV="1">
            <a:off x="5363219" y="4854352"/>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 name="Line 110"/>
          <p:cNvSpPr>
            <a:spLocks noChangeShapeType="1"/>
          </p:cNvSpPr>
          <p:nvPr/>
        </p:nvSpPr>
        <p:spPr bwMode="auto">
          <a:xfrm>
            <a:off x="5972819" y="3787552"/>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 name="Line 111"/>
          <p:cNvSpPr>
            <a:spLocks noChangeShapeType="1"/>
          </p:cNvSpPr>
          <p:nvPr/>
        </p:nvSpPr>
        <p:spPr bwMode="auto">
          <a:xfrm>
            <a:off x="5972819" y="4168552"/>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 name="Line 112"/>
          <p:cNvSpPr>
            <a:spLocks noChangeShapeType="1"/>
          </p:cNvSpPr>
          <p:nvPr/>
        </p:nvSpPr>
        <p:spPr bwMode="auto">
          <a:xfrm>
            <a:off x="5972819" y="4320952"/>
            <a:ext cx="304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9" name="Line 113"/>
          <p:cNvSpPr>
            <a:spLocks noChangeShapeType="1"/>
          </p:cNvSpPr>
          <p:nvPr/>
        </p:nvSpPr>
        <p:spPr bwMode="auto">
          <a:xfrm flipV="1">
            <a:off x="5972819" y="3787552"/>
            <a:ext cx="304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0" name="Line 114"/>
          <p:cNvSpPr>
            <a:spLocks noChangeShapeType="1"/>
          </p:cNvSpPr>
          <p:nvPr/>
        </p:nvSpPr>
        <p:spPr bwMode="auto">
          <a:xfrm flipV="1">
            <a:off x="5972819" y="4397152"/>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1" name="Line 115"/>
          <p:cNvSpPr>
            <a:spLocks noChangeShapeType="1"/>
          </p:cNvSpPr>
          <p:nvPr/>
        </p:nvSpPr>
        <p:spPr bwMode="auto">
          <a:xfrm flipV="1">
            <a:off x="5972819" y="4854352"/>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 name="Text Box 116"/>
          <p:cNvSpPr txBox="1">
            <a:spLocks noChangeArrowheads="1"/>
          </p:cNvSpPr>
          <p:nvPr/>
        </p:nvSpPr>
        <p:spPr bwMode="auto">
          <a:xfrm>
            <a:off x="3305819" y="5082952"/>
            <a:ext cx="720725"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OUT</a:t>
            </a:r>
            <a:endParaRPr lang="en-US"/>
          </a:p>
        </p:txBody>
      </p:sp>
      <p:sp>
        <p:nvSpPr>
          <p:cNvPr id="103" name="Text Box 117"/>
          <p:cNvSpPr txBox="1">
            <a:spLocks noChangeArrowheads="1"/>
          </p:cNvSpPr>
          <p:nvPr/>
        </p:nvSpPr>
        <p:spPr bwMode="auto">
          <a:xfrm>
            <a:off x="6963419" y="4305077"/>
            <a:ext cx="720725"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OUT</a:t>
            </a:r>
            <a:endParaRPr lang="en-US"/>
          </a:p>
        </p:txBody>
      </p:sp>
      <p:sp>
        <p:nvSpPr>
          <p:cNvPr id="104" name="Text Box 120"/>
          <p:cNvSpPr txBox="1">
            <a:spLocks noChangeArrowheads="1"/>
          </p:cNvSpPr>
          <p:nvPr/>
        </p:nvSpPr>
        <p:spPr bwMode="auto">
          <a:xfrm>
            <a:off x="3915419" y="4244752"/>
            <a:ext cx="43815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IN</a:t>
            </a:r>
            <a:endParaRPr lang="en-US"/>
          </a:p>
        </p:txBody>
      </p:sp>
      <p:sp>
        <p:nvSpPr>
          <p:cNvPr id="105" name="Text Box 121"/>
          <p:cNvSpPr txBox="1">
            <a:spLocks noChangeArrowheads="1"/>
          </p:cNvSpPr>
          <p:nvPr/>
        </p:nvSpPr>
        <p:spPr bwMode="auto">
          <a:xfrm>
            <a:off x="334019" y="5067077"/>
            <a:ext cx="43815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a:t>IN</a:t>
            </a:r>
            <a:endParaRPr lang="en-US"/>
          </a:p>
        </p:txBody>
      </p:sp>
      <p:grpSp>
        <p:nvGrpSpPr>
          <p:cNvPr id="106" name="Group 6"/>
          <p:cNvGrpSpPr>
            <a:grpSpLocks/>
          </p:cNvGrpSpPr>
          <p:nvPr/>
        </p:nvGrpSpPr>
        <p:grpSpPr bwMode="auto">
          <a:xfrm>
            <a:off x="253751" y="3031484"/>
            <a:ext cx="782638" cy="460375"/>
            <a:chOff x="153" y="1200"/>
            <a:chExt cx="493" cy="290"/>
          </a:xfrm>
        </p:grpSpPr>
        <p:sp>
          <p:nvSpPr>
            <p:cNvPr id="107" name="AutoShape 4"/>
            <p:cNvSpPr>
              <a:spLocks noChangeArrowheads="1"/>
            </p:cNvSpPr>
            <p:nvPr/>
          </p:nvSpPr>
          <p:spPr bwMode="auto">
            <a:xfrm>
              <a:off x="192" y="1200"/>
              <a:ext cx="384" cy="288"/>
            </a:xfrm>
            <a:prstGeom prst="roundRect">
              <a:avLst>
                <a:gd name="adj" fmla="val 16667"/>
              </a:avLst>
            </a:prstGeom>
            <a:solidFill>
              <a:schemeClr val="accent1"/>
            </a:solidFill>
            <a:ln w="9525">
              <a:solidFill>
                <a:schemeClr val="tx1"/>
              </a:solidFill>
              <a:round/>
              <a:headEnd/>
              <a:tailEnd/>
            </a:ln>
          </p:spPr>
          <p:txBody>
            <a:bodyPr wrap="none" anchor="ctr"/>
            <a:lstStyle/>
            <a:p>
              <a:endParaRPr lang="en-US"/>
            </a:p>
          </p:txBody>
        </p:sp>
        <p:sp>
          <p:nvSpPr>
            <p:cNvPr id="108" name="Text Box 5"/>
            <p:cNvSpPr txBox="1">
              <a:spLocks noChangeArrowheads="1"/>
            </p:cNvSpPr>
            <p:nvPr/>
          </p:nvSpPr>
          <p:spPr bwMode="auto">
            <a:xfrm>
              <a:off x="153" y="1238"/>
              <a:ext cx="493"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dirty="0"/>
                <a:t>MEM</a:t>
              </a:r>
              <a:endParaRPr lang="en-US" dirty="0"/>
            </a:p>
          </p:txBody>
        </p:sp>
      </p:grpSp>
      <p:sp>
        <p:nvSpPr>
          <p:cNvPr id="115" name="Line 17"/>
          <p:cNvSpPr>
            <a:spLocks noChangeShapeType="1"/>
          </p:cNvSpPr>
          <p:nvPr/>
        </p:nvSpPr>
        <p:spPr bwMode="auto">
          <a:xfrm>
            <a:off x="1849998" y="2720752"/>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6" name="Line 18"/>
          <p:cNvSpPr>
            <a:spLocks noChangeShapeType="1"/>
          </p:cNvSpPr>
          <p:nvPr/>
        </p:nvSpPr>
        <p:spPr bwMode="auto">
          <a:xfrm>
            <a:off x="2611998" y="2720752"/>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7" name="Line 19"/>
          <p:cNvSpPr>
            <a:spLocks noChangeShapeType="1"/>
          </p:cNvSpPr>
          <p:nvPr/>
        </p:nvSpPr>
        <p:spPr bwMode="auto">
          <a:xfrm>
            <a:off x="554598" y="2720752"/>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9" name="Group 6"/>
          <p:cNvGrpSpPr>
            <a:grpSpLocks/>
          </p:cNvGrpSpPr>
          <p:nvPr/>
        </p:nvGrpSpPr>
        <p:grpSpPr bwMode="auto">
          <a:xfrm>
            <a:off x="1446062" y="3031484"/>
            <a:ext cx="782638" cy="460375"/>
            <a:chOff x="153" y="1200"/>
            <a:chExt cx="493" cy="290"/>
          </a:xfrm>
        </p:grpSpPr>
        <p:sp>
          <p:nvSpPr>
            <p:cNvPr id="120" name="AutoShape 4"/>
            <p:cNvSpPr>
              <a:spLocks noChangeArrowheads="1"/>
            </p:cNvSpPr>
            <p:nvPr/>
          </p:nvSpPr>
          <p:spPr bwMode="auto">
            <a:xfrm>
              <a:off x="192" y="1200"/>
              <a:ext cx="384" cy="288"/>
            </a:xfrm>
            <a:prstGeom prst="roundRect">
              <a:avLst>
                <a:gd name="adj" fmla="val 16667"/>
              </a:avLst>
            </a:prstGeom>
            <a:solidFill>
              <a:schemeClr val="accent1"/>
            </a:solidFill>
            <a:ln w="9525">
              <a:solidFill>
                <a:schemeClr val="tx1"/>
              </a:solidFill>
              <a:round/>
              <a:headEnd/>
              <a:tailEnd/>
            </a:ln>
          </p:spPr>
          <p:txBody>
            <a:bodyPr wrap="none" anchor="ctr"/>
            <a:lstStyle/>
            <a:p>
              <a:endParaRPr lang="en-US"/>
            </a:p>
          </p:txBody>
        </p:sp>
        <p:sp>
          <p:nvSpPr>
            <p:cNvPr id="121" name="Text Box 5"/>
            <p:cNvSpPr txBox="1">
              <a:spLocks noChangeArrowheads="1"/>
            </p:cNvSpPr>
            <p:nvPr/>
          </p:nvSpPr>
          <p:spPr bwMode="auto">
            <a:xfrm>
              <a:off x="153" y="1238"/>
              <a:ext cx="493"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dirty="0"/>
                <a:t>MEM</a:t>
              </a:r>
              <a:endParaRPr lang="en-US" dirty="0"/>
            </a:p>
          </p:txBody>
        </p:sp>
      </p:grpSp>
      <p:grpSp>
        <p:nvGrpSpPr>
          <p:cNvPr id="122" name="Group 6"/>
          <p:cNvGrpSpPr>
            <a:grpSpLocks/>
          </p:cNvGrpSpPr>
          <p:nvPr/>
        </p:nvGrpSpPr>
        <p:grpSpPr bwMode="auto">
          <a:xfrm>
            <a:off x="2228700" y="3025552"/>
            <a:ext cx="782638" cy="460375"/>
            <a:chOff x="153" y="1200"/>
            <a:chExt cx="493" cy="290"/>
          </a:xfrm>
        </p:grpSpPr>
        <p:sp>
          <p:nvSpPr>
            <p:cNvPr id="123" name="AutoShape 4"/>
            <p:cNvSpPr>
              <a:spLocks noChangeArrowheads="1"/>
            </p:cNvSpPr>
            <p:nvPr/>
          </p:nvSpPr>
          <p:spPr bwMode="auto">
            <a:xfrm>
              <a:off x="192" y="1200"/>
              <a:ext cx="384" cy="288"/>
            </a:xfrm>
            <a:prstGeom prst="roundRect">
              <a:avLst>
                <a:gd name="adj" fmla="val 16667"/>
              </a:avLst>
            </a:prstGeom>
            <a:solidFill>
              <a:schemeClr val="accent1"/>
            </a:solidFill>
            <a:ln w="9525">
              <a:solidFill>
                <a:schemeClr val="tx1"/>
              </a:solidFill>
              <a:round/>
              <a:headEnd/>
              <a:tailEnd/>
            </a:ln>
          </p:spPr>
          <p:txBody>
            <a:bodyPr wrap="none" anchor="ctr"/>
            <a:lstStyle/>
            <a:p>
              <a:endParaRPr lang="en-US"/>
            </a:p>
          </p:txBody>
        </p:sp>
        <p:sp>
          <p:nvSpPr>
            <p:cNvPr id="124" name="Text Box 5"/>
            <p:cNvSpPr txBox="1">
              <a:spLocks noChangeArrowheads="1"/>
            </p:cNvSpPr>
            <p:nvPr/>
          </p:nvSpPr>
          <p:spPr bwMode="auto">
            <a:xfrm>
              <a:off x="153" y="1238"/>
              <a:ext cx="493"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pitchFamily="1" charset="-128"/>
                </a:defRPr>
              </a:lvl1pPr>
              <a:lvl2pPr marL="742950" indent="-285750">
                <a:defRPr sz="2400">
                  <a:solidFill>
                    <a:schemeClr val="tx1"/>
                  </a:solidFill>
                  <a:latin typeface="Arial" charset="0"/>
                  <a:ea typeface="ＭＳ Ｐゴシック" pitchFamily="1" charset="-128"/>
                </a:defRPr>
              </a:lvl2pPr>
              <a:lvl3pPr marL="1143000" indent="-228600">
                <a:defRPr sz="2400">
                  <a:solidFill>
                    <a:schemeClr val="tx1"/>
                  </a:solidFill>
                  <a:latin typeface="Arial" charset="0"/>
                  <a:ea typeface="ＭＳ Ｐゴシック" pitchFamily="1" charset="-128"/>
                </a:defRPr>
              </a:lvl3pPr>
              <a:lvl4pPr marL="1600200" indent="-228600">
                <a:defRPr sz="2400">
                  <a:solidFill>
                    <a:schemeClr val="tx1"/>
                  </a:solidFill>
                  <a:latin typeface="Arial" charset="0"/>
                  <a:ea typeface="ＭＳ Ｐゴシック" pitchFamily="1" charset="-128"/>
                </a:defRPr>
              </a:lvl4pPr>
              <a:lvl5pPr marL="2057400" indent="-228600">
                <a:defRPr sz="2400">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1" charset="-128"/>
                </a:defRPr>
              </a:lvl9pPr>
            </a:lstStyle>
            <a:p>
              <a:r>
                <a:rPr lang="en-US" sz="2000" dirty="0"/>
                <a:t>MEM</a:t>
              </a:r>
              <a:endParaRPr lang="en-US" dirty="0"/>
            </a:p>
          </p:txBody>
        </p:sp>
      </p:grpSp>
    </p:spTree>
    <p:extLst>
      <p:ext uri="{BB962C8B-B14F-4D97-AF65-F5344CB8AC3E}">
        <p14:creationId xmlns:p14="http://schemas.microsoft.com/office/powerpoint/2010/main" val="3886741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altLang="en-US" dirty="0"/>
              <a:t>Static vs Dynamic Interconnections </a:t>
            </a:r>
          </a:p>
        </p:txBody>
      </p:sp>
      <p:sp>
        <p:nvSpPr>
          <p:cNvPr id="3" name="Content Placeholder 2"/>
          <p:cNvSpPr>
            <a:spLocks noGrp="1"/>
          </p:cNvSpPr>
          <p:nvPr>
            <p:ph idx="1"/>
          </p:nvPr>
        </p:nvSpPr>
        <p:spPr>
          <a:xfrm>
            <a:off x="652553" y="1335366"/>
            <a:ext cx="8440880" cy="4987331"/>
          </a:xfrm>
        </p:spPr>
        <p:txBody>
          <a:bodyPr>
            <a:normAutofit/>
          </a:bodyPr>
          <a:lstStyle/>
          <a:p>
            <a:r>
              <a:rPr lang="en-US" altLang="en-US" dirty="0"/>
              <a:t>Interconnection networks carry data between processors and to memory. </a:t>
            </a:r>
          </a:p>
          <a:p>
            <a:r>
              <a:rPr lang="en-US" altLang="en-US" dirty="0"/>
              <a:t>Interconnects are made of processing elements, switches and links (wires, fiber). </a:t>
            </a:r>
          </a:p>
          <a:p>
            <a:r>
              <a:rPr lang="en-US" altLang="en-US" dirty="0"/>
              <a:t>Interconnects are classified as static or dynamic. </a:t>
            </a:r>
          </a:p>
          <a:p>
            <a:r>
              <a:rPr lang="en-US" altLang="en-US" b="1" dirty="0"/>
              <a:t>Static</a:t>
            </a:r>
            <a:r>
              <a:rPr lang="en-US" altLang="en-US" dirty="0"/>
              <a:t> networks consist of point-to-point communication links among processing nodes and are also referred to as </a:t>
            </a:r>
            <a:r>
              <a:rPr lang="en-US" altLang="en-US" i="1" dirty="0"/>
              <a:t>direct</a:t>
            </a:r>
            <a:r>
              <a:rPr lang="en-US" altLang="en-US" dirty="0"/>
              <a:t> networks. </a:t>
            </a:r>
          </a:p>
          <a:p>
            <a:r>
              <a:rPr lang="en-US" altLang="en-US" b="1" dirty="0"/>
              <a:t>Dynamic</a:t>
            </a:r>
            <a:r>
              <a:rPr lang="en-US" altLang="en-US" dirty="0"/>
              <a:t> networks are built using switches and communication links. Dynamic networks are also referred to as </a:t>
            </a:r>
            <a:r>
              <a:rPr lang="en-US" altLang="en-US" i="1" dirty="0"/>
              <a:t>indirect</a:t>
            </a:r>
            <a:r>
              <a:rPr lang="en-US" altLang="en-US" dirty="0"/>
              <a:t> networks. </a:t>
            </a:r>
          </a:p>
          <a:p>
            <a:pPr algn="just"/>
            <a:endParaRPr lang="en-US" alt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69619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altLang="en-US" dirty="0"/>
              <a:t>Static vs Dynamic Interconnections </a:t>
            </a:r>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pic>
        <p:nvPicPr>
          <p:cNvPr id="7" name="Picture 4" descr="m2">
            <a:extLst>
              <a:ext uri="{FF2B5EF4-FFF2-40B4-BE49-F238E27FC236}">
                <a16:creationId xmlns:a16="http://schemas.microsoft.com/office/drawing/2014/main" id="{4078B549-75C7-45ED-B187-00B1CDC2176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75009" y="957944"/>
            <a:ext cx="7795968" cy="43325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6">
            <a:extLst>
              <a:ext uri="{FF2B5EF4-FFF2-40B4-BE49-F238E27FC236}">
                <a16:creationId xmlns:a16="http://schemas.microsoft.com/office/drawing/2014/main" id="{4FA8FA46-790C-4FA6-B7DE-29E98DC07696}"/>
              </a:ext>
            </a:extLst>
          </p:cNvPr>
          <p:cNvSpPr>
            <a:spLocks noChangeArrowheads="1"/>
          </p:cNvSpPr>
          <p:nvPr/>
        </p:nvSpPr>
        <p:spPr bwMode="auto">
          <a:xfrm>
            <a:off x="990600" y="5334000"/>
            <a:ext cx="7086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Arial Unicode MS" pitchFamily="34" charset="-128"/>
              </a:defRPr>
            </a:lvl1pPr>
            <a:lvl2pPr marL="742950" indent="-285750">
              <a:spcBef>
                <a:spcPct val="20000"/>
              </a:spcBef>
              <a:buChar char="–"/>
              <a:defRPr sz="2000">
                <a:solidFill>
                  <a:schemeClr val="tx1"/>
                </a:solidFill>
                <a:latin typeface="Arial" panose="020B0604020202020204" pitchFamily="34" charset="0"/>
                <a:ea typeface="Arial Unicode MS" pitchFamily="34" charset="-128"/>
              </a:defRPr>
            </a:lvl2pPr>
            <a:lvl3pPr marL="1143000" indent="-228600">
              <a:spcBef>
                <a:spcPct val="20000"/>
              </a:spcBef>
              <a:buChar char="•"/>
              <a:defRPr>
                <a:solidFill>
                  <a:schemeClr val="tx1"/>
                </a:solidFill>
                <a:latin typeface="Arial" panose="020B0604020202020204" pitchFamily="34" charset="0"/>
                <a:ea typeface="Arial Unicode MS" pitchFamily="34" charset="-128"/>
              </a:defRPr>
            </a:lvl3pPr>
            <a:lvl4pPr marL="1600200" indent="-228600">
              <a:spcBef>
                <a:spcPct val="20000"/>
              </a:spcBef>
              <a:buChar char="–"/>
              <a:defRPr sz="1600">
                <a:solidFill>
                  <a:schemeClr val="tx1"/>
                </a:solidFill>
                <a:latin typeface="Arial" panose="020B0604020202020204" pitchFamily="34" charset="0"/>
                <a:ea typeface="Arial Unicode MS" pitchFamily="34" charset="-128"/>
              </a:defRPr>
            </a:lvl4pPr>
            <a:lvl5pPr marL="2057400" indent="-228600">
              <a:spcBef>
                <a:spcPct val="20000"/>
              </a:spcBef>
              <a:buChar char="»"/>
              <a:defRPr sz="1400">
                <a:solidFill>
                  <a:schemeClr val="tx1"/>
                </a:solidFill>
                <a:latin typeface="Arial" panose="020B0604020202020204" pitchFamily="34" charset="0"/>
                <a:ea typeface="Arial Unicode MS" pitchFamily="34" charset="-128"/>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9pPr>
          </a:lstStyle>
          <a:p>
            <a:pPr algn="ctr" eaLnBrk="1" hangingPunct="1">
              <a:spcBef>
                <a:spcPct val="0"/>
              </a:spcBef>
              <a:buFontTx/>
              <a:buNone/>
            </a:pPr>
            <a:r>
              <a:rPr lang="en-US" altLang="en-US" sz="2000" dirty="0"/>
              <a:t>Classification of interconnection networks: (a) a static network; and (b) a dynamic network.</a:t>
            </a:r>
          </a:p>
        </p:txBody>
      </p:sp>
    </p:spTree>
    <p:extLst>
      <p:ext uri="{BB962C8B-B14F-4D97-AF65-F5344CB8AC3E}">
        <p14:creationId xmlns:p14="http://schemas.microsoft.com/office/powerpoint/2010/main" val="346465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dirty="0"/>
              <a:t>Network Topologies: </a:t>
            </a:r>
            <a:br>
              <a:rPr lang="en-US" altLang="en-US" dirty="0"/>
            </a:br>
            <a:r>
              <a:rPr lang="en-US" altLang="en-US" dirty="0"/>
              <a:t>Linear Arrays, Meshes, and </a:t>
            </a:r>
            <a:r>
              <a:rPr lang="en-US" altLang="en-US" i="1" dirty="0"/>
              <a:t>k-d</a:t>
            </a:r>
            <a:r>
              <a:rPr lang="en-US" altLang="en-US" dirty="0"/>
              <a:t> Meshes</a:t>
            </a:r>
            <a:endParaRPr lang="en-US" dirty="0"/>
          </a:p>
        </p:txBody>
      </p:sp>
      <p:sp>
        <p:nvSpPr>
          <p:cNvPr id="3" name="Content Placeholder 2"/>
          <p:cNvSpPr>
            <a:spLocks noGrp="1"/>
          </p:cNvSpPr>
          <p:nvPr>
            <p:ph idx="1"/>
          </p:nvPr>
        </p:nvSpPr>
        <p:spPr>
          <a:xfrm>
            <a:off x="711218" y="1329263"/>
            <a:ext cx="8323551" cy="5577723"/>
          </a:xfrm>
        </p:spPr>
        <p:txBody>
          <a:bodyPr>
            <a:normAutofit/>
          </a:bodyPr>
          <a:lstStyle/>
          <a:p>
            <a:r>
              <a:rPr lang="en-US" altLang="en-US" dirty="0"/>
              <a:t>Each processor is connected to every other processor (Complete connected network).</a:t>
            </a:r>
          </a:p>
          <a:p>
            <a:r>
              <a:rPr lang="en-US" altLang="en-US" dirty="0"/>
              <a:t>The number of links in the network scales as </a:t>
            </a:r>
            <a:r>
              <a:rPr lang="en-US" altLang="en-US" i="1" dirty="0"/>
              <a:t>O(p</a:t>
            </a:r>
            <a:r>
              <a:rPr lang="en-US" altLang="en-US" i="1" baseline="30000" dirty="0"/>
              <a:t>2</a:t>
            </a:r>
            <a:r>
              <a:rPr lang="en-US" altLang="en-US" i="1" dirty="0"/>
              <a:t>).</a:t>
            </a:r>
          </a:p>
          <a:p>
            <a:r>
              <a:rPr lang="en-US" altLang="en-US" dirty="0"/>
              <a:t>While the performance scales very well, the hardware complexity is not realizable for large values of </a:t>
            </a:r>
            <a:r>
              <a:rPr lang="en-US" altLang="en-US" i="1" dirty="0"/>
              <a:t>p</a:t>
            </a:r>
            <a:r>
              <a:rPr lang="en-US" altLang="en-US" dirty="0"/>
              <a:t>.</a:t>
            </a:r>
          </a:p>
          <a:p>
            <a:r>
              <a:rPr lang="en-US" altLang="en-US" dirty="0"/>
              <a:t>Star connected networks</a:t>
            </a:r>
          </a:p>
          <a:p>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endParaRPr lang="en-US" alt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pic>
        <p:nvPicPr>
          <p:cNvPr id="9" name="Picture 8" descr="A picture containing building, window, drawing&#10;&#10;Description automatically generated">
            <a:extLst>
              <a:ext uri="{FF2B5EF4-FFF2-40B4-BE49-F238E27FC236}">
                <a16:creationId xmlns:a16="http://schemas.microsoft.com/office/drawing/2014/main" id="{913C23F4-CCFD-43BE-B141-E004EB4C5FCB}"/>
              </a:ext>
            </a:extLst>
          </p:cNvPr>
          <p:cNvPicPr>
            <a:picLocks noChangeAspect="1"/>
          </p:cNvPicPr>
          <p:nvPr/>
        </p:nvPicPr>
        <p:blipFill>
          <a:blip r:embed="rId3" cstate="print">
            <a:graysc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5505549" y="3516062"/>
            <a:ext cx="2927233" cy="2806635"/>
          </a:xfrm>
          <a:prstGeom prst="rect">
            <a:avLst/>
          </a:prstGeom>
        </p:spPr>
      </p:pic>
    </p:spTree>
    <p:extLst>
      <p:ext uri="{BB962C8B-B14F-4D97-AF65-F5344CB8AC3E}">
        <p14:creationId xmlns:p14="http://schemas.microsoft.com/office/powerpoint/2010/main" val="2199725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dirty="0"/>
              <a:t>Network Topologies: </a:t>
            </a:r>
            <a:br>
              <a:rPr lang="en-US" altLang="en-US" dirty="0"/>
            </a:br>
            <a:r>
              <a:rPr lang="en-US" altLang="en-US" dirty="0"/>
              <a:t>Linear Arrays, Meshes, and </a:t>
            </a:r>
            <a:r>
              <a:rPr lang="en-US" altLang="en-US" i="1" dirty="0"/>
              <a:t>k-d</a:t>
            </a:r>
            <a:r>
              <a:rPr lang="en-US" altLang="en-US" dirty="0"/>
              <a:t> Meshes</a:t>
            </a:r>
            <a:endParaRPr lang="en-US" dirty="0"/>
          </a:p>
        </p:txBody>
      </p:sp>
      <p:sp>
        <p:nvSpPr>
          <p:cNvPr id="3" name="Content Placeholder 2"/>
          <p:cNvSpPr>
            <a:spLocks noGrp="1"/>
          </p:cNvSpPr>
          <p:nvPr>
            <p:ph idx="1"/>
          </p:nvPr>
        </p:nvSpPr>
        <p:spPr>
          <a:xfrm>
            <a:off x="711218" y="1329263"/>
            <a:ext cx="8323551" cy="5577723"/>
          </a:xfrm>
        </p:spPr>
        <p:txBody>
          <a:bodyPr>
            <a:normAutofit/>
          </a:bodyPr>
          <a:lstStyle/>
          <a:p>
            <a:r>
              <a:rPr lang="en-US" altLang="en-US" dirty="0"/>
              <a:t>In a linear array, each node has two neighbors, one to its left and one to its right. </a:t>
            </a:r>
          </a:p>
          <a:p>
            <a:r>
              <a:rPr lang="en-US" altLang="en-US" dirty="0"/>
              <a:t>If the nodes at either end are connected, we refer to it as a 1-D torus or a ring.</a:t>
            </a:r>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endParaRPr lang="en-US" alt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pic>
        <p:nvPicPr>
          <p:cNvPr id="7" name="Picture 5" descr="la">
            <a:extLst>
              <a:ext uri="{FF2B5EF4-FFF2-40B4-BE49-F238E27FC236}">
                <a16:creationId xmlns:a16="http://schemas.microsoft.com/office/drawing/2014/main" id="{F54FBB22-2D04-4B5D-ACAF-B6334A19E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97" t="-10747" r="-1497" b="-10747"/>
          <a:stretch>
            <a:fillRect/>
          </a:stretch>
        </p:blipFill>
        <p:spPr>
          <a:xfrm>
            <a:off x="1425575" y="3429000"/>
            <a:ext cx="6292850" cy="10350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4">
            <a:extLst>
              <a:ext uri="{FF2B5EF4-FFF2-40B4-BE49-F238E27FC236}">
                <a16:creationId xmlns:a16="http://schemas.microsoft.com/office/drawing/2014/main" id="{497F0E47-FA41-433B-A621-6CC915772592}"/>
              </a:ext>
            </a:extLst>
          </p:cNvPr>
          <p:cNvSpPr>
            <a:spLocks noChangeArrowheads="1"/>
          </p:cNvSpPr>
          <p:nvPr/>
        </p:nvSpPr>
        <p:spPr bwMode="auto">
          <a:xfrm>
            <a:off x="1115169" y="4745419"/>
            <a:ext cx="7239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Arial Unicode MS" pitchFamily="34" charset="-128"/>
              </a:defRPr>
            </a:lvl1pPr>
            <a:lvl2pPr marL="742950" indent="-285750">
              <a:spcBef>
                <a:spcPct val="20000"/>
              </a:spcBef>
              <a:buChar char="–"/>
              <a:defRPr sz="2000">
                <a:solidFill>
                  <a:schemeClr val="tx1"/>
                </a:solidFill>
                <a:latin typeface="Arial" panose="020B0604020202020204" pitchFamily="34" charset="0"/>
                <a:ea typeface="Arial Unicode MS" pitchFamily="34" charset="-128"/>
              </a:defRPr>
            </a:lvl2pPr>
            <a:lvl3pPr marL="1143000" indent="-228600">
              <a:spcBef>
                <a:spcPct val="20000"/>
              </a:spcBef>
              <a:buChar char="•"/>
              <a:defRPr>
                <a:solidFill>
                  <a:schemeClr val="tx1"/>
                </a:solidFill>
                <a:latin typeface="Arial" panose="020B0604020202020204" pitchFamily="34" charset="0"/>
                <a:ea typeface="Arial Unicode MS" pitchFamily="34" charset="-128"/>
              </a:defRPr>
            </a:lvl3pPr>
            <a:lvl4pPr marL="1600200" indent="-228600">
              <a:spcBef>
                <a:spcPct val="20000"/>
              </a:spcBef>
              <a:buChar char="–"/>
              <a:defRPr sz="1600">
                <a:solidFill>
                  <a:schemeClr val="tx1"/>
                </a:solidFill>
                <a:latin typeface="Arial" panose="020B0604020202020204" pitchFamily="34" charset="0"/>
                <a:ea typeface="Arial Unicode MS" pitchFamily="34" charset="-128"/>
              </a:defRPr>
            </a:lvl4pPr>
            <a:lvl5pPr marL="2057400" indent="-228600">
              <a:spcBef>
                <a:spcPct val="20000"/>
              </a:spcBef>
              <a:buChar char="»"/>
              <a:defRPr sz="1400">
                <a:solidFill>
                  <a:schemeClr val="tx1"/>
                </a:solidFill>
                <a:latin typeface="Arial" panose="020B0604020202020204" pitchFamily="34" charset="0"/>
                <a:ea typeface="Arial Unicode MS" pitchFamily="34" charset="-128"/>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9pPr>
          </a:lstStyle>
          <a:p>
            <a:pPr algn="ctr" eaLnBrk="1" hangingPunct="1">
              <a:spcBef>
                <a:spcPct val="0"/>
              </a:spcBef>
              <a:buFontTx/>
              <a:buNone/>
            </a:pPr>
            <a:r>
              <a:rPr lang="en-US" altLang="en-US" sz="2000" dirty="0"/>
              <a:t>Linear arrays: (a) with no wraparound links; (b) with wraparound link.</a:t>
            </a:r>
          </a:p>
        </p:txBody>
      </p:sp>
    </p:spTree>
    <p:extLst>
      <p:ext uri="{BB962C8B-B14F-4D97-AF65-F5344CB8AC3E}">
        <p14:creationId xmlns:p14="http://schemas.microsoft.com/office/powerpoint/2010/main" val="3050770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dirty="0"/>
              <a:t>Network Topologies: </a:t>
            </a:r>
            <a:br>
              <a:rPr lang="en-US" altLang="en-US" dirty="0"/>
            </a:br>
            <a:r>
              <a:rPr lang="en-US" altLang="en-US" dirty="0"/>
              <a:t>Linear Arrays, Meshes, and </a:t>
            </a:r>
            <a:r>
              <a:rPr lang="en-US" altLang="en-US" i="1" dirty="0"/>
              <a:t>k-d</a:t>
            </a:r>
            <a:r>
              <a:rPr lang="en-US" altLang="en-US" dirty="0"/>
              <a:t> Meshes</a:t>
            </a:r>
            <a:endParaRPr lang="en-US" dirty="0"/>
          </a:p>
        </p:txBody>
      </p:sp>
      <p:sp>
        <p:nvSpPr>
          <p:cNvPr id="3" name="Content Placeholder 2"/>
          <p:cNvSpPr>
            <a:spLocks noGrp="1"/>
          </p:cNvSpPr>
          <p:nvPr>
            <p:ph idx="1"/>
          </p:nvPr>
        </p:nvSpPr>
        <p:spPr>
          <a:xfrm>
            <a:off x="711218" y="1427235"/>
            <a:ext cx="8323551" cy="5577723"/>
          </a:xfrm>
        </p:spPr>
        <p:txBody>
          <a:bodyPr>
            <a:normAutofit/>
          </a:bodyPr>
          <a:lstStyle/>
          <a:p>
            <a:pPr marL="0" indent="0">
              <a:buNone/>
            </a:pPr>
            <a:r>
              <a:rPr lang="en-US" altLang="en-US" b="1" dirty="0"/>
              <a:t>Mesh</a:t>
            </a:r>
          </a:p>
          <a:p>
            <a:r>
              <a:rPr lang="en-US" altLang="en-US" dirty="0"/>
              <a:t>A generalization has nodes with 4 neighbors, to the north, south, east, and west.</a:t>
            </a:r>
          </a:p>
          <a:p>
            <a:r>
              <a:rPr lang="en-US" altLang="en-US" dirty="0"/>
              <a:t>A further generalization to </a:t>
            </a:r>
            <a:r>
              <a:rPr lang="en-US" altLang="en-US" i="1" dirty="0"/>
              <a:t>d</a:t>
            </a:r>
            <a:r>
              <a:rPr lang="en-US" altLang="en-US" dirty="0"/>
              <a:t> dimensions has nodes with </a:t>
            </a:r>
            <a:r>
              <a:rPr lang="en-US" altLang="en-US" i="1" dirty="0"/>
              <a:t>2d</a:t>
            </a:r>
            <a:r>
              <a:rPr lang="en-US" altLang="en-US" dirty="0"/>
              <a:t> neighbors (i.e., 6 neighbors in case of 3d cube).</a:t>
            </a:r>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pic>
        <p:nvPicPr>
          <p:cNvPr id="7" name="Picture 5" descr="meshes">
            <a:extLst>
              <a:ext uri="{FF2B5EF4-FFF2-40B4-BE49-F238E27FC236}">
                <a16:creationId xmlns:a16="http://schemas.microsoft.com/office/drawing/2014/main" id="{3312343E-E782-4F5F-8A2F-9EB574E439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56" t="-3999" r="-1256" b="-3999"/>
          <a:stretch>
            <a:fillRect/>
          </a:stretch>
        </p:blipFill>
        <p:spPr>
          <a:xfrm>
            <a:off x="1227171" y="3869870"/>
            <a:ext cx="7372397" cy="19998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4">
            <a:extLst>
              <a:ext uri="{FF2B5EF4-FFF2-40B4-BE49-F238E27FC236}">
                <a16:creationId xmlns:a16="http://schemas.microsoft.com/office/drawing/2014/main" id="{70E1B8E7-3959-40FC-A07F-FDB7B28D0AD8}"/>
              </a:ext>
            </a:extLst>
          </p:cNvPr>
          <p:cNvSpPr>
            <a:spLocks noChangeArrowheads="1"/>
          </p:cNvSpPr>
          <p:nvPr/>
        </p:nvSpPr>
        <p:spPr bwMode="auto">
          <a:xfrm>
            <a:off x="903369" y="5705398"/>
            <a:ext cx="7696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chemeClr val="tx1"/>
                </a:solidFill>
                <a:latin typeface="Arial" panose="020B0604020202020204" pitchFamily="34" charset="0"/>
                <a:ea typeface="Arial Unicode MS" pitchFamily="34" charset="-128"/>
              </a:defRPr>
            </a:lvl1pPr>
            <a:lvl2pPr marL="742950" indent="-285750">
              <a:spcBef>
                <a:spcPct val="20000"/>
              </a:spcBef>
              <a:buChar char="–"/>
              <a:defRPr sz="2000">
                <a:solidFill>
                  <a:schemeClr val="tx1"/>
                </a:solidFill>
                <a:latin typeface="Arial" panose="020B0604020202020204" pitchFamily="34" charset="0"/>
                <a:ea typeface="Arial Unicode MS" pitchFamily="34" charset="-128"/>
              </a:defRPr>
            </a:lvl2pPr>
            <a:lvl3pPr marL="1143000" indent="-228600">
              <a:spcBef>
                <a:spcPct val="20000"/>
              </a:spcBef>
              <a:buChar char="•"/>
              <a:defRPr>
                <a:solidFill>
                  <a:schemeClr val="tx1"/>
                </a:solidFill>
                <a:latin typeface="Arial" panose="020B0604020202020204" pitchFamily="34" charset="0"/>
                <a:ea typeface="Arial Unicode MS" pitchFamily="34" charset="-128"/>
              </a:defRPr>
            </a:lvl3pPr>
            <a:lvl4pPr marL="1600200" indent="-228600">
              <a:spcBef>
                <a:spcPct val="20000"/>
              </a:spcBef>
              <a:buChar char="–"/>
              <a:defRPr sz="1600">
                <a:solidFill>
                  <a:schemeClr val="tx1"/>
                </a:solidFill>
                <a:latin typeface="Arial" panose="020B0604020202020204" pitchFamily="34" charset="0"/>
                <a:ea typeface="Arial Unicode MS" pitchFamily="34" charset="-128"/>
              </a:defRPr>
            </a:lvl4pPr>
            <a:lvl5pPr marL="2057400" indent="-228600">
              <a:spcBef>
                <a:spcPct val="20000"/>
              </a:spcBef>
              <a:buChar char="»"/>
              <a:defRPr sz="1400">
                <a:solidFill>
                  <a:schemeClr val="tx1"/>
                </a:solidFill>
                <a:latin typeface="Arial" panose="020B0604020202020204" pitchFamily="34" charset="0"/>
                <a:ea typeface="Arial Unicode MS" pitchFamily="34" charset="-128"/>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9pPr>
          </a:lstStyle>
          <a:p>
            <a:pPr algn="ctr" eaLnBrk="1" hangingPunct="1">
              <a:spcBef>
                <a:spcPct val="0"/>
              </a:spcBef>
              <a:buFontTx/>
              <a:buNone/>
            </a:pPr>
            <a:r>
              <a:rPr lang="en-US" altLang="en-US" sz="2000" dirty="0"/>
              <a:t>Two and three dimensional meshes: (a) 2-D mesh with no wraparound; (b) 2-D mesh with wraparound link (2-D torus); and (c) a 3-D mesh with no wraparound.</a:t>
            </a:r>
          </a:p>
        </p:txBody>
      </p:sp>
    </p:spTree>
    <p:extLst>
      <p:ext uri="{BB962C8B-B14F-4D97-AF65-F5344CB8AC3E}">
        <p14:creationId xmlns:p14="http://schemas.microsoft.com/office/powerpoint/2010/main" val="12227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a:t>Network Topologies: </a:t>
            </a:r>
            <a:br>
              <a:rPr lang="en-US" altLang="en-US"/>
            </a:br>
            <a:r>
              <a:rPr lang="en-US" altLang="en-US"/>
              <a:t>Linear Arrays, Meshes, and </a:t>
            </a:r>
            <a:r>
              <a:rPr lang="en-US" altLang="en-US" i="1"/>
              <a:t>k-d</a:t>
            </a:r>
            <a:r>
              <a:rPr lang="en-US" altLang="en-US"/>
              <a:t> Meshes</a:t>
            </a:r>
            <a:endParaRPr lang="en-US" dirty="0"/>
          </a:p>
        </p:txBody>
      </p:sp>
      <p:sp>
        <p:nvSpPr>
          <p:cNvPr id="3" name="Content Placeholder 2"/>
          <p:cNvSpPr>
            <a:spLocks noGrp="1"/>
          </p:cNvSpPr>
          <p:nvPr>
            <p:ph idx="1"/>
          </p:nvPr>
        </p:nvSpPr>
        <p:spPr>
          <a:xfrm>
            <a:off x="711218" y="1147758"/>
            <a:ext cx="8323551" cy="5693909"/>
          </a:xfrm>
        </p:spPr>
        <p:txBody>
          <a:bodyPr>
            <a:normAutofit/>
          </a:bodyPr>
          <a:lstStyle/>
          <a:p>
            <a:pPr marL="0" indent="0">
              <a:buNone/>
            </a:pPr>
            <a:r>
              <a:rPr lang="en-US" altLang="en-US" b="1" dirty="0"/>
              <a:t>Hypercube</a:t>
            </a:r>
          </a:p>
          <a:p>
            <a:r>
              <a:rPr lang="en-US" altLang="en-US" dirty="0"/>
              <a:t>The hypercube has two nodes along each dimension except </a:t>
            </a:r>
            <a:r>
              <a:rPr lang="en-US" altLang="en-US" i="1" dirty="0"/>
              <a:t>0d</a:t>
            </a:r>
            <a:r>
              <a:rPr lang="en-US" altLang="en-US" dirty="0"/>
              <a:t> hypercube.</a:t>
            </a:r>
          </a:p>
          <a:p>
            <a:r>
              <a:rPr lang="en-US" altLang="en-US" dirty="0"/>
              <a:t> </a:t>
            </a:r>
            <a:r>
              <a:rPr lang="en-US" altLang="en-US" i="1" dirty="0"/>
              <a:t>d = log p (dimensions = log(nodes))</a:t>
            </a:r>
            <a:endParaRPr lang="en-US" altLang="en-US" dirty="0"/>
          </a:p>
          <a:p>
            <a:r>
              <a:rPr lang="en-US" altLang="en-US" dirty="0"/>
              <a:t>The distance between any two nodes is at most </a:t>
            </a:r>
            <a:r>
              <a:rPr lang="en-US" altLang="en-US" i="1" dirty="0"/>
              <a:t>log p</a:t>
            </a:r>
            <a:r>
              <a:rPr lang="en-US" altLang="en-US" dirty="0"/>
              <a:t>.</a:t>
            </a:r>
          </a:p>
          <a:p>
            <a:r>
              <a:rPr lang="en-US" altLang="en-US" dirty="0"/>
              <a:t>Each node has </a:t>
            </a:r>
            <a:r>
              <a:rPr lang="en-US" altLang="en-US" i="1" dirty="0"/>
              <a:t>log p</a:t>
            </a:r>
            <a:r>
              <a:rPr lang="en-US" altLang="en-US" dirty="0"/>
              <a:t> neighbors.</a:t>
            </a:r>
          </a:p>
          <a:p>
            <a:r>
              <a:rPr lang="en-US" altLang="en-US" dirty="0"/>
              <a:t>The distance between two nodes is given by the number of bit positions at which the two nodes differ.</a:t>
            </a:r>
          </a:p>
          <a:p>
            <a:r>
              <a:rPr lang="en-US" altLang="en-US" dirty="0"/>
              <a:t>Rule of thumb is: “d-dimensional hypercube can be constructed by connecting corresponding nodes of two (d-1)-dimensional hypercubes”</a:t>
            </a:r>
          </a:p>
          <a:p>
            <a:endParaRPr lang="en-US" altLang="en-US"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2442930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a:t>Network Topologies: </a:t>
            </a:r>
            <a:br>
              <a:rPr lang="en-US" altLang="en-US"/>
            </a:br>
            <a:r>
              <a:rPr lang="en-US" altLang="en-US"/>
              <a:t>Linear Arrays, Meshes, and </a:t>
            </a:r>
            <a:r>
              <a:rPr lang="en-US" altLang="en-US" i="1"/>
              <a:t>k-d</a:t>
            </a:r>
            <a:r>
              <a:rPr lang="en-US" altLang="en-US"/>
              <a:t> Meshes</a:t>
            </a:r>
            <a:endParaRPr lang="en-US"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pic>
        <p:nvPicPr>
          <p:cNvPr id="7" name="Picture 5" descr="cubes">
            <a:extLst>
              <a:ext uri="{FF2B5EF4-FFF2-40B4-BE49-F238E27FC236}">
                <a16:creationId xmlns:a16="http://schemas.microsoft.com/office/drawing/2014/main" id="{B0965CA9-1E59-4394-9674-F8B4AA49A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84" t="-1323" r="-1384" b="-1323"/>
          <a:stretch>
            <a:fillRect/>
          </a:stretch>
        </p:blipFill>
        <p:spPr>
          <a:xfrm>
            <a:off x="593889" y="1282544"/>
            <a:ext cx="8291910" cy="522271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16104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a:t>Network Topologies: </a:t>
            </a:r>
            <a:br>
              <a:rPr lang="en-US" altLang="en-US"/>
            </a:br>
            <a:r>
              <a:rPr lang="en-US" altLang="en-US"/>
              <a:t>Tree based Networks</a:t>
            </a:r>
            <a:endParaRPr lang="en-US" dirty="0"/>
          </a:p>
        </p:txBody>
      </p:sp>
      <p:sp>
        <p:nvSpPr>
          <p:cNvPr id="3" name="Content Placeholder 2"/>
          <p:cNvSpPr>
            <a:spLocks noGrp="1"/>
          </p:cNvSpPr>
          <p:nvPr>
            <p:ph idx="1"/>
          </p:nvPr>
        </p:nvSpPr>
        <p:spPr>
          <a:xfrm>
            <a:off x="593889" y="1280277"/>
            <a:ext cx="8323551" cy="5577723"/>
          </a:xfrm>
        </p:spPr>
        <p:txBody>
          <a:bodyPr>
            <a:normAutofit/>
          </a:bodyPr>
          <a:lstStyle/>
          <a:p>
            <a:r>
              <a:rPr lang="en-US" altLang="en-US" dirty="0"/>
              <a:t>A tree network is one in which there is one path between any pair of nodes</a:t>
            </a:r>
          </a:p>
          <a:p>
            <a:r>
              <a:rPr lang="en-US" altLang="en-US" dirty="0"/>
              <a:t>Linear arrays and star-connected networks are special cases of tree-based networks</a:t>
            </a:r>
          </a:p>
          <a:p>
            <a:r>
              <a:rPr lang="en-US" altLang="en-US" dirty="0"/>
              <a:t>In static tree network, each node represent a processing element</a:t>
            </a:r>
          </a:p>
          <a:p>
            <a:r>
              <a:rPr lang="en-US" altLang="en-US" dirty="0"/>
              <a:t>In dynamic tree network, leaf nodes represent processing element while internal nodes are switching elements. </a:t>
            </a:r>
          </a:p>
          <a:p>
            <a:r>
              <a:rPr lang="en-US" altLang="en-US" dirty="0"/>
              <a:t>The source node sends the message up the tree until it reaches the node at the root of the smallest subtree containing both the source and destination nodes.</a:t>
            </a:r>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74415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a:t>Network Topologies: </a:t>
            </a:r>
            <a:br>
              <a:rPr lang="en-US" altLang="en-US"/>
            </a:br>
            <a:r>
              <a:rPr lang="en-US" altLang="en-US"/>
              <a:t>Tree based Networks</a:t>
            </a:r>
            <a:endParaRPr lang="en-US" dirty="0"/>
          </a:p>
        </p:txBody>
      </p:sp>
      <p:sp>
        <p:nvSpPr>
          <p:cNvPr id="3" name="Content Placeholder 2"/>
          <p:cNvSpPr>
            <a:spLocks noGrp="1"/>
          </p:cNvSpPr>
          <p:nvPr>
            <p:ph idx="1"/>
          </p:nvPr>
        </p:nvSpPr>
        <p:spPr>
          <a:xfrm>
            <a:off x="593889" y="1280277"/>
            <a:ext cx="8323551" cy="5577723"/>
          </a:xfrm>
        </p:spPr>
        <p:txBody>
          <a:bodyPr>
            <a:normAutofit/>
          </a:bodyPr>
          <a:lstStyle/>
          <a:p>
            <a:pPr marL="0" indent="0">
              <a:buNone/>
            </a:pPr>
            <a:r>
              <a:rPr lang="en-US" altLang="en-US" b="1" dirty="0"/>
              <a:t>Complete Binary Tree</a:t>
            </a:r>
          </a:p>
          <a:p>
            <a:pPr marL="0" indent="0">
              <a:buNone/>
            </a:pPr>
            <a:endParaRPr lang="en-US" alt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7" name="Rectangle 4">
            <a:extLst>
              <a:ext uri="{FF2B5EF4-FFF2-40B4-BE49-F238E27FC236}">
                <a16:creationId xmlns:a16="http://schemas.microsoft.com/office/drawing/2014/main" id="{77FB21EE-DFAB-43F6-850C-DDA4A5185538}"/>
              </a:ext>
            </a:extLst>
          </p:cNvPr>
          <p:cNvSpPr>
            <a:spLocks noChangeArrowheads="1"/>
          </p:cNvSpPr>
          <p:nvPr/>
        </p:nvSpPr>
        <p:spPr bwMode="auto">
          <a:xfrm>
            <a:off x="956066" y="5385498"/>
            <a:ext cx="764018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400">
                <a:solidFill>
                  <a:schemeClr val="tx1"/>
                </a:solidFill>
                <a:latin typeface="Arial" panose="020B0604020202020204" pitchFamily="34" charset="0"/>
                <a:ea typeface="Arial Unicode MS" pitchFamily="34" charset="-128"/>
              </a:defRPr>
            </a:lvl1pPr>
            <a:lvl2pPr marL="742950" indent="-285750">
              <a:spcBef>
                <a:spcPct val="20000"/>
              </a:spcBef>
              <a:buChar char="–"/>
              <a:defRPr sz="2000">
                <a:solidFill>
                  <a:schemeClr val="tx1"/>
                </a:solidFill>
                <a:latin typeface="Arial" panose="020B0604020202020204" pitchFamily="34" charset="0"/>
                <a:ea typeface="Arial Unicode MS" pitchFamily="34" charset="-128"/>
              </a:defRPr>
            </a:lvl2pPr>
            <a:lvl3pPr marL="1143000" indent="-228600">
              <a:spcBef>
                <a:spcPct val="20000"/>
              </a:spcBef>
              <a:buChar char="•"/>
              <a:defRPr>
                <a:solidFill>
                  <a:schemeClr val="tx1"/>
                </a:solidFill>
                <a:latin typeface="Arial" panose="020B0604020202020204" pitchFamily="34" charset="0"/>
                <a:ea typeface="Arial Unicode MS" pitchFamily="34" charset="-128"/>
              </a:defRPr>
            </a:lvl3pPr>
            <a:lvl4pPr marL="1600200" indent="-228600">
              <a:spcBef>
                <a:spcPct val="20000"/>
              </a:spcBef>
              <a:buChar char="–"/>
              <a:defRPr sz="1600">
                <a:solidFill>
                  <a:schemeClr val="tx1"/>
                </a:solidFill>
                <a:latin typeface="Arial" panose="020B0604020202020204" pitchFamily="34" charset="0"/>
                <a:ea typeface="Arial Unicode MS" pitchFamily="34" charset="-128"/>
              </a:defRPr>
            </a:lvl4pPr>
            <a:lvl5pPr marL="2057400" indent="-228600">
              <a:spcBef>
                <a:spcPct val="20000"/>
              </a:spcBef>
              <a:buChar char="»"/>
              <a:defRPr sz="1400">
                <a:solidFill>
                  <a:schemeClr val="tx1"/>
                </a:solidFill>
                <a:latin typeface="Arial" panose="020B0604020202020204" pitchFamily="34" charset="0"/>
                <a:ea typeface="Arial Unicode MS" pitchFamily="34" charset="-128"/>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9pPr>
          </a:lstStyle>
          <a:p>
            <a:pPr algn="ctr" eaLnBrk="1" hangingPunct="1">
              <a:spcBef>
                <a:spcPct val="0"/>
              </a:spcBef>
              <a:buFontTx/>
              <a:buNone/>
            </a:pPr>
            <a:r>
              <a:rPr lang="en-US" altLang="en-US" sz="2000" dirty="0"/>
              <a:t>Complete binary tree networks: (a) a static tree network; and (b) a dynamic tree network.</a:t>
            </a:r>
          </a:p>
        </p:txBody>
      </p:sp>
      <p:pic>
        <p:nvPicPr>
          <p:cNvPr id="8" name="Picture 8" descr="fig-ICNs-tree">
            <a:extLst>
              <a:ext uri="{FF2B5EF4-FFF2-40B4-BE49-F238E27FC236}">
                <a16:creationId xmlns:a16="http://schemas.microsoft.com/office/drawing/2014/main" id="{06229A22-DE73-4CCC-9143-532036417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36" t="-3810" r="-1636" b="-3810"/>
          <a:stretch>
            <a:fillRect/>
          </a:stretch>
        </p:blipFill>
        <p:spPr>
          <a:xfrm>
            <a:off x="593889" y="1681843"/>
            <a:ext cx="8271497" cy="370365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93355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Communication Cost in Tree Topology</a:t>
            </a:r>
            <a:endParaRPr lang="en-US" dirty="0"/>
          </a:p>
        </p:txBody>
      </p:sp>
      <p:sp>
        <p:nvSpPr>
          <p:cNvPr id="3" name="Content Placeholder 2"/>
          <p:cNvSpPr>
            <a:spLocks noGrp="1"/>
          </p:cNvSpPr>
          <p:nvPr>
            <p:ph idx="1"/>
          </p:nvPr>
        </p:nvSpPr>
        <p:spPr/>
        <p:txBody>
          <a:bodyPr>
            <a:normAutofit fontScale="70000" lnSpcReduction="20000"/>
          </a:bodyPr>
          <a:lstStyle/>
          <a:p>
            <a:r>
              <a:rPr lang="en-US" dirty="0"/>
              <a:t>A </a:t>
            </a:r>
            <a:r>
              <a:rPr lang="en-US" b="1" dirty="0"/>
              <a:t>tree topology</a:t>
            </a:r>
            <a:r>
              <a:rPr lang="en-US" dirty="0"/>
              <a:t> helps in reducing communication traffic in large distributed networks by organizing nodes in a hierarchical structure, which enables efficient data routing and minimizes the amount of traffic that needs to travel across the entire network. Here's how it works:</a:t>
            </a:r>
          </a:p>
          <a:p>
            <a:r>
              <a:rPr lang="en-US" b="1" dirty="0"/>
              <a:t>1. Hierarchical Structure</a:t>
            </a:r>
            <a:endParaRPr lang="en-US" dirty="0"/>
          </a:p>
          <a:p>
            <a:r>
              <a:rPr lang="en-US" dirty="0"/>
              <a:t>In a tree topology, nodes are arranged in levels, with a </a:t>
            </a:r>
            <a:r>
              <a:rPr lang="en-US" b="1" dirty="0"/>
              <a:t>root node</a:t>
            </a:r>
            <a:r>
              <a:rPr lang="en-US" dirty="0"/>
              <a:t> at the top, followed by </a:t>
            </a:r>
            <a:r>
              <a:rPr lang="en-US" b="1" dirty="0"/>
              <a:t>intermediate nodes</a:t>
            </a:r>
            <a:r>
              <a:rPr lang="en-US" dirty="0"/>
              <a:t>, and then </a:t>
            </a:r>
            <a:r>
              <a:rPr lang="en-US" b="1" dirty="0"/>
              <a:t>leaf nodes</a:t>
            </a:r>
            <a:r>
              <a:rPr lang="en-US" dirty="0"/>
              <a:t> at the bottom. Communication between nodes is funneled through these different levels. This hierarchy ensures that data typically travels through intermediate levels rather than across the entire network, reducing congestion and localizing traffic.</a:t>
            </a:r>
          </a:p>
          <a:p>
            <a:r>
              <a:rPr lang="en-US" b="1" dirty="0"/>
              <a:t>2. Localized Traffic</a:t>
            </a:r>
            <a:endParaRPr lang="en-US" dirty="0"/>
          </a:p>
          <a:p>
            <a:r>
              <a:rPr lang="en-US" dirty="0"/>
              <a:t>Communication within a branch (or subtree) of the network happens mostly within that specific branch. This means that messages between nodes on the same branch do not need to travel through the entire network, reducing the amount of data that traverses higher levels of the hierarchy. For example, communication between two leaf nodes connected to the same intermediate node is handled locally without involving the root or other higher-level nodes.</a:t>
            </a:r>
          </a:p>
          <a:p>
            <a:endParaRPr lang="en-US" dirty="0"/>
          </a:p>
        </p:txBody>
      </p:sp>
      <p:sp>
        <p:nvSpPr>
          <p:cNvPr id="4" name="Footer Placeholder 3"/>
          <p:cNvSpPr>
            <a:spLocks noGrp="1"/>
          </p:cNvSpPr>
          <p:nvPr>
            <p:ph type="ftr" sz="quarter" idx="11"/>
          </p:nvPr>
        </p:nvSpPr>
        <p:spPr/>
        <p:txBody>
          <a:bodyPr/>
          <a:lstStyle/>
          <a:p>
            <a:pPr>
              <a:defRPr/>
            </a:pPr>
            <a:r>
              <a:rPr lang="en-US" altLang="en-US" smtClean="0">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2363384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Cost</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3. Traffic Aggregation</a:t>
            </a:r>
            <a:endParaRPr lang="en-US" dirty="0"/>
          </a:p>
          <a:p>
            <a:r>
              <a:rPr lang="en-US" dirty="0"/>
              <a:t>Higher-level nodes (closer to the root) aggregate traffic from lower-level nodes. Only when communication needs to happen between nodes on different branches does traffic move higher up the tree. This selective routing helps in managing bandwidth better, as not all data needs to move through the top levels of the hierarchy.</a:t>
            </a:r>
          </a:p>
          <a:p>
            <a:r>
              <a:rPr lang="en-US" b="1" dirty="0"/>
              <a:t>4. Efficient Routing</a:t>
            </a:r>
            <a:endParaRPr lang="en-US" dirty="0"/>
          </a:p>
          <a:p>
            <a:r>
              <a:rPr lang="en-US" dirty="0"/>
              <a:t>In a tree topology, the path to any node is well-defined by its position in the hierarchy. This makes routing simple and efficient since the route from one node to another is clear (either up to a common ancestor node or directly down a branch). This reduces the need for complex routing algorithms, further reducing communication delays.</a:t>
            </a:r>
          </a:p>
          <a:p>
            <a:r>
              <a:rPr lang="en-US" b="1" dirty="0"/>
              <a:t>5. Bandwidth Optimization</a:t>
            </a:r>
            <a:endParaRPr lang="en-US" dirty="0"/>
          </a:p>
          <a:p>
            <a:r>
              <a:rPr lang="en-US" dirty="0"/>
              <a:t>Higher-level nodes typically have higher bandwidth than lower-level ones. This "fat tree" structure helps balance the communication load, with more traffic being handled by the higher-level nodes that connect different branches. By providing higher capacity at the top of the hierarchy, the network can handle more communication without causing bottlenecks.</a:t>
            </a:r>
          </a:p>
          <a:p>
            <a:endParaRPr lang="en-US" dirty="0"/>
          </a:p>
        </p:txBody>
      </p:sp>
      <p:sp>
        <p:nvSpPr>
          <p:cNvPr id="4" name="Footer Placeholder 3"/>
          <p:cNvSpPr>
            <a:spLocks noGrp="1"/>
          </p:cNvSpPr>
          <p:nvPr>
            <p:ph type="ftr" sz="quarter" idx="11"/>
          </p:nvPr>
        </p:nvSpPr>
        <p:spPr/>
        <p:txBody>
          <a:bodyPr/>
          <a:lstStyle/>
          <a:p>
            <a:pPr>
              <a:defRPr/>
            </a:pPr>
            <a:r>
              <a:rPr lang="en-US" altLang="en-US" smtClean="0">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3560676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Communication Cost</a:t>
            </a:r>
            <a:endParaRPr lang="en-US"/>
          </a:p>
        </p:txBody>
      </p:sp>
      <p:sp>
        <p:nvSpPr>
          <p:cNvPr id="3" name="Content Placeholder 2"/>
          <p:cNvSpPr>
            <a:spLocks noGrp="1"/>
          </p:cNvSpPr>
          <p:nvPr>
            <p:ph idx="1"/>
          </p:nvPr>
        </p:nvSpPr>
        <p:spPr/>
        <p:txBody>
          <a:bodyPr>
            <a:normAutofit fontScale="70000" lnSpcReduction="20000"/>
          </a:bodyPr>
          <a:lstStyle/>
          <a:p>
            <a:r>
              <a:rPr lang="en-US" b="1" dirty="0"/>
              <a:t>6. Reduces Broadcast Traffic</a:t>
            </a:r>
            <a:endParaRPr lang="en-US" dirty="0"/>
          </a:p>
          <a:p>
            <a:r>
              <a:rPr lang="en-US" dirty="0"/>
              <a:t>In some tree topologies, only specific higher-level nodes handle broadcast messages. This selective handling of broadcast traffic prevents all nodes from being overwhelmed by unnecessary messages, reducing overall traffic.</a:t>
            </a:r>
          </a:p>
          <a:p>
            <a:r>
              <a:rPr lang="en-US" b="1" dirty="0"/>
              <a:t>Example Scenario:</a:t>
            </a:r>
            <a:endParaRPr lang="en-US" dirty="0"/>
          </a:p>
          <a:p>
            <a:r>
              <a:rPr lang="en-US" dirty="0"/>
              <a:t>In a large distributed network like a </a:t>
            </a:r>
            <a:r>
              <a:rPr lang="en-US" b="1" dirty="0"/>
              <a:t>data center</a:t>
            </a:r>
            <a:r>
              <a:rPr lang="en-US" dirty="0"/>
              <a:t>, a tree topology helps by:</a:t>
            </a:r>
          </a:p>
          <a:p>
            <a:pPr lvl="0"/>
            <a:r>
              <a:rPr lang="en-US" dirty="0"/>
              <a:t>Keeping most traffic localized within sub-networks (branches).</a:t>
            </a:r>
          </a:p>
          <a:p>
            <a:pPr lvl="0"/>
            <a:r>
              <a:rPr lang="en-US" dirty="0"/>
              <a:t>Reducing congestion at the top levels by limiting traffic that needs to pass through higher nodes.</a:t>
            </a:r>
          </a:p>
          <a:p>
            <a:pPr lvl="0"/>
            <a:r>
              <a:rPr lang="en-US" dirty="0"/>
              <a:t>Providing high-bandwidth links for inter-branch communication, thus avoiding bottlenecks.</a:t>
            </a:r>
          </a:p>
          <a:p>
            <a:endParaRPr lang="en-US" dirty="0"/>
          </a:p>
          <a:p>
            <a:r>
              <a:rPr lang="en-US" dirty="0"/>
              <a:t>The tree topology reduces communication traffic in large distributed networks by localizing data exchanges, efficiently routing traffic through hierarchical layers, and balancing the load with high-bandwidth links at upper levels, thus optimizing bandwidth usage and reducing congestion.</a:t>
            </a:r>
          </a:p>
          <a:p>
            <a:endParaRPr lang="en-US" dirty="0"/>
          </a:p>
        </p:txBody>
      </p:sp>
      <p:sp>
        <p:nvSpPr>
          <p:cNvPr id="4" name="Footer Placeholder 3"/>
          <p:cNvSpPr>
            <a:spLocks noGrp="1"/>
          </p:cNvSpPr>
          <p:nvPr>
            <p:ph type="ftr" sz="quarter" idx="11"/>
          </p:nvPr>
        </p:nvSpPr>
        <p:spPr/>
        <p:txBody>
          <a:bodyPr/>
          <a:lstStyle/>
          <a:p>
            <a:pPr>
              <a:defRPr/>
            </a:pPr>
            <a:r>
              <a:rPr lang="en-US" altLang="en-US" smtClean="0">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3094731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a:t>Network Topologies: </a:t>
            </a:r>
            <a:br>
              <a:rPr lang="en-US" altLang="en-US"/>
            </a:br>
            <a:r>
              <a:rPr lang="en-US" altLang="en-US"/>
              <a:t>Tree based Networks</a:t>
            </a:r>
            <a:endParaRPr lang="en-US" dirty="0"/>
          </a:p>
        </p:txBody>
      </p:sp>
      <p:sp>
        <p:nvSpPr>
          <p:cNvPr id="3" name="Content Placeholder 2"/>
          <p:cNvSpPr>
            <a:spLocks noGrp="1"/>
          </p:cNvSpPr>
          <p:nvPr>
            <p:ph idx="1"/>
          </p:nvPr>
        </p:nvSpPr>
        <p:spPr>
          <a:xfrm>
            <a:off x="593889" y="1280277"/>
            <a:ext cx="8323551" cy="5577723"/>
          </a:xfrm>
        </p:spPr>
        <p:txBody>
          <a:bodyPr>
            <a:normAutofit/>
          </a:bodyPr>
          <a:lstStyle/>
          <a:p>
            <a:pPr marL="0" indent="0">
              <a:buNone/>
            </a:pPr>
            <a:r>
              <a:rPr lang="en-US" altLang="en-US" b="1" dirty="0"/>
              <a:t>Properties of Complete Binary Tree Network</a:t>
            </a:r>
          </a:p>
          <a:p>
            <a:r>
              <a:rPr lang="en-US" altLang="en-US" dirty="0"/>
              <a:t>The distance between any two nodes is no more than </a:t>
            </a:r>
            <a:r>
              <a:rPr lang="en-US" altLang="en-US" i="1" dirty="0"/>
              <a:t>2logp</a:t>
            </a:r>
            <a:r>
              <a:rPr lang="en-US" altLang="en-US" dirty="0"/>
              <a:t>. </a:t>
            </a:r>
          </a:p>
          <a:p>
            <a:pPr marL="0" indent="0">
              <a:buNone/>
            </a:pPr>
            <a:endParaRPr lang="en-US" altLang="en-US" dirty="0"/>
          </a:p>
          <a:p>
            <a:r>
              <a:rPr lang="en-US" altLang="en-US" dirty="0"/>
              <a:t>Links higher up the tree potentially carry more traffic than those at the lower levels. </a:t>
            </a:r>
          </a:p>
          <a:p>
            <a:endParaRPr lang="en-US" altLang="en-US" dirty="0"/>
          </a:p>
          <a:p>
            <a:r>
              <a:rPr lang="en-US" altLang="en-US" dirty="0"/>
              <a:t>For this reason, a variant called a fat-tree, fattens the links as we go up the tree. </a:t>
            </a:r>
          </a:p>
          <a:p>
            <a:endParaRPr lang="en-US" altLang="en-US" dirty="0"/>
          </a:p>
          <a:p>
            <a:r>
              <a:rPr lang="en-US" altLang="en-US" dirty="0"/>
              <a:t>Trees can be laid out in 2D with no wire crossings. This is an attractive property of trees. </a:t>
            </a:r>
          </a:p>
          <a:p>
            <a:pPr marL="0" indent="0">
              <a:buNone/>
            </a:pPr>
            <a:endParaRPr lang="en-US" alt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2850280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89" y="142188"/>
            <a:ext cx="8550111" cy="815755"/>
          </a:xfrm>
        </p:spPr>
        <p:txBody>
          <a:bodyPr>
            <a:normAutofit fontScale="90000"/>
          </a:bodyPr>
          <a:lstStyle/>
          <a:p>
            <a:pPr algn="ctr"/>
            <a:r>
              <a:rPr lang="en-US" altLang="en-US"/>
              <a:t>Network Topologies: </a:t>
            </a:r>
            <a:br>
              <a:rPr lang="en-US" altLang="en-US"/>
            </a:br>
            <a:r>
              <a:rPr lang="en-US" altLang="en-US"/>
              <a:t>Tree based Networks</a:t>
            </a:r>
            <a:endParaRPr lang="en-US" dirty="0"/>
          </a:p>
        </p:txBody>
      </p:sp>
      <p:sp>
        <p:nvSpPr>
          <p:cNvPr id="3" name="Content Placeholder 2"/>
          <p:cNvSpPr>
            <a:spLocks noGrp="1"/>
          </p:cNvSpPr>
          <p:nvPr>
            <p:ph idx="1"/>
          </p:nvPr>
        </p:nvSpPr>
        <p:spPr>
          <a:xfrm>
            <a:off x="593889" y="1280277"/>
            <a:ext cx="8323551" cy="5577723"/>
          </a:xfrm>
        </p:spPr>
        <p:txBody>
          <a:bodyPr>
            <a:normAutofit/>
          </a:bodyPr>
          <a:lstStyle/>
          <a:p>
            <a:pPr marL="0" indent="0">
              <a:buNone/>
            </a:pPr>
            <a:r>
              <a:rPr lang="en-US" altLang="en-US" b="1" dirty="0"/>
              <a:t>Properties of Complete Binary Tree Network</a:t>
            </a:r>
          </a:p>
          <a:p>
            <a:pPr marL="0" indent="0">
              <a:buNone/>
            </a:pPr>
            <a:endParaRPr lang="en-US" altLang="en-US" b="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7" name="Rectangle 4">
            <a:extLst>
              <a:ext uri="{FF2B5EF4-FFF2-40B4-BE49-F238E27FC236}">
                <a16:creationId xmlns:a16="http://schemas.microsoft.com/office/drawing/2014/main" id="{99876E74-E9D2-460F-B594-0C032B5A1C8C}"/>
              </a:ext>
            </a:extLst>
          </p:cNvPr>
          <p:cNvSpPr>
            <a:spLocks noChangeArrowheads="1"/>
          </p:cNvSpPr>
          <p:nvPr/>
        </p:nvSpPr>
        <p:spPr bwMode="auto">
          <a:xfrm>
            <a:off x="2133600" y="5181600"/>
            <a:ext cx="4933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Arial" panose="020B0604020202020204" pitchFamily="34" charset="0"/>
                <a:ea typeface="Arial Unicode MS" pitchFamily="34" charset="-128"/>
              </a:defRPr>
            </a:lvl1pPr>
            <a:lvl2pPr marL="742950" indent="-285750">
              <a:spcBef>
                <a:spcPct val="20000"/>
              </a:spcBef>
              <a:buChar char="–"/>
              <a:defRPr sz="2000">
                <a:solidFill>
                  <a:schemeClr val="tx1"/>
                </a:solidFill>
                <a:latin typeface="Arial" panose="020B0604020202020204" pitchFamily="34" charset="0"/>
                <a:ea typeface="Arial Unicode MS" pitchFamily="34" charset="-128"/>
              </a:defRPr>
            </a:lvl2pPr>
            <a:lvl3pPr marL="1143000" indent="-228600">
              <a:spcBef>
                <a:spcPct val="20000"/>
              </a:spcBef>
              <a:buChar char="•"/>
              <a:defRPr>
                <a:solidFill>
                  <a:schemeClr val="tx1"/>
                </a:solidFill>
                <a:latin typeface="Arial" panose="020B0604020202020204" pitchFamily="34" charset="0"/>
                <a:ea typeface="Arial Unicode MS" pitchFamily="34" charset="-128"/>
              </a:defRPr>
            </a:lvl3pPr>
            <a:lvl4pPr marL="1600200" indent="-228600">
              <a:spcBef>
                <a:spcPct val="20000"/>
              </a:spcBef>
              <a:buChar char="–"/>
              <a:defRPr sz="1600">
                <a:solidFill>
                  <a:schemeClr val="tx1"/>
                </a:solidFill>
                <a:latin typeface="Arial" panose="020B0604020202020204" pitchFamily="34" charset="0"/>
                <a:ea typeface="Arial Unicode MS" pitchFamily="34" charset="-128"/>
              </a:defRPr>
            </a:lvl4pPr>
            <a:lvl5pPr marL="2057400" indent="-228600">
              <a:spcBef>
                <a:spcPct val="20000"/>
              </a:spcBef>
              <a:buChar char="»"/>
              <a:defRPr sz="1400">
                <a:solidFill>
                  <a:schemeClr val="tx1"/>
                </a:solidFill>
                <a:latin typeface="Arial" panose="020B0604020202020204" pitchFamily="34" charset="0"/>
                <a:ea typeface="Arial Unicode MS" pitchFamily="34" charset="-128"/>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Arial Unicode MS" pitchFamily="34" charset="-128"/>
              </a:defRPr>
            </a:lvl9pPr>
          </a:lstStyle>
          <a:p>
            <a:pPr algn="ctr" eaLnBrk="1" hangingPunct="1">
              <a:spcBef>
                <a:spcPct val="0"/>
              </a:spcBef>
              <a:buFontTx/>
              <a:buNone/>
            </a:pPr>
            <a:r>
              <a:rPr lang="en-US" altLang="en-US" sz="2000"/>
              <a:t>A fat tree network of 16 processing nodes.</a:t>
            </a:r>
          </a:p>
        </p:txBody>
      </p:sp>
      <p:pic>
        <p:nvPicPr>
          <p:cNvPr id="8" name="Picture 5" descr="fat-tree">
            <a:extLst>
              <a:ext uri="{FF2B5EF4-FFF2-40B4-BE49-F238E27FC236}">
                <a16:creationId xmlns:a16="http://schemas.microsoft.com/office/drawing/2014/main" id="{1F69F406-A8B1-417A-9F1E-6459A4580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78" t="-5295" r="-1978" b="-5295"/>
          <a:stretch>
            <a:fillRect/>
          </a:stretch>
        </p:blipFill>
        <p:spPr>
          <a:xfrm>
            <a:off x="544276" y="1718494"/>
            <a:ext cx="8005835" cy="318286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07076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altLang="en-US" dirty="0"/>
              <a:t>Evaluating Static Interconnections </a:t>
            </a:r>
          </a:p>
        </p:txBody>
      </p:sp>
      <p:sp>
        <p:nvSpPr>
          <p:cNvPr id="3" name="Content Placeholder 2"/>
          <p:cNvSpPr>
            <a:spLocks noGrp="1"/>
          </p:cNvSpPr>
          <p:nvPr>
            <p:ph idx="1"/>
          </p:nvPr>
        </p:nvSpPr>
        <p:spPr>
          <a:xfrm>
            <a:off x="652553" y="1335366"/>
            <a:ext cx="8440880" cy="4987331"/>
          </a:xfrm>
        </p:spPr>
        <p:txBody>
          <a:bodyPr>
            <a:normAutofit/>
          </a:bodyPr>
          <a:lstStyle/>
          <a:p>
            <a:pPr marL="0" indent="0">
              <a:buNone/>
            </a:pPr>
            <a:r>
              <a:rPr lang="en-US" altLang="en-US" i="1" dirty="0"/>
              <a:t>The parameters to evaluate a static interconnection:-  </a:t>
            </a:r>
          </a:p>
          <a:p>
            <a:r>
              <a:rPr lang="en-US" altLang="en-US" b="1" i="1" dirty="0"/>
              <a:t>Cost:</a:t>
            </a:r>
            <a:r>
              <a:rPr lang="en-US" altLang="en-US" dirty="0"/>
              <a:t> Usually depends on number of links for communication. E.g., cost for linear array is</a:t>
            </a:r>
            <a:r>
              <a:rPr lang="en-US" altLang="en-US" i="1" dirty="0"/>
              <a:t> p-1.</a:t>
            </a:r>
          </a:p>
          <a:p>
            <a:pPr lvl="1"/>
            <a:r>
              <a:rPr lang="en-US" altLang="en-US" i="1" dirty="0"/>
              <a:t>Lower values are favorable</a:t>
            </a:r>
          </a:p>
          <a:p>
            <a:r>
              <a:rPr lang="en-US" altLang="en-US" b="1" i="1" dirty="0"/>
              <a:t>Diameter:</a:t>
            </a:r>
            <a:r>
              <a:rPr lang="en-US" altLang="en-US" dirty="0"/>
              <a:t> The shortest distance between the farthest two nodes in the network. The diameter of a linear array is </a:t>
            </a:r>
            <a:r>
              <a:rPr lang="en-US" altLang="en-US" i="1" dirty="0"/>
              <a:t>p − 1.</a:t>
            </a:r>
          </a:p>
          <a:p>
            <a:pPr lvl="1"/>
            <a:r>
              <a:rPr lang="en-US" altLang="en-US" i="1" dirty="0"/>
              <a:t>Lower values are favorable</a:t>
            </a:r>
          </a:p>
          <a:p>
            <a:r>
              <a:rPr lang="en-US" altLang="en-US" b="1" i="1" dirty="0"/>
              <a:t>Bisection Width:</a:t>
            </a:r>
            <a:r>
              <a:rPr lang="en-US" altLang="en-US" dirty="0"/>
              <a:t> The minimum number of wires you must cut to divide the network into two equal parts. The bisection width of a linear array is </a:t>
            </a:r>
            <a:r>
              <a:rPr lang="en-US" altLang="en-US" i="1" dirty="0"/>
              <a:t>1</a:t>
            </a:r>
            <a:r>
              <a:rPr lang="en-US" altLang="en-US" dirty="0"/>
              <a:t>.</a:t>
            </a:r>
          </a:p>
          <a:p>
            <a:pPr lvl="1"/>
            <a:r>
              <a:rPr lang="en-US" altLang="en-US" dirty="0"/>
              <a:t>What it tells about performance of a topology?</a:t>
            </a:r>
          </a:p>
          <a:p>
            <a:pPr marL="0" indent="0">
              <a:buNone/>
            </a:pPr>
            <a:endParaRPr lang="en-US" altLang="en-US"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3788338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18" y="126146"/>
            <a:ext cx="8323551" cy="815755"/>
          </a:xfrm>
        </p:spPr>
        <p:txBody>
          <a:bodyPr>
            <a:normAutofit/>
          </a:bodyPr>
          <a:lstStyle/>
          <a:p>
            <a:pPr algn="just"/>
            <a:r>
              <a:rPr lang="en-US" altLang="en-US" dirty="0"/>
              <a:t>Evaluating Static Interconnections </a:t>
            </a:r>
          </a:p>
        </p:txBody>
      </p:sp>
      <p:sp>
        <p:nvSpPr>
          <p:cNvPr id="3" name="Content Placeholder 2"/>
          <p:cNvSpPr>
            <a:spLocks noGrp="1"/>
          </p:cNvSpPr>
          <p:nvPr>
            <p:ph idx="1"/>
          </p:nvPr>
        </p:nvSpPr>
        <p:spPr>
          <a:xfrm>
            <a:off x="652553" y="1335366"/>
            <a:ext cx="8440880" cy="4987331"/>
          </a:xfrm>
        </p:spPr>
        <p:txBody>
          <a:bodyPr>
            <a:normAutofit/>
          </a:bodyPr>
          <a:lstStyle/>
          <a:p>
            <a:pPr marL="0" indent="0">
              <a:buNone/>
            </a:pPr>
            <a:r>
              <a:rPr lang="en-US" altLang="en-US" i="1" dirty="0"/>
              <a:t>The parameters to evaluate a static interconnection:-  </a:t>
            </a:r>
          </a:p>
          <a:p>
            <a:r>
              <a:rPr lang="en-US" altLang="en-US" b="1" i="1" dirty="0"/>
              <a:t>Arc-connectivity:</a:t>
            </a:r>
            <a:r>
              <a:rPr lang="en-US" altLang="en-US" i="1" dirty="0"/>
              <a:t> The minimum number of arcs or links that must be removed from the network, to break the network into two disconnected networks</a:t>
            </a:r>
          </a:p>
          <a:p>
            <a:pPr lvl="1"/>
            <a:r>
              <a:rPr lang="en-US" altLang="en-US" i="1" dirty="0"/>
              <a:t>Higher value are desirable</a:t>
            </a:r>
          </a:p>
          <a:p>
            <a:pPr lvl="1"/>
            <a:r>
              <a:rPr lang="en-US" altLang="en-US" dirty="0"/>
              <a:t>It is minimum number of the links that must be cut to separate the single node from the network</a:t>
            </a:r>
          </a:p>
          <a:p>
            <a:pPr lvl="1"/>
            <a:r>
              <a:rPr lang="en-US" altLang="en-US" dirty="0"/>
              <a:t>Higher values means, that incase of link failure there are multiple other routes to the node.</a:t>
            </a:r>
          </a:p>
          <a:p>
            <a:pPr lvl="1"/>
            <a:r>
              <a:rPr lang="en-US" altLang="en-US" dirty="0"/>
              <a:t>Arc-connectivity of linear array is  </a:t>
            </a:r>
            <a:r>
              <a:rPr lang="en-US" altLang="en-US" i="1" dirty="0"/>
              <a:t>1</a:t>
            </a:r>
            <a:r>
              <a:rPr lang="en-US" altLang="en-US" b="1" i="1" dirty="0"/>
              <a:t> </a:t>
            </a:r>
            <a:r>
              <a:rPr lang="en-US" altLang="en-US" dirty="0"/>
              <a:t>and </a:t>
            </a:r>
            <a:r>
              <a:rPr lang="en-US" altLang="en-US" i="1" dirty="0"/>
              <a:t>2 </a:t>
            </a:r>
            <a:r>
              <a:rPr lang="en-US" altLang="en-US" dirty="0"/>
              <a:t>for ring.</a:t>
            </a:r>
            <a:endParaRPr lang="en-US" altLang="en-US" i="1"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3472992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altLang="en-US" dirty="0"/>
              <a:t>Evaluating Static Interconnections </a:t>
            </a:r>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pic>
        <p:nvPicPr>
          <p:cNvPr id="10" name="Picture 9">
            <a:extLst>
              <a:ext uri="{FF2B5EF4-FFF2-40B4-BE49-F238E27FC236}">
                <a16:creationId xmlns:a16="http://schemas.microsoft.com/office/drawing/2014/main" id="{840123BF-E49D-4887-85CD-D348AAE2935C}"/>
              </a:ext>
            </a:extLst>
          </p:cNvPr>
          <p:cNvPicPr>
            <a:picLocks noChangeAspect="1"/>
          </p:cNvPicPr>
          <p:nvPr/>
        </p:nvPicPr>
        <p:blipFill>
          <a:blip r:embed="rId3"/>
          <a:stretch>
            <a:fillRect/>
          </a:stretch>
        </p:blipFill>
        <p:spPr>
          <a:xfrm>
            <a:off x="593889" y="1280277"/>
            <a:ext cx="8286750" cy="3982285"/>
          </a:xfrm>
          <a:prstGeom prst="rect">
            <a:avLst/>
          </a:prstGeom>
        </p:spPr>
      </p:pic>
    </p:spTree>
    <p:extLst>
      <p:ext uri="{BB962C8B-B14F-4D97-AF65-F5344CB8AC3E}">
        <p14:creationId xmlns:p14="http://schemas.microsoft.com/office/powerpoint/2010/main" val="2559509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66BF9EE-F7AC-4FA5-AC7E-001B3A642F75}"/>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4" name="Freeform 11">
              <a:extLst>
                <a:ext uri="{FF2B5EF4-FFF2-40B4-BE49-F238E27FC236}">
                  <a16:creationId xmlns:a16="http://schemas.microsoft.com/office/drawing/2014/main" id="{3B48D182-44E3-4D8B-ACEF-F1A900BE443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5" name="Freeform 12">
              <a:extLst>
                <a:ext uri="{FF2B5EF4-FFF2-40B4-BE49-F238E27FC236}">
                  <a16:creationId xmlns:a16="http://schemas.microsoft.com/office/drawing/2014/main" id="{355A535A-A489-477F-A314-593AA8CAFB2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6" name="Freeform 13">
              <a:extLst>
                <a:ext uri="{FF2B5EF4-FFF2-40B4-BE49-F238E27FC236}">
                  <a16:creationId xmlns:a16="http://schemas.microsoft.com/office/drawing/2014/main" id="{954C2D4C-FD83-4EF4-9312-04442ABD66B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7" name="Freeform 14">
              <a:extLst>
                <a:ext uri="{FF2B5EF4-FFF2-40B4-BE49-F238E27FC236}">
                  <a16:creationId xmlns:a16="http://schemas.microsoft.com/office/drawing/2014/main" id="{C20701C2-CD9A-4698-BC97-E1085820C2C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8" name="Freeform 15">
              <a:extLst>
                <a:ext uri="{FF2B5EF4-FFF2-40B4-BE49-F238E27FC236}">
                  <a16:creationId xmlns:a16="http://schemas.microsoft.com/office/drawing/2014/main" id="{62575C35-466F-42AE-87A1-D691849AB8C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9" name="Freeform 16">
              <a:extLst>
                <a:ext uri="{FF2B5EF4-FFF2-40B4-BE49-F238E27FC236}">
                  <a16:creationId xmlns:a16="http://schemas.microsoft.com/office/drawing/2014/main" id="{58236F37-6119-45AC-80A0-CD2C311B505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0" name="Freeform 17">
              <a:extLst>
                <a:ext uri="{FF2B5EF4-FFF2-40B4-BE49-F238E27FC236}">
                  <a16:creationId xmlns:a16="http://schemas.microsoft.com/office/drawing/2014/main" id="{F3FDD799-39FE-4D6F-9A64-2F472B21507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1" name="Freeform 18">
              <a:extLst>
                <a:ext uri="{FF2B5EF4-FFF2-40B4-BE49-F238E27FC236}">
                  <a16:creationId xmlns:a16="http://schemas.microsoft.com/office/drawing/2014/main" id="{9820D241-1D49-442C-A95A-00BC1BF9E29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2" name="Freeform 19">
              <a:extLst>
                <a:ext uri="{FF2B5EF4-FFF2-40B4-BE49-F238E27FC236}">
                  <a16:creationId xmlns:a16="http://schemas.microsoft.com/office/drawing/2014/main" id="{EBC2197C-B383-4866-8ABD-74222400BE8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3" name="Freeform 20">
              <a:extLst>
                <a:ext uri="{FF2B5EF4-FFF2-40B4-BE49-F238E27FC236}">
                  <a16:creationId xmlns:a16="http://schemas.microsoft.com/office/drawing/2014/main" id="{404B06AA-FC93-4471-9DE4-56A401E70A5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4" name="Freeform 21">
              <a:extLst>
                <a:ext uri="{FF2B5EF4-FFF2-40B4-BE49-F238E27FC236}">
                  <a16:creationId xmlns:a16="http://schemas.microsoft.com/office/drawing/2014/main" id="{E580600C-013F-4FAF-8FB7-4CC0FA80A92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5" name="Freeform 22">
              <a:extLst>
                <a:ext uri="{FF2B5EF4-FFF2-40B4-BE49-F238E27FC236}">
                  <a16:creationId xmlns:a16="http://schemas.microsoft.com/office/drawing/2014/main" id="{9BFCF199-64B2-4AEE-88C4-E954ABF3627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7" name="Group 26">
            <a:extLst>
              <a:ext uri="{FF2B5EF4-FFF2-40B4-BE49-F238E27FC236}">
                <a16:creationId xmlns:a16="http://schemas.microsoft.com/office/drawing/2014/main" id="{E312DBA5-56D8-42B2-BA94-28168C2A6703}"/>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8" name="Freeform 27">
              <a:extLst>
                <a:ext uri="{FF2B5EF4-FFF2-40B4-BE49-F238E27FC236}">
                  <a16:creationId xmlns:a16="http://schemas.microsoft.com/office/drawing/2014/main" id="{7AD46C74-3117-46B0-B267-0F61B57CACE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9" name="Freeform 28">
              <a:extLst>
                <a:ext uri="{FF2B5EF4-FFF2-40B4-BE49-F238E27FC236}">
                  <a16:creationId xmlns:a16="http://schemas.microsoft.com/office/drawing/2014/main" id="{8C13B810-9664-45D8-8510-D6ED0ADD721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0" name="Freeform 29">
              <a:extLst>
                <a:ext uri="{FF2B5EF4-FFF2-40B4-BE49-F238E27FC236}">
                  <a16:creationId xmlns:a16="http://schemas.microsoft.com/office/drawing/2014/main" id="{10306E52-A922-4458-BCCE-C3C840CC755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1" name="Freeform 30">
              <a:extLst>
                <a:ext uri="{FF2B5EF4-FFF2-40B4-BE49-F238E27FC236}">
                  <a16:creationId xmlns:a16="http://schemas.microsoft.com/office/drawing/2014/main" id="{CB578819-B7E7-4250-932F-52AE2A2A9A5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2" name="Freeform 31">
              <a:extLst>
                <a:ext uri="{FF2B5EF4-FFF2-40B4-BE49-F238E27FC236}">
                  <a16:creationId xmlns:a16="http://schemas.microsoft.com/office/drawing/2014/main" id="{454B9C91-B623-424A-B16E-F764F189D30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3" name="Freeform 32">
              <a:extLst>
                <a:ext uri="{FF2B5EF4-FFF2-40B4-BE49-F238E27FC236}">
                  <a16:creationId xmlns:a16="http://schemas.microsoft.com/office/drawing/2014/main" id="{EFD03C4A-8484-41E6-B458-032F1DCA70A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4" name="Freeform 33">
              <a:extLst>
                <a:ext uri="{FF2B5EF4-FFF2-40B4-BE49-F238E27FC236}">
                  <a16:creationId xmlns:a16="http://schemas.microsoft.com/office/drawing/2014/main" id="{DDC2F3C3-1D4E-4913-9C5C-F9A65B47E5C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5" name="Freeform 34">
              <a:extLst>
                <a:ext uri="{FF2B5EF4-FFF2-40B4-BE49-F238E27FC236}">
                  <a16:creationId xmlns:a16="http://schemas.microsoft.com/office/drawing/2014/main" id="{1E15BCA2-2420-4C53-ADE9-40FBAC23844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6" name="Freeform 35">
              <a:extLst>
                <a:ext uri="{FF2B5EF4-FFF2-40B4-BE49-F238E27FC236}">
                  <a16:creationId xmlns:a16="http://schemas.microsoft.com/office/drawing/2014/main" id="{73D5FBF4-7129-4C51-B603-E3BC3341951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7" name="Freeform 36">
              <a:extLst>
                <a:ext uri="{FF2B5EF4-FFF2-40B4-BE49-F238E27FC236}">
                  <a16:creationId xmlns:a16="http://schemas.microsoft.com/office/drawing/2014/main" id="{0165B164-CE2A-494C-88FC-507232B37C0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8" name="Freeform 37">
              <a:extLst>
                <a:ext uri="{FF2B5EF4-FFF2-40B4-BE49-F238E27FC236}">
                  <a16:creationId xmlns:a16="http://schemas.microsoft.com/office/drawing/2014/main" id="{87F127E5-B10B-4D18-BCF0-E7C3C7F401E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9" name="Freeform 38">
              <a:extLst>
                <a:ext uri="{FF2B5EF4-FFF2-40B4-BE49-F238E27FC236}">
                  <a16:creationId xmlns:a16="http://schemas.microsoft.com/office/drawing/2014/main" id="{FC692D59-F28D-4E42-B435-225F2C6CFA3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1" name="Rectangle 40">
            <a:extLst>
              <a:ext uri="{FF2B5EF4-FFF2-40B4-BE49-F238E27FC236}">
                <a16:creationId xmlns:a16="http://schemas.microsoft.com/office/drawing/2014/main" id="{1996130F-9AB5-4DE9-8574-3AF891C5C17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3" name="Freeform 6">
            <a:extLst>
              <a:ext uri="{FF2B5EF4-FFF2-40B4-BE49-F238E27FC236}">
                <a16:creationId xmlns:a16="http://schemas.microsoft.com/office/drawing/2014/main" id="{3623DEAC-F39C-45D6-86DC-1033F642952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5" name="Rectangle 44">
            <a:extLst>
              <a:ext uri="{FF2B5EF4-FFF2-40B4-BE49-F238E27FC236}">
                <a16:creationId xmlns:a16="http://schemas.microsoft.com/office/drawing/2014/main" id="{A692209D-B607-46C3-8560-07AF7229165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4874638-CF15-4908-BC4B-4908744D0BA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3479799"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05209" y="967417"/>
            <a:ext cx="2834152" cy="3943250"/>
          </a:xfrm>
        </p:spPr>
        <p:txBody>
          <a:bodyPr vert="horz" lIns="91440" tIns="45720" rIns="91440" bIns="45720" rtlCol="0" anchor="b">
            <a:normAutofit/>
          </a:bodyPr>
          <a:lstStyle/>
          <a:p>
            <a:r>
              <a:rPr lang="en-US" sz="3500">
                <a:solidFill>
                  <a:srgbClr val="FEFFFF"/>
                </a:solidFill>
              </a:rPr>
              <a:t>Questions</a:t>
            </a:r>
          </a:p>
        </p:txBody>
      </p:sp>
      <p:sp>
        <p:nvSpPr>
          <p:cNvPr id="49" name="Freeform 5">
            <a:extLst>
              <a:ext uri="{FF2B5EF4-FFF2-40B4-BE49-F238E27FC236}">
                <a16:creationId xmlns:a16="http://schemas.microsoft.com/office/drawing/2014/main" id="{5F1B8348-CD6E-4561-A704-C232D9A2676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4053016"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Graphic 9" descr="Help">
            <a:extLst>
              <a:ext uri="{FF2B5EF4-FFF2-40B4-BE49-F238E27FC236}">
                <a16:creationId xmlns:a16="http://schemas.microsoft.com/office/drawing/2014/main" id="{1545BE9E-711D-438E-B83C-21C83592E1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4483319" y="972342"/>
            <a:ext cx="4230377" cy="4230377"/>
          </a:xfrm>
          <a:prstGeom prst="rect">
            <a:avLst/>
          </a:prstGeom>
        </p:spPr>
      </p:pic>
      <p:sp>
        <p:nvSpPr>
          <p:cNvPr id="5" name="Footer Placeholder 4"/>
          <p:cNvSpPr>
            <a:spLocks noGrp="1"/>
          </p:cNvSpPr>
          <p:nvPr>
            <p:ph type="ftr" sz="quarter" idx="11"/>
          </p:nvPr>
        </p:nvSpPr>
        <p:spPr>
          <a:xfrm>
            <a:off x="405209" y="6135808"/>
            <a:ext cx="2566591" cy="365125"/>
          </a:xfrm>
        </p:spPr>
        <p:txBody>
          <a:bodyPr vert="horz" lIns="91440" tIns="45720" rIns="91440" bIns="45720" rtlCol="0" anchor="ctr">
            <a:normAutofit/>
          </a:bodyPr>
          <a:lstStyle/>
          <a:p>
            <a:pPr>
              <a:spcAft>
                <a:spcPts val="600"/>
              </a:spcAft>
              <a:defRPr/>
            </a:pPr>
            <a:r>
              <a:rPr lang="en-US" altLang="en-US" kern="1200">
                <a:solidFill>
                  <a:srgbClr val="FEFFFF"/>
                </a:solidFill>
                <a:latin typeface="+mn-lt"/>
                <a:ea typeface="+mn-ea"/>
                <a:cs typeface="+mn-cs"/>
              </a:rPr>
              <a:t>CS3006 - Fall 2021</a:t>
            </a:r>
          </a:p>
        </p:txBody>
      </p:sp>
    </p:spTree>
    <p:extLst>
      <p:ext uri="{BB962C8B-B14F-4D97-AF65-F5344CB8AC3E}">
        <p14:creationId xmlns:p14="http://schemas.microsoft.com/office/powerpoint/2010/main" val="685666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B38B-89BC-41E9-B368-C232B1E498D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B8596C9-EC0E-473B-9040-9141FE9619B6}"/>
              </a:ext>
            </a:extLst>
          </p:cNvPr>
          <p:cNvSpPr>
            <a:spLocks noGrp="1"/>
          </p:cNvSpPr>
          <p:nvPr>
            <p:ph idx="1"/>
          </p:nvPr>
        </p:nvSpPr>
        <p:spPr/>
        <p:txBody>
          <a:bodyPr>
            <a:normAutofit/>
          </a:bodyPr>
          <a:lstStyle/>
          <a:p>
            <a:pPr marL="457200" indent="-457200">
              <a:buClr>
                <a:schemeClr val="tx1"/>
              </a:buClr>
              <a:buFont typeface="+mj-lt"/>
              <a:buAutoNum type="arabicPeriod"/>
            </a:pPr>
            <a:r>
              <a:rPr lang="en-US" sz="1200" dirty="0">
                <a:solidFill>
                  <a:srgbClr val="222222"/>
                </a:solidFill>
                <a:latin typeface="Arial" panose="020B0604020202020204" pitchFamily="34" charset="0"/>
              </a:rPr>
              <a:t>Flynn, M., “Some Computer Organizations and Their Effectiveness,” IEEE Transactions on Computers, Vol. C-21, No. 9, September 1972.</a:t>
            </a:r>
          </a:p>
          <a:p>
            <a:pPr marL="457200" indent="-457200">
              <a:buClr>
                <a:schemeClr val="tx1"/>
              </a:buClr>
              <a:buFont typeface="+mj-lt"/>
              <a:buAutoNum type="arabicPeriod"/>
            </a:pPr>
            <a:r>
              <a:rPr lang="en-US" sz="1200" dirty="0">
                <a:solidFill>
                  <a:srgbClr val="222222"/>
                </a:solidFill>
                <a:latin typeface="Arial" panose="020B0604020202020204" pitchFamily="34" charset="0"/>
              </a:rPr>
              <a:t>Kumar, V., </a:t>
            </a:r>
            <a:r>
              <a:rPr lang="en-US" sz="1200" dirty="0" err="1">
                <a:solidFill>
                  <a:srgbClr val="222222"/>
                </a:solidFill>
                <a:latin typeface="Arial" panose="020B0604020202020204" pitchFamily="34" charset="0"/>
              </a:rPr>
              <a:t>Grama</a:t>
            </a:r>
            <a:r>
              <a:rPr lang="en-US" sz="1200" dirty="0">
                <a:solidFill>
                  <a:srgbClr val="222222"/>
                </a:solidFill>
                <a:latin typeface="Arial" panose="020B0604020202020204" pitchFamily="34" charset="0"/>
              </a:rPr>
              <a:t>, A., Gupta, A., &amp; </a:t>
            </a:r>
            <a:r>
              <a:rPr lang="en-US" sz="1200" dirty="0" err="1">
                <a:solidFill>
                  <a:srgbClr val="222222"/>
                </a:solidFill>
                <a:latin typeface="Arial" panose="020B0604020202020204" pitchFamily="34" charset="0"/>
              </a:rPr>
              <a:t>Karypis</a:t>
            </a:r>
            <a:r>
              <a:rPr lang="en-US" sz="1200" dirty="0">
                <a:solidFill>
                  <a:srgbClr val="222222"/>
                </a:solidFill>
                <a:latin typeface="Arial" panose="020B0604020202020204" pitchFamily="34" charset="0"/>
              </a:rPr>
              <a:t>, G. (1994). </a:t>
            </a:r>
            <a:r>
              <a:rPr lang="en-US" sz="1200" i="1" dirty="0">
                <a:solidFill>
                  <a:srgbClr val="222222"/>
                </a:solidFill>
                <a:latin typeface="Arial" panose="020B0604020202020204" pitchFamily="34" charset="0"/>
              </a:rPr>
              <a:t>Introduction to parallel computing</a:t>
            </a:r>
            <a:r>
              <a:rPr lang="en-US" sz="1200" dirty="0">
                <a:solidFill>
                  <a:srgbClr val="222222"/>
                </a:solidFill>
                <a:latin typeface="Arial" panose="020B0604020202020204" pitchFamily="34" charset="0"/>
              </a:rPr>
              <a:t> (Vol. 110). Redwood City, CA: Benjamin/Cummings.</a:t>
            </a:r>
          </a:p>
          <a:p>
            <a:pPr marL="457200" indent="-457200">
              <a:buClr>
                <a:schemeClr val="tx1"/>
              </a:buClr>
              <a:buFont typeface="+mj-lt"/>
              <a:buAutoNum type="arabicPeriod"/>
            </a:pPr>
            <a:r>
              <a:rPr lang="en-US" sz="1200" dirty="0">
                <a:solidFill>
                  <a:srgbClr val="222222"/>
                </a:solidFill>
                <a:latin typeface="Arial" panose="020B0604020202020204" pitchFamily="34" charset="0"/>
              </a:rPr>
              <a:t>Quinn, M. J. Parallel Programming in C with MPI and OpenMP,(2003).</a:t>
            </a:r>
            <a:r>
              <a:rPr lang="en-US" sz="1200" dirty="0"/>
              <a:t> </a:t>
            </a:r>
          </a:p>
        </p:txBody>
      </p:sp>
      <p:sp>
        <p:nvSpPr>
          <p:cNvPr id="4" name="Footer Placeholder 3">
            <a:extLst>
              <a:ext uri="{FF2B5EF4-FFF2-40B4-BE49-F238E27FC236}">
                <a16:creationId xmlns:a16="http://schemas.microsoft.com/office/drawing/2014/main" id="{ABDF1654-BAB9-49DC-9764-066487724743}"/>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4218114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altLang="en-US" dirty="0"/>
              <a:t>Cache Coherence and snooping </a:t>
            </a:r>
          </a:p>
        </p:txBody>
      </p:sp>
      <p:sp>
        <p:nvSpPr>
          <p:cNvPr id="3" name="Content Placeholder 2"/>
          <p:cNvSpPr>
            <a:spLocks noGrp="1"/>
          </p:cNvSpPr>
          <p:nvPr>
            <p:ph idx="1"/>
          </p:nvPr>
        </p:nvSpPr>
        <p:spPr>
          <a:xfrm>
            <a:off x="652553" y="1335366"/>
            <a:ext cx="8440880" cy="4987331"/>
          </a:xfrm>
        </p:spPr>
        <p:txBody>
          <a:bodyPr>
            <a:normAutofit fontScale="92500" lnSpcReduction="10000"/>
          </a:bodyPr>
          <a:lstStyle/>
          <a:p>
            <a:r>
              <a:rPr lang="en-US" dirty="0"/>
              <a:t>In a snooping system, all caches on the bus monitor (or snoop) the bus to determine if they have a copy of the block of data that is requested on the bus.</a:t>
            </a:r>
          </a:p>
          <a:p>
            <a:r>
              <a:rPr lang="en-US" dirty="0"/>
              <a:t>Every cache has a copy of the sharing status of every block of physical memory it has. </a:t>
            </a:r>
          </a:p>
          <a:p>
            <a:pPr marL="0" indent="0" fontAlgn="base">
              <a:buNone/>
            </a:pPr>
            <a:r>
              <a:rPr lang="en-US" b="1" i="1" dirty="0"/>
              <a:t>Snooping Protocol Types</a:t>
            </a:r>
          </a:p>
          <a:p>
            <a:r>
              <a:rPr lang="en-US" dirty="0"/>
              <a:t>Write-invalidate (mostly used)</a:t>
            </a:r>
          </a:p>
          <a:p>
            <a:pPr lvl="1"/>
            <a:r>
              <a:rPr lang="en-US" dirty="0"/>
              <a:t>The processor that is writing data causes copies in the caches of all other processors in the system to be rendered </a:t>
            </a:r>
            <a:r>
              <a:rPr lang="en-US" b="1" dirty="0"/>
              <a:t>invalid</a:t>
            </a:r>
            <a:r>
              <a:rPr lang="en-US" dirty="0"/>
              <a:t> before it changes its local copy.</a:t>
            </a:r>
          </a:p>
          <a:p>
            <a:r>
              <a:rPr lang="en-US" dirty="0"/>
              <a:t>Write-update</a:t>
            </a:r>
          </a:p>
          <a:p>
            <a:pPr lvl="1"/>
            <a:r>
              <a:rPr lang="en-US" dirty="0"/>
              <a:t>The processor that is writing the data broadcasts the new data over the bus </a:t>
            </a:r>
          </a:p>
          <a:p>
            <a:pPr lvl="1"/>
            <a:r>
              <a:rPr lang="en-US" dirty="0"/>
              <a:t>All caches that contain copies of the data are then updated</a:t>
            </a:r>
            <a:br>
              <a:rPr lang="en-US" dirty="0"/>
            </a:br>
            <a:endParaRPr lang="en-US" altLang="en-US" dirty="0"/>
          </a:p>
        </p:txBody>
      </p:sp>
      <p:sp>
        <p:nvSpPr>
          <p:cNvPr id="5" name="Footer Placeholder 4">
            <a:extLst>
              <a:ext uri="{FF2B5EF4-FFF2-40B4-BE49-F238E27FC236}">
                <a16:creationId xmlns:a16="http://schemas.microsoft.com/office/drawing/2014/main" id="{DC8F63E9-91E2-4978-A1B1-A1CFC3EBC560}"/>
              </a:ext>
            </a:extLst>
          </p:cNvPr>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Tree>
    <p:extLst>
      <p:ext uri="{BB962C8B-B14F-4D97-AF65-F5344CB8AC3E}">
        <p14:creationId xmlns:p14="http://schemas.microsoft.com/office/powerpoint/2010/main" val="2993658888"/>
      </p:ext>
    </p:extLst>
  </p:cSld>
  <p:clrMapOvr>
    <a:masterClrMapping/>
  </p:clrMapOvr>
</p:sld>
</file>

<file path=ppt/theme/theme1.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1292</TotalTime>
  <Words>1763</Words>
  <Application>Microsoft Office PowerPoint</Application>
  <PresentationFormat>On-screen Show (4:3)</PresentationFormat>
  <Paragraphs>241</Paragraphs>
  <Slides>25</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ＭＳ Ｐゴシック</vt:lpstr>
      <vt:lpstr>Arial</vt:lpstr>
      <vt:lpstr>Arial Unicode MS</vt:lpstr>
      <vt:lpstr>Calibri</vt:lpstr>
      <vt:lpstr>Century Gothic</vt:lpstr>
      <vt:lpstr>Lucida Grande</vt:lpstr>
      <vt:lpstr>Monotype Sorts</vt:lpstr>
      <vt:lpstr>Symbol</vt:lpstr>
      <vt:lpstr>Wingdings</vt:lpstr>
      <vt:lpstr>Wingdings 3</vt:lpstr>
      <vt:lpstr>1_Wisp</vt:lpstr>
      <vt:lpstr>PowerPoint Presentation</vt:lpstr>
      <vt:lpstr>Agenda</vt:lpstr>
      <vt:lpstr>Quick Review to the Previous Lecture</vt:lpstr>
      <vt:lpstr>Interconnection Networks</vt:lpstr>
      <vt:lpstr>Interconnection Networks</vt:lpstr>
      <vt:lpstr>Static vs Dynamic Interconnections </vt:lpstr>
      <vt:lpstr>Static vs Dynamic Interconnections </vt:lpstr>
      <vt:lpstr>Network Topologies:  Linear Arrays, Meshes, and k-d Meshes</vt:lpstr>
      <vt:lpstr>Network Topologies:  Linear Arrays, Meshes, and k-d Meshes</vt:lpstr>
      <vt:lpstr>Network Topologies:  Linear Arrays, Meshes, and k-d Meshes</vt:lpstr>
      <vt:lpstr>Network Topologies:  Linear Arrays, Meshes, and k-d Meshes</vt:lpstr>
      <vt:lpstr>Network Topologies:  Linear Arrays, Meshes, and k-d Meshes</vt:lpstr>
      <vt:lpstr>Network Topologies:  Tree based Networks</vt:lpstr>
      <vt:lpstr>Network Topologies:  Tree based Networks</vt:lpstr>
      <vt:lpstr>Communication Cost in Tree Topology</vt:lpstr>
      <vt:lpstr>Communication Cost</vt:lpstr>
      <vt:lpstr>Communication Cost</vt:lpstr>
      <vt:lpstr>Network Topologies:  Tree based Networks</vt:lpstr>
      <vt:lpstr>Network Topologies:  Tree based Networks</vt:lpstr>
      <vt:lpstr>Evaluating Static Interconnections </vt:lpstr>
      <vt:lpstr>Evaluating Static Interconnections </vt:lpstr>
      <vt:lpstr>Evaluating Static Interconnections </vt:lpstr>
      <vt:lpstr>Questions</vt:lpstr>
      <vt:lpstr>References</vt:lpstr>
      <vt:lpstr>Cache Coherence and snooping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CS416 – Parallel and Distributed Computing</dc:title>
  <dc:creator>Muhammad Husnain</dc:creator>
  <cp:lastModifiedBy>admin</cp:lastModifiedBy>
  <cp:revision>104</cp:revision>
  <dcterms:created xsi:type="dcterms:W3CDTF">2020-02-07T07:53:43Z</dcterms:created>
  <dcterms:modified xsi:type="dcterms:W3CDTF">2024-10-22T04:55:20Z</dcterms:modified>
</cp:coreProperties>
</file>