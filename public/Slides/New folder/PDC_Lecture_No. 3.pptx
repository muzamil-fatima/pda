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</p:sldMasterIdLst>
  <p:notesMasterIdLst>
    <p:notesMasterId r:id="rId37"/>
  </p:notesMasterIdLst>
  <p:sldIdLst>
    <p:sldId id="311" r:id="rId2"/>
    <p:sldId id="283" r:id="rId3"/>
    <p:sldId id="281" r:id="rId4"/>
    <p:sldId id="284" r:id="rId5"/>
    <p:sldId id="287" r:id="rId6"/>
    <p:sldId id="288" r:id="rId7"/>
    <p:sldId id="387" r:id="rId8"/>
    <p:sldId id="289" r:id="rId9"/>
    <p:sldId id="388" r:id="rId10"/>
    <p:sldId id="290" r:id="rId11"/>
    <p:sldId id="393" r:id="rId12"/>
    <p:sldId id="389" r:id="rId13"/>
    <p:sldId id="291" r:id="rId14"/>
    <p:sldId id="390" r:id="rId15"/>
    <p:sldId id="376" r:id="rId16"/>
    <p:sldId id="302" r:id="rId17"/>
    <p:sldId id="377" r:id="rId18"/>
    <p:sldId id="375" r:id="rId19"/>
    <p:sldId id="392" r:id="rId20"/>
    <p:sldId id="378" r:id="rId21"/>
    <p:sldId id="379" r:id="rId22"/>
    <p:sldId id="380" r:id="rId23"/>
    <p:sldId id="381" r:id="rId24"/>
    <p:sldId id="374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373" r:id="rId34"/>
    <p:sldId id="280" r:id="rId35"/>
    <p:sldId id="285" r:id="rId36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87199" autoAdjust="0"/>
  </p:normalViewPr>
  <p:slideViewPr>
    <p:cSldViewPr snapToGrid="0">
      <p:cViewPr varScale="1">
        <p:scale>
          <a:sx n="63" d="100"/>
          <a:sy n="63" d="100"/>
        </p:scale>
        <p:origin x="1428" y="78"/>
      </p:cViewPr>
      <p:guideLst/>
    </p:cSldViewPr>
  </p:slideViewPr>
  <p:outlineViewPr>
    <p:cViewPr>
      <p:scale>
        <a:sx n="33" d="100"/>
        <a:sy n="33" d="100"/>
      </p:scale>
      <p:origin x="0" y="-1212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86A7654-4E2B-4822-BAE0-8BF48C8D095C}" type="datetimeFigureOut">
              <a:rPr lang="en-US" smtClean="0"/>
              <a:t>12/19/2022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1D701400-B431-4047-89AC-DA61F7C3E04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390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9C32AA-29E0-4558-BC14-174AC8456D63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7846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and when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815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and when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6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and when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578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41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parallel, classical Von Neumann architecture</a:t>
            </a:r>
          </a:p>
          <a:p>
            <a:r>
              <a:rPr lang="en-US" dirty="0"/>
              <a:t>Parallelism can be introduced using pipelining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374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Array: same operations on different array elements. Replaces the loops</a:t>
            </a:r>
          </a:p>
          <a:p>
            <a:r>
              <a:rPr lang="en-US" dirty="0"/>
              <a:t>Image: Applying same operation on different pixels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00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In parallel computer architectures, a systolic array is a homogeneous [similar] network of tightly coupled data processing units called cells or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3686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e.g. super computers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1790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301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Assigned reading: </a:t>
            </a:r>
            <a:r>
              <a:rPr lang="en-US" dirty="0">
                <a:sym typeface="Wingdings" panose="05000000000000000000" pitchFamily="2" charset="2"/>
              </a:rPr>
              <a:t> SPMD(Running same program on multiple computers e.g., clusters of workstations),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5246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40939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the problem here?</a:t>
            </a:r>
          </a:p>
          <a:p>
            <a:r>
              <a:rPr lang="en-US" dirty="0"/>
              <a:t>Ans: N no. of processors can perform independent operations on N no. of data in a given time, this might lead to simultaneous access of same memory location by different processors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1094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PRAM has a set of similar type of processors</a:t>
            </a:r>
          </a:p>
          <a:p>
            <a:r>
              <a:rPr lang="en-US" dirty="0"/>
              <a:t>Processors communicate with each other using the shared memory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1116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solve the simultaneous access of same memory location problem we have these subclasses</a:t>
            </a:r>
          </a:p>
          <a:p>
            <a:r>
              <a:rPr lang="en-US" dirty="0"/>
              <a:t>Exclusive meaning: excluding (not doing other things)</a:t>
            </a:r>
          </a:p>
          <a:p>
            <a:r>
              <a:rPr lang="en-US" dirty="0"/>
              <a:t>Isn’t concurrent write would be an issue?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5821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2746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Max, Multiplication, XOR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1614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switches determine the memory word being accessed by each processor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r>
              <a:rPr lang="en-US" dirty="0"/>
              <a:t>Switch is a device that opens or closes access to certain data bank or word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319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701400-B431-4047-89AC-DA61F7C3E04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21519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Programming model for communication—Required pattern of the communication in the program </a:t>
            </a:r>
          </a:p>
          <a:p>
            <a:r>
              <a:rPr lang="en-US" dirty="0"/>
              <a:t>Associated protocols: Security assessments UDP,TCP,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420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h</a:t>
            </a:r>
            <a:r>
              <a:rPr lang="en-US" sz="1100" dirty="0"/>
              <a:t> also accounts for the latency to take decision of choosing next channel to which this message shall be forwarded</a:t>
            </a:r>
            <a:r>
              <a:rPr lang="en-US" dirty="0"/>
              <a:t> </a:t>
            </a:r>
          </a:p>
          <a:p>
            <a:r>
              <a:rPr lang="en-US" dirty="0"/>
              <a:t>If channel bandwidth is r words/s then each word take 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w</a:t>
            </a:r>
            <a:r>
              <a:rPr lang="en-US" dirty="0"/>
              <a:t>= 1/r to traverse the link.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5638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0" i="1" dirty="0"/>
              <a:t>Cost of header transfer at each hop (step) </a:t>
            </a:r>
            <a:r>
              <a:rPr lang="en-US" altLang="en-US" b="0" i="1" dirty="0" err="1"/>
              <a:t>t</a:t>
            </a:r>
            <a:r>
              <a:rPr lang="en-US" altLang="en-US" b="0" i="1" baseline="-25000" dirty="0" err="1"/>
              <a:t>h</a:t>
            </a:r>
            <a:r>
              <a:rPr lang="en-US" altLang="en-US" b="0" i="1" dirty="0" err="1"/>
              <a:t>.</a:t>
            </a:r>
            <a:r>
              <a:rPr lang="en-US" altLang="en-US" b="0" i="1" dirty="0"/>
              <a:t> </a:t>
            </a:r>
          </a:p>
          <a:p>
            <a:r>
              <a:rPr lang="en-US" altLang="en-US" b="0" i="1" dirty="0"/>
              <a:t>Ts is startup time</a:t>
            </a:r>
          </a:p>
          <a:p>
            <a:r>
              <a:rPr lang="en-US" b="0" i="1" dirty="0" err="1"/>
              <a:t>Mtw</a:t>
            </a:r>
            <a:r>
              <a:rPr lang="en-US" b="0" i="1" dirty="0"/>
              <a:t> id cost of transferring m words over this link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6689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  checking---parity information</a:t>
            </a:r>
          </a:p>
          <a:p>
            <a:r>
              <a:rPr lang="en-US" dirty="0"/>
              <a:t>Sequencing---packet order number</a:t>
            </a:r>
          </a:p>
          <a:p>
            <a:r>
              <a:rPr lang="en-US" dirty="0"/>
              <a:t>Related headers: layers headers, addressing headers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7930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Sequencing information is not needed as all the packets are following same path which ensures in-order delivery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9591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of the message takes l*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h</a:t>
            </a:r>
            <a:r>
              <a:rPr lang="en-US" altLang="en-US" b="1" i="1" baseline="-25000" dirty="0"/>
              <a:t> </a:t>
            </a:r>
            <a:r>
              <a:rPr lang="en-US" dirty="0"/>
              <a:t>to reach the destination and  entire message arrives in time </a:t>
            </a:r>
            <a:r>
              <a:rPr lang="en-US" b="1" dirty="0" err="1"/>
              <a:t>m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w</a:t>
            </a:r>
            <a:r>
              <a:rPr lang="en-US" altLang="en-US" b="1" i="1" baseline="-25000" dirty="0"/>
              <a:t> </a:t>
            </a:r>
            <a:r>
              <a:rPr lang="en-US" dirty="0"/>
              <a:t>after the message header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789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Shaded regions here represent the time where message is in transit (travel)</a:t>
            </a:r>
          </a:p>
          <a:p>
            <a:r>
              <a:rPr lang="en-US" dirty="0"/>
              <a:t>The startup time associated with this message transfer is assumed to be zero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4302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communication using flits, start-up time dominates the node latencies.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7820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6178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507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561E28-304A-480E-BD3F-B94DB0A2847F}" type="datetime1">
              <a:rPr lang="en-US" altLang="en-US" smtClean="0">
                <a:solidFill>
                  <a:srgbClr val="000000"/>
                </a:solidFill>
              </a:rPr>
              <a:t>12/19/2022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0EB7319F-4077-44B4-9A6C-FEF1EF56DF15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406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18" y="142188"/>
            <a:ext cx="8323551" cy="81575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18" y="1280277"/>
            <a:ext cx="8323551" cy="4987331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600"/>
              </a:spcBef>
              <a:defRPr sz="1800"/>
            </a:lvl3pPr>
            <a:lvl4pPr>
              <a:spcBef>
                <a:spcPts val="600"/>
              </a:spcBef>
              <a:defRPr sz="16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86261" y="6322697"/>
            <a:ext cx="1348509" cy="370171"/>
          </a:xfrm>
        </p:spPr>
        <p:txBody>
          <a:bodyPr/>
          <a:lstStyle/>
          <a:p>
            <a:pPr>
              <a:defRPr/>
            </a:pPr>
            <a:fld id="{A174DFD4-1A1F-4E59-AF78-D20047F6EF0A}" type="datetime1">
              <a:rPr lang="en-US" altLang="en-US" smtClean="0">
                <a:solidFill>
                  <a:srgbClr val="000000"/>
                </a:solidFill>
              </a:rPr>
              <a:t>12/19/2022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1218" y="6322697"/>
            <a:ext cx="6227641" cy="365125"/>
          </a:xfrm>
        </p:spPr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88"/>
            <a:ext cx="702307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1" y="782633"/>
            <a:ext cx="584978" cy="365125"/>
          </a:xfrm>
        </p:spPr>
        <p:txBody>
          <a:bodyPr/>
          <a:lstStyle/>
          <a:p>
            <a:fld id="{C50AD498-1756-4FAA-884D-721A5EF92E83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51202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6F0021-545A-4D3D-9799-A5CC257DBA3A}" type="datetime1">
              <a:rPr lang="en-US" altLang="en-US" smtClean="0">
                <a:solidFill>
                  <a:srgbClr val="000000"/>
                </a:solidFill>
              </a:rPr>
              <a:t>12/19/2022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C59533-E7C0-4494-9DC9-3F44FD5B228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7339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0321" y="1280278"/>
            <a:ext cx="4126722" cy="4915891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1800"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69565" y="1281539"/>
            <a:ext cx="4126157" cy="4915891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3010" y="6368709"/>
            <a:ext cx="1361760" cy="370171"/>
          </a:xfrm>
        </p:spPr>
        <p:txBody>
          <a:bodyPr/>
          <a:lstStyle/>
          <a:p>
            <a:pPr>
              <a:defRPr/>
            </a:pPr>
            <a:fld id="{5B921FAB-FFF3-42BF-A524-8FF69E6CADD7}" type="datetime1">
              <a:rPr lang="en-US" altLang="en-US" smtClean="0">
                <a:solidFill>
                  <a:srgbClr val="000000"/>
                </a:solidFill>
              </a:rPr>
              <a:t>12/19/2022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02365" y="6365849"/>
            <a:ext cx="6236494" cy="365125"/>
          </a:xfrm>
        </p:spPr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59" y="711190"/>
            <a:ext cx="70230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162" y="782633"/>
            <a:ext cx="584978" cy="365125"/>
          </a:xfrm>
        </p:spPr>
        <p:txBody>
          <a:bodyPr/>
          <a:lstStyle/>
          <a:p>
            <a:fld id="{4B01923B-769F-4373-B3D8-C2DA6094E9C2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24468" y="142188"/>
            <a:ext cx="8310301" cy="81575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95751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428989-4B03-433B-BE1A-E72C7E2FB52D}" type="datetime1">
              <a:rPr lang="en-US" altLang="en-US" smtClean="0">
                <a:solidFill>
                  <a:srgbClr val="000000"/>
                </a:solidFill>
              </a:rPr>
              <a:t>12/19/2022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E6CBD27-9711-4E21-8679-3436A2D8D267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719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B052DDB-C0F1-40EC-8EE1-A0959AC4A26E}" type="datetime1">
              <a:rPr lang="en-US" altLang="en-US" smtClean="0">
                <a:solidFill>
                  <a:srgbClr val="000000"/>
                </a:solidFill>
              </a:rPr>
              <a:t>12/19/2022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7EDB-9B1E-42BE-B450-001CA8028EA4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866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4ADC6D-005F-4150-8F80-8B8896AE4821}" type="datetime1">
              <a:rPr lang="en-US" altLang="en-US" smtClean="0">
                <a:solidFill>
                  <a:srgbClr val="000000"/>
                </a:solidFill>
              </a:rPr>
              <a:t>12/19/2022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32233-7D2A-45E8-BFA2-E1C56202CBE5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307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67FC97-7155-4ACC-80CD-F97AC8560BE0}" type="datetime1">
              <a:rPr lang="en-US" altLang="en-US" smtClean="0">
                <a:solidFill>
                  <a:srgbClr val="000000"/>
                </a:solidFill>
              </a:rPr>
              <a:t>12/19/2022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D973-3C1B-4A83-87AE-CB7A258334E1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365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8C12BA-72B4-4982-9DD9-277E610B1E83}" type="datetime1">
              <a:rPr lang="en-US" altLang="en-US" smtClean="0">
                <a:solidFill>
                  <a:srgbClr val="000000"/>
                </a:solidFill>
              </a:rPr>
              <a:t>12/19/2022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E1426E4D-2F12-42DC-9E77-4F2E38723F64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1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25A47F2-9FB5-431E-889D-53EF1626B521}" type="datetime1">
              <a:rPr lang="en-US" altLang="en-US" smtClean="0">
                <a:solidFill>
                  <a:srgbClr val="000000"/>
                </a:solidFill>
              </a:rPr>
              <a:t>12/19/2022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92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74EBF5B-649B-4970-BAF2-2CDDAD4EB8A1}" type="datetime1">
              <a:rPr lang="en-US" altLang="en-US" smtClean="0">
                <a:solidFill>
                  <a:srgbClr val="000000"/>
                </a:solidFill>
              </a:rPr>
              <a:t>12/19/2022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71464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E674957-F644-4531-9272-A76701E3EC08}" type="datetime1">
              <a:rPr lang="en-US" altLang="en-US" smtClean="0">
                <a:solidFill>
                  <a:srgbClr val="000000"/>
                </a:solidFill>
              </a:rPr>
              <a:t>12/19/2022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18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5FB8EA0-C5D1-449A-906B-58C71529AEAE}" type="datetime1">
              <a:rPr lang="en-US" altLang="en-US" smtClean="0">
                <a:solidFill>
                  <a:srgbClr val="000000"/>
                </a:solidFill>
              </a:rPr>
              <a:t>12/19/2022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6372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31F6EE9-AD01-4210-9F5E-6958E4DE3345}" type="datetime1">
              <a:rPr lang="en-US" altLang="en-US" smtClean="0">
                <a:solidFill>
                  <a:srgbClr val="000000"/>
                </a:solidFill>
              </a:rPr>
              <a:t>12/19/2022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80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7698CB-172A-4A4B-BEBD-C7F91866163E}" type="datetime1">
              <a:rPr lang="en-US" altLang="en-US" smtClean="0">
                <a:solidFill>
                  <a:srgbClr val="000000"/>
                </a:solidFill>
              </a:rPr>
              <a:t>12/19/2022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17B6-24F4-4090-A44B-3393AA32DD5C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224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823AF7-A693-429A-8943-CCB266BDBBCF}" type="datetime1">
              <a:rPr lang="en-US" altLang="en-US" smtClean="0">
                <a:solidFill>
                  <a:srgbClr val="000000"/>
                </a:solidFill>
              </a:rPr>
              <a:t>12/19/2022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8F4FB-256D-429C-81CA-F531534D6146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947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8939" y="6135089"/>
            <a:ext cx="1289841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8703572-A670-4A93-977A-8CE84F22C989}" type="datetime1">
              <a:rPr lang="en-US" altLang="en-US" smtClean="0">
                <a:solidFill>
                  <a:srgbClr val="000000"/>
                </a:solidFill>
              </a:rPr>
              <a:t>12/19/2022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1077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727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03717" y="1320921"/>
            <a:ext cx="8229600" cy="4997450"/>
          </a:xfrm>
        </p:spPr>
        <p:txBody>
          <a:bodyPr>
            <a:normAutofit/>
          </a:bodyPr>
          <a:lstStyle/>
          <a:p>
            <a:pPr marL="0" indent="0" algn="ctr">
              <a:buFont typeface="Monotype Sorts" pitchFamily="-84" charset="2"/>
              <a:buNone/>
              <a:defRPr/>
            </a:pPr>
            <a:r>
              <a:rPr lang="en-GB" sz="4400" b="1" dirty="0">
                <a:solidFill>
                  <a:srgbClr val="0070C0"/>
                </a:solidFill>
              </a:rPr>
              <a:t>Parallel and Distributed Computing</a:t>
            </a:r>
          </a:p>
          <a:p>
            <a:pPr marL="0" indent="0" algn="ctr">
              <a:buFont typeface="Monotype Sorts" pitchFamily="-84" charset="2"/>
              <a:buNone/>
              <a:defRPr/>
            </a:pPr>
            <a:endParaRPr lang="en-GB" sz="2800" dirty="0"/>
          </a:p>
          <a:p>
            <a:pPr marL="0" indent="0" algn="ctr">
              <a:buFont typeface="Monotype Sorts" pitchFamily="-84" charset="2"/>
              <a:buNone/>
              <a:defRPr/>
            </a:pPr>
            <a:r>
              <a:rPr lang="en-GB" sz="3200" b="1" dirty="0">
                <a:solidFill>
                  <a:srgbClr val="FF0000"/>
                </a:solidFill>
              </a:rPr>
              <a:t>Flynn’s Taxonomy</a:t>
            </a:r>
          </a:p>
          <a:p>
            <a:pPr marL="0" indent="0" algn="r">
              <a:buFont typeface="Monotype Sorts" pitchFamily="-84" charset="2"/>
              <a:buNone/>
              <a:defRPr/>
            </a:pPr>
            <a:endParaRPr lang="en-GB" sz="1200" dirty="0">
              <a:solidFill>
                <a:srgbClr val="00B050"/>
              </a:solidFill>
            </a:endParaRPr>
          </a:p>
          <a:p>
            <a:pPr marL="0" indent="0" algn="r">
              <a:buFont typeface="Monotype Sorts" pitchFamily="-84" charset="2"/>
              <a:buNone/>
              <a:defRPr/>
            </a:pPr>
            <a:r>
              <a:rPr lang="en-GB" sz="1200" dirty="0"/>
              <a:t> </a:t>
            </a:r>
          </a:p>
          <a:p>
            <a:pPr marL="0" indent="0">
              <a:buFont typeface="Monotype Sorts" pitchFamily="-84" charset="2"/>
              <a:buNone/>
              <a:defRPr/>
            </a:pPr>
            <a:endParaRPr lang="cy-GB" dirty="0"/>
          </a:p>
        </p:txBody>
      </p:sp>
    </p:spTree>
    <p:extLst>
      <p:ext uri="{BB962C8B-B14F-4D97-AF65-F5344CB8AC3E}">
        <p14:creationId xmlns:p14="http://schemas.microsoft.com/office/powerpoint/2010/main" val="2712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b="1" dirty="0"/>
              <a:t>A Quick Review </a:t>
            </a:r>
          </a:p>
          <a:p>
            <a:pPr algn="just"/>
            <a:r>
              <a:rPr lang="en-US" altLang="en-US" b="1" dirty="0"/>
              <a:t>Flynn’s Taxonomy</a:t>
            </a:r>
          </a:p>
          <a:p>
            <a:pPr lvl="1" algn="just"/>
            <a:r>
              <a:rPr lang="en-US" altLang="en-US" dirty="0"/>
              <a:t>SISD</a:t>
            </a:r>
          </a:p>
          <a:p>
            <a:pPr lvl="1" algn="just"/>
            <a:r>
              <a:rPr lang="en-US" altLang="en-US" dirty="0"/>
              <a:t>MISD</a:t>
            </a:r>
          </a:p>
          <a:p>
            <a:pPr lvl="1" algn="just"/>
            <a:r>
              <a:rPr lang="en-US" altLang="en-US" dirty="0"/>
              <a:t>SIMD</a:t>
            </a:r>
          </a:p>
          <a:p>
            <a:pPr lvl="1" algn="just"/>
            <a:r>
              <a:rPr lang="en-US" altLang="en-US" dirty="0"/>
              <a:t>MIMD</a:t>
            </a:r>
          </a:p>
          <a:p>
            <a:pPr algn="just"/>
            <a:r>
              <a:rPr lang="en-US" b="1" dirty="0"/>
              <a:t>Physical Organization of Parallel Platforms</a:t>
            </a:r>
          </a:p>
          <a:p>
            <a:pPr lvl="1" algn="just"/>
            <a:r>
              <a:rPr lang="en-US" altLang="en-US" dirty="0"/>
              <a:t>PRAM</a:t>
            </a:r>
          </a:p>
          <a:p>
            <a:pPr algn="just"/>
            <a:r>
              <a:rPr lang="en-US" altLang="en-US" b="1" dirty="0"/>
              <a:t>Routing techniques and Costs</a:t>
            </a:r>
          </a:p>
          <a:p>
            <a:pPr marL="0" indent="0" algn="just">
              <a:buNone/>
            </a:pPr>
            <a:endParaRPr lang="en-US" altLang="en-US" b="1" dirty="0"/>
          </a:p>
          <a:p>
            <a:pPr algn="just"/>
            <a:endParaRPr lang="en-US" altLang="en-US" b="1" dirty="0"/>
          </a:p>
          <a:p>
            <a:pPr algn="just"/>
            <a:endParaRPr lang="en-US" altLang="en-US" b="1" dirty="0"/>
          </a:p>
          <a:p>
            <a:pPr marL="0" indent="0" algn="just">
              <a:buNone/>
            </a:pPr>
            <a:endParaRPr lang="en-US" altLang="en-US" dirty="0"/>
          </a:p>
          <a:p>
            <a:pPr algn="just"/>
            <a:endParaRPr lang="en-US" altLang="en-US" dirty="0"/>
          </a:p>
          <a:p>
            <a:pPr marL="0" indent="0" algn="just">
              <a:buNone/>
            </a:pPr>
            <a:endParaRPr lang="en-US" altLang="en-US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30248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Quick Review to the Previous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algn="just"/>
            <a:r>
              <a:rPr lang="en-US" altLang="en-US" b="1" dirty="0"/>
              <a:t>Amdahl’s Law of Parallel Speedup</a:t>
            </a:r>
          </a:p>
          <a:p>
            <a:pPr lvl="1" algn="just"/>
            <a:r>
              <a:rPr lang="en-US" altLang="en-US" dirty="0"/>
              <a:t>Purpose, derivation, and examples</a:t>
            </a:r>
          </a:p>
          <a:p>
            <a:pPr algn="just"/>
            <a:r>
              <a:rPr lang="en-US" b="1" dirty="0"/>
              <a:t>Karp-Flatt Metric</a:t>
            </a:r>
            <a:endParaRPr lang="en-US" altLang="en-US" b="1" dirty="0"/>
          </a:p>
          <a:p>
            <a:pPr lvl="1" algn="just"/>
            <a:r>
              <a:rPr lang="en-US" altLang="en-US" dirty="0"/>
              <a:t>Finding sequential fraction in the given parallel setup </a:t>
            </a:r>
          </a:p>
          <a:p>
            <a:pPr algn="just"/>
            <a:r>
              <a:rPr lang="en-US" altLang="en-US" b="1" dirty="0"/>
              <a:t>Types of Parallelism</a:t>
            </a:r>
          </a:p>
          <a:p>
            <a:pPr lvl="1"/>
            <a:r>
              <a:rPr lang="en-US" altLang="en-US" dirty="0"/>
              <a:t>Data-parallelism </a:t>
            </a:r>
          </a:p>
          <a:p>
            <a:pPr lvl="2"/>
            <a:r>
              <a:rPr lang="en-US" altLang="en-US" dirty="0"/>
              <a:t>Same operation on different data elements </a:t>
            </a:r>
          </a:p>
          <a:p>
            <a:pPr lvl="1" algn="just"/>
            <a:r>
              <a:rPr lang="en-US" altLang="en-US" dirty="0"/>
              <a:t>Functional-parallelism </a:t>
            </a:r>
          </a:p>
          <a:p>
            <a:pPr lvl="2" algn="just"/>
            <a:r>
              <a:rPr lang="en-US" altLang="en-US" dirty="0"/>
              <a:t>Different independent tasks with different operations on different data elements can be parallelized</a:t>
            </a:r>
          </a:p>
          <a:p>
            <a:pPr lvl="1" algn="just"/>
            <a:r>
              <a:rPr lang="en-US" altLang="en-US" dirty="0"/>
              <a:t>Pipelining </a:t>
            </a:r>
          </a:p>
          <a:p>
            <a:pPr lvl="2" algn="just"/>
            <a:r>
              <a:rPr lang="en-US" dirty="0"/>
              <a:t>Overlapping the instructions in a single instruction cycle to achieve parallelism</a:t>
            </a:r>
          </a:p>
        </p:txBody>
      </p:sp>
    </p:spTree>
    <p:extLst>
      <p:ext uri="{BB962C8B-B14F-4D97-AF65-F5344CB8AC3E}">
        <p14:creationId xmlns:p14="http://schemas.microsoft.com/office/powerpoint/2010/main" val="3579250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Quick Review to the Previous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90" y="1280277"/>
            <a:ext cx="8440880" cy="4987331"/>
          </a:xfrm>
        </p:spPr>
        <p:txBody>
          <a:bodyPr>
            <a:normAutofit/>
          </a:bodyPr>
          <a:lstStyle/>
          <a:p>
            <a:pPr algn="just"/>
            <a:r>
              <a:rPr lang="en-US" altLang="en-US" b="1" dirty="0"/>
              <a:t>Multiprocessor</a:t>
            </a:r>
          </a:p>
          <a:p>
            <a:pPr lvl="1" algn="just"/>
            <a:r>
              <a:rPr lang="en-US" altLang="en-US" dirty="0"/>
              <a:t>Centralized multiprocessor</a:t>
            </a:r>
          </a:p>
          <a:p>
            <a:pPr lvl="1" algn="just"/>
            <a:r>
              <a:rPr lang="en-US" altLang="en-US" dirty="0"/>
              <a:t>Distributed multiprocessor</a:t>
            </a:r>
          </a:p>
          <a:p>
            <a:pPr lvl="1" algn="just"/>
            <a:r>
              <a:rPr lang="en-US" altLang="en-US" dirty="0"/>
              <a:t>Shared address space(NUMA) vs Shared memory(UMA) </a:t>
            </a:r>
          </a:p>
          <a:p>
            <a:pPr algn="just"/>
            <a:r>
              <a:rPr lang="en-US" altLang="en-US" b="1" dirty="0"/>
              <a:t>Multicomputer</a:t>
            </a:r>
          </a:p>
          <a:p>
            <a:pPr lvl="1" algn="just"/>
            <a:r>
              <a:rPr lang="en-US" altLang="en-US" dirty="0"/>
              <a:t>Asymmetrical</a:t>
            </a:r>
          </a:p>
          <a:p>
            <a:pPr lvl="1" algn="just"/>
            <a:r>
              <a:rPr lang="en-US" altLang="en-US" dirty="0"/>
              <a:t>Symmetrical</a:t>
            </a:r>
          </a:p>
          <a:p>
            <a:pPr algn="just"/>
            <a:r>
              <a:rPr lang="en-US" altLang="en-US" b="1" dirty="0"/>
              <a:t>Cluster vs Network of Workstations</a:t>
            </a:r>
          </a:p>
          <a:p>
            <a:pPr algn="just"/>
            <a:r>
              <a:rPr lang="en-US" altLang="en-US" b="1" dirty="0"/>
              <a:t>Assigned Reading</a:t>
            </a:r>
          </a:p>
          <a:p>
            <a:pPr lvl="1" algn="just"/>
            <a:r>
              <a:rPr lang="en-US" altLang="en-US" dirty="0"/>
              <a:t>Cache Coherence and snooping</a:t>
            </a:r>
          </a:p>
          <a:p>
            <a:pPr lvl="1" algn="just"/>
            <a:r>
              <a:rPr lang="en-US" dirty="0"/>
              <a:t>Branch prediction and issues while pipelining the problem</a:t>
            </a:r>
            <a:endParaRPr lang="en-US" altLang="en-US" dirty="0"/>
          </a:p>
          <a:p>
            <a:pPr marL="0" indent="0" algn="just">
              <a:buNone/>
            </a:pPr>
            <a:endParaRPr lang="en-US" altLang="en-US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F63E9-91E2-4978-A1B1-A1CFC3EB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691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Flynn’s Taxonomy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Widely used architectural classification scheme</a:t>
            </a:r>
          </a:p>
          <a:p>
            <a:pPr algn="just"/>
            <a:r>
              <a:rPr lang="en-US" dirty="0"/>
              <a:t>Classifies architectures into four types</a:t>
            </a:r>
          </a:p>
          <a:p>
            <a:pPr algn="just"/>
            <a:r>
              <a:rPr lang="en-US" dirty="0"/>
              <a:t>The classification is based on how data and instructions flow through the cores.</a:t>
            </a:r>
          </a:p>
          <a:p>
            <a:pPr algn="just"/>
            <a:endParaRPr lang="en-US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31096D-E6AD-47F5-BEE7-53DECBCEE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12" y="3484567"/>
            <a:ext cx="8486775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068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EDD21E1-BAF0-4314-AB31-82ECB8AC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645106"/>
            <a:ext cx="3841989" cy="1259894"/>
          </a:xfrm>
        </p:spPr>
        <p:txBody>
          <a:bodyPr>
            <a:normAutofit/>
          </a:bodyPr>
          <a:lstStyle/>
          <a:p>
            <a:r>
              <a:rPr lang="en-US" dirty="0"/>
              <a:t>Flynn’s Taxonomy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C8619C-F25D-468E-95FA-2A2151D7D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918" y="2133600"/>
            <a:ext cx="4395325" cy="375925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900" b="1" dirty="0"/>
              <a:t>SISD (Single Instruction Single Data)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Refers to traditional computer: a serial architecture</a:t>
            </a:r>
          </a:p>
          <a:p>
            <a:pPr>
              <a:lnSpc>
                <a:spcPct val="90000"/>
              </a:lnSpc>
            </a:pPr>
            <a:endParaRPr lang="en-US" sz="1900" dirty="0"/>
          </a:p>
          <a:p>
            <a:pPr>
              <a:lnSpc>
                <a:spcPct val="90000"/>
              </a:lnSpc>
            </a:pPr>
            <a:r>
              <a:rPr lang="en-US" sz="1900" dirty="0"/>
              <a:t>This architecture includes single core computers</a:t>
            </a:r>
          </a:p>
          <a:p>
            <a:pPr>
              <a:lnSpc>
                <a:spcPct val="90000"/>
              </a:lnSpc>
            </a:pPr>
            <a:endParaRPr lang="en-US" sz="1900" dirty="0"/>
          </a:p>
          <a:p>
            <a:pPr>
              <a:lnSpc>
                <a:spcPct val="90000"/>
              </a:lnSpc>
            </a:pPr>
            <a:r>
              <a:rPr lang="en-US" sz="1900" dirty="0"/>
              <a:t>Single instruction stream is in execution at a given time</a:t>
            </a:r>
          </a:p>
          <a:p>
            <a:pPr>
              <a:lnSpc>
                <a:spcPct val="90000"/>
              </a:lnSpc>
            </a:pPr>
            <a:endParaRPr lang="en-US" sz="1900" dirty="0"/>
          </a:p>
          <a:p>
            <a:pPr>
              <a:lnSpc>
                <a:spcPct val="90000"/>
              </a:lnSpc>
            </a:pPr>
            <a:r>
              <a:rPr lang="en-US" sz="1900" dirty="0"/>
              <a:t>Similarly, only one data stream is active at any time</a:t>
            </a:r>
          </a:p>
          <a:p>
            <a:pPr>
              <a:lnSpc>
                <a:spcPct val="90000"/>
              </a:lnSpc>
            </a:pPr>
            <a:endParaRPr lang="en-US" sz="1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15629B-4536-4D10-A7CE-F9047E5198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0656" y1="85714" x2="22541" y2="89496"/>
                        <a14:foregroundMark x1="22541" y1="89496" x2="24180" y2="86555"/>
                        <a14:foregroundMark x1="24180" y1="86555" x2="12705" y2="88655"/>
                        <a14:foregroundMark x1="12705" y1="88655" x2="24180" y2="84874"/>
                        <a14:foregroundMark x1="24180" y1="84874" x2="23770" y2="852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68937" y="1274891"/>
            <a:ext cx="4088720" cy="3988177"/>
          </a:xfrm>
          <a:prstGeom prst="rect">
            <a:avLst/>
          </a:prstGeom>
        </p:spPr>
      </p:pic>
      <p:sp>
        <p:nvSpPr>
          <p:cNvPr id="15" name="Freeform 12">
            <a:extLst>
              <a:ext uri="{FF2B5EF4-FFF2-40B4-BE49-F238E27FC236}">
                <a16:creationId xmlns:a16="http://schemas.microsoft.com/office/drawing/2014/main" id="{7D9439D6-DEAD-4CEB-A61B-BE3D64D1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828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8CCE5-AB1E-4026-93EA-0529BEAAA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SISD:</a:t>
            </a:r>
            <a:endParaRPr lang="en-PK" dirty="0"/>
          </a:p>
        </p:txBody>
      </p:sp>
      <p:pic>
        <p:nvPicPr>
          <p:cNvPr id="1026" name="Picture 2" descr="Introduction to Parallel Computing Tutorial | High Performance Computing">
            <a:extLst>
              <a:ext uri="{FF2B5EF4-FFF2-40B4-BE49-F238E27FC236}">
                <a16:creationId xmlns:a16="http://schemas.microsoft.com/office/drawing/2014/main" id="{36DD7903-E386-4639-B34E-6E860508E3B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621" y="2177878"/>
            <a:ext cx="2961378" cy="352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526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491B121-12B5-4977-A064-636AB0B9B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645106"/>
            <a:ext cx="4930902" cy="1259894"/>
          </a:xfrm>
        </p:spPr>
        <p:txBody>
          <a:bodyPr>
            <a:normAutofit/>
          </a:bodyPr>
          <a:lstStyle/>
          <a:p>
            <a:r>
              <a:rPr lang="en-US" dirty="0"/>
              <a:t>Flynn’s Taxonomy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ED05F70-AB3E-4472-B26B-EFE6A5A59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918" y="1977388"/>
            <a:ext cx="4930901" cy="3915466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900" b="1" dirty="0"/>
              <a:t>SIMD (Single Instruction Multiple Data)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Refers to parallel architecture with multiple cores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All the cores execute the same instruction stream at any time but, data stream is different for the each.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Well-suited for the scientific operations requiring large matrix-vector operations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Vector computers (Cray vector processing machine) and Intel co-processing unit ‘MMX’ fall under this category.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Used with array operations, image processing and graphics</a:t>
            </a:r>
          </a:p>
          <a:p>
            <a:pPr>
              <a:lnSpc>
                <a:spcPct val="90000"/>
              </a:lnSpc>
            </a:pPr>
            <a:endParaRPr lang="en-US" sz="1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1A61E5-546D-443C-9206-408EAAA779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335" b="89593" l="9346" r="97196">
                        <a14:foregroundMark x1="38318" y1="7240" x2="36916" y2="18552"/>
                        <a14:foregroundMark x1="36916" y1="18552" x2="45794" y2="27149"/>
                        <a14:foregroundMark x1="45794" y1="27149" x2="58411" y2="27149"/>
                        <a14:foregroundMark x1="58411" y1="27149" x2="95794" y2="25792"/>
                        <a14:foregroundMark x1="95794" y1="25792" x2="97664" y2="14027"/>
                        <a14:foregroundMark x1="97664" y1="14027" x2="87850" y2="6787"/>
                        <a14:foregroundMark x1="87850" y1="6787" x2="37383" y2="7692"/>
                        <a14:foregroundMark x1="90187" y1="25792" x2="97196" y2="15837"/>
                        <a14:foregroundMark x1="97196" y1="15837" x2="89252" y2="7240"/>
                        <a14:foregroundMark x1="89252" y1="7240" x2="86449" y2="18552"/>
                        <a14:foregroundMark x1="86449" y1="18552" x2="96729" y2="25339"/>
                        <a14:foregroundMark x1="96729" y1="25339" x2="97196" y2="25339"/>
                        <a14:foregroundMark x1="47664" y1="38009" x2="78505" y2="39819"/>
                        <a14:foregroundMark x1="48598" y1="37104" x2="66822" y2="38009"/>
                        <a14:foregroundMark x1="53738" y1="36652" x2="82243" y2="38462"/>
                        <a14:foregroundMark x1="48598" y1="37557" x2="67290" y2="37557"/>
                        <a14:foregroundMark x1="49065" y1="82805" x2="60280" y2="78733"/>
                        <a14:foregroundMark x1="60280" y1="78733" x2="66355" y2="78733"/>
                        <a14:foregroundMark x1="82243" y1="80995" x2="71495" y2="85520"/>
                        <a14:foregroundMark x1="71495" y1="85520" x2="59346" y2="84615"/>
                        <a14:foregroundMark x1="59346" y1="84615" x2="59346" y2="84615"/>
                        <a14:foregroundMark x1="43458" y1="69683" x2="43458" y2="69683"/>
                        <a14:foregroundMark x1="48131" y1="52489" x2="48131" y2="52489"/>
                        <a14:foregroundMark x1="48131" y1="57014" x2="48131" y2="57014"/>
                        <a14:foregroundMark x1="83178" y1="52489" x2="83178" y2="52489"/>
                        <a14:foregroundMark x1="83178" y1="57919" x2="83178" y2="57919"/>
                        <a14:foregroundMark x1="58879" y1="37104" x2="81776" y2="38462"/>
                        <a14:foregroundMark x1="64486" y1="36652" x2="81308" y2="37557"/>
                        <a14:foregroundMark x1="72430" y1="37104" x2="82243" y2="37557"/>
                        <a14:foregroundMark x1="70561" y1="36652" x2="70561" y2="36652"/>
                        <a14:foregroundMark x1="78037" y1="37104" x2="78037" y2="37104"/>
                        <a14:foregroundMark x1="80841" y1="37104" x2="80841" y2="37104"/>
                        <a14:foregroundMark x1="82710" y1="38914" x2="82710" y2="38914"/>
                        <a14:foregroundMark x1="83178" y1="40724" x2="83178" y2="40724"/>
                        <a14:foregroundMark x1="83178" y1="42534" x2="83178" y2="42534"/>
                        <a14:foregroundMark x1="83178" y1="43439" x2="83178" y2="43439"/>
                        <a14:foregroundMark x1="83178" y1="43891" x2="83178" y2="43891"/>
                        <a14:foregroundMark x1="83178" y1="44344" x2="83178" y2="44344"/>
                        <a14:foregroundMark x1="83178" y1="45249" x2="83178" y2="45249"/>
                        <a14:foregroundMark x1="83178" y1="45701" x2="83178" y2="46154"/>
                        <a14:foregroundMark x1="83178" y1="47059" x2="83178" y2="47059"/>
                        <a14:foregroundMark x1="83178" y1="45249" x2="83178" y2="45249"/>
                        <a14:foregroundMark x1="82710" y1="42534" x2="82710" y2="42081"/>
                        <a14:foregroundMark x1="82710" y1="41176" x2="82710" y2="41176"/>
                        <a14:foregroundMark x1="83178" y1="40724" x2="83178" y2="40724"/>
                        <a14:foregroundMark x1="83178" y1="39819" x2="83178" y2="39819"/>
                        <a14:foregroundMark x1="83178" y1="39367" x2="83178" y2="39367"/>
                        <a14:foregroundMark x1="83178" y1="38914" x2="83178" y2="38914"/>
                        <a14:foregroundMark x1="83178" y1="38914" x2="83178" y2="38914"/>
                        <a14:foregroundMark x1="83178" y1="38462" x2="83178" y2="38462"/>
                        <a14:foregroundMark x1="83178" y1="38462" x2="83178" y2="38462"/>
                        <a14:foregroundMark x1="83178" y1="38462" x2="83178" y2="38462"/>
                        <a14:foregroundMark x1="48598" y1="64706" x2="72897" y2="66063"/>
                        <a14:foregroundMark x1="72897" y1="66063" x2="58411" y2="64253"/>
                        <a14:foregroundMark x1="82710" y1="79638" x2="82710" y2="86425"/>
                        <a14:foregroundMark x1="38785" y1="7240" x2="63551" y2="7692"/>
                        <a14:foregroundMark x1="63551" y1="7692" x2="88318" y2="6787"/>
                        <a14:foregroundMark x1="88318" y1="6787" x2="94393" y2="7692"/>
                        <a14:foregroundMark x1="12617" y1="35747" x2="25701" y2="35294"/>
                        <a14:foregroundMark x1="25701" y1="35294" x2="27570" y2="83710"/>
                        <a14:foregroundMark x1="27570" y1="83710" x2="15888" y2="89593"/>
                        <a14:foregroundMark x1="15888" y1="89593" x2="14019" y2="87330"/>
                        <a14:backgroundMark x1="6075" y1="20814" x2="19626" y2="21719"/>
                        <a14:backgroundMark x1="19626" y1="21719" x2="31308" y2="21267"/>
                        <a14:backgroundMark x1="31308" y1="21267" x2="32243" y2="20814"/>
                        <a14:backgroundMark x1="16355" y1="90498" x2="16355" y2="90498"/>
                        <a14:backgroundMark x1="83645" y1="47964" x2="83645" y2="47964"/>
                        <a14:backgroundMark x1="83178" y1="47964" x2="83178" y2="47964"/>
                        <a14:backgroundMark x1="83178" y1="47511" x2="83178" y2="47511"/>
                        <a14:backgroundMark x1="16822" y1="90498" x2="16822" y2="9049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71566" y="1727096"/>
            <a:ext cx="2986091" cy="3083766"/>
          </a:xfrm>
          <a:prstGeom prst="rect">
            <a:avLst/>
          </a:prstGeom>
        </p:spPr>
      </p:pic>
      <p:sp>
        <p:nvSpPr>
          <p:cNvPr id="33" name="Freeform 11">
            <a:extLst>
              <a:ext uri="{FF2B5EF4-FFF2-40B4-BE49-F238E27FC236}">
                <a16:creationId xmlns:a16="http://schemas.microsoft.com/office/drawing/2014/main" id="{21F6BE39-9E37-45F0-B10C-92305CFB7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157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D16FF-BC89-473B-853E-8466D6A01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SIMD: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3CF2C3A-F19F-46B2-92FC-20315EFDB3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1200" y="1339326"/>
            <a:ext cx="8323263" cy="486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857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5898079-081F-4617-AC6B-429026673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645106"/>
            <a:ext cx="5990082" cy="772214"/>
          </a:xfrm>
        </p:spPr>
        <p:txBody>
          <a:bodyPr>
            <a:normAutofit/>
          </a:bodyPr>
          <a:lstStyle/>
          <a:p>
            <a:r>
              <a:rPr lang="en-US" dirty="0"/>
              <a:t>Flynn’s Taxonomy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829EC8-5B3D-469E-942E-5E6E569E5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918" y="1417320"/>
            <a:ext cx="4309992" cy="4358151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MISD (Multiple Instructions Single Data)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Multiple instruction stream and single data stream </a:t>
            </a:r>
          </a:p>
          <a:p>
            <a:pPr marL="742950" lvl="2" indent="-342900">
              <a:lnSpc>
                <a:spcPct val="90000"/>
              </a:lnSpc>
            </a:pPr>
            <a:r>
              <a:rPr lang="en-US" dirty="0"/>
              <a:t>A pipeline of multiple independently executing functional units </a:t>
            </a:r>
          </a:p>
          <a:p>
            <a:pPr marL="742950" lvl="2" indent="-342900">
              <a:lnSpc>
                <a:spcPct val="90000"/>
              </a:lnSpc>
            </a:pPr>
            <a:r>
              <a:rPr lang="en-US" dirty="0"/>
              <a:t>Each operating on a single stream of data and forwarding results from one to the next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Rarely used in practice 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E.g., Systolic arrays : network of primitive processing elements that pump data.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61AAAD-91F9-4ADA-800E-6B889A7A06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692" b="93833" l="8969" r="94619">
                        <a14:foregroundMark x1="30045" y1="88987" x2="19731" y2="93833"/>
                        <a14:foregroundMark x1="19731" y1="93833" x2="29596" y2="88546"/>
                        <a14:foregroundMark x1="85202" y1="77533" x2="85650" y2="78414"/>
                        <a14:foregroundMark x1="90135" y1="79295" x2="89238" y2="80176"/>
                        <a14:foregroundMark x1="88789" y1="14537" x2="94619" y2="24229"/>
                        <a14:foregroundMark x1="94619" y1="24229" x2="91480" y2="15859"/>
                        <a14:foregroundMark x1="91480" y1="77974" x2="91480" y2="77974"/>
                        <a14:foregroundMark x1="91928" y1="79736" x2="91928" y2="79736"/>
                        <a14:foregroundMark x1="91928" y1="81057" x2="91928" y2="81057"/>
                        <a14:foregroundMark x1="91928" y1="82379" x2="91928" y2="82379"/>
                        <a14:foregroundMark x1="91928" y1="83260" x2="91928" y2="83260"/>
                        <a14:foregroundMark x1="91480" y1="83700" x2="91480" y2="83700"/>
                        <a14:foregroundMark x1="87444" y1="77093" x2="87444" y2="77093"/>
                        <a14:foregroundMark x1="90135" y1="77093" x2="90135" y2="77093"/>
                        <a14:foregroundMark x1="90135" y1="77093" x2="90135" y2="77093"/>
                        <a14:foregroundMark x1="89238" y1="77093" x2="89238" y2="77093"/>
                        <a14:foregroundMark x1="88341" y1="77093" x2="88341" y2="77093"/>
                        <a14:foregroundMark x1="87892" y1="77093" x2="87892" y2="77093"/>
                        <a14:foregroundMark x1="87444" y1="77093" x2="87444" y2="77093"/>
                        <a14:foregroundMark x1="87444" y1="77093" x2="87444" y2="77093"/>
                        <a14:foregroundMark x1="86996" y1="76652" x2="86996" y2="76652"/>
                        <a14:foregroundMark x1="86996" y1="76652" x2="86996" y2="76652"/>
                        <a14:foregroundMark x1="88341" y1="76652" x2="88341" y2="76652"/>
                        <a14:foregroundMark x1="89686" y1="76652" x2="89686" y2="76652"/>
                        <a14:foregroundMark x1="90135" y1="76652" x2="90135" y2="76652"/>
                        <a14:foregroundMark x1="60538" y1="76652" x2="60538" y2="76652"/>
                        <a14:foregroundMark x1="59641" y1="76652" x2="59641" y2="76652"/>
                        <a14:foregroundMark x1="59193" y1="77093" x2="59193" y2="77093"/>
                        <a14:foregroundMark x1="57848" y1="78414" x2="57848" y2="78414"/>
                        <a14:foregroundMark x1="58296" y1="79295" x2="58296" y2="79295"/>
                        <a14:foregroundMark x1="58296" y1="82379" x2="58296" y2="82379"/>
                        <a14:foregroundMark x1="58296" y1="83700" x2="58296" y2="83700"/>
                        <a14:foregroundMark x1="58296" y1="85463" x2="58296" y2="85463"/>
                        <a14:foregroundMark x1="44395" y1="70485" x2="56054" y2="70044"/>
                        <a14:foregroundMark x1="76152" y1="70044" x2="78027" y2="70044"/>
                        <a14:foregroundMark x1="73462" y1="70044" x2="74359" y2="70044"/>
                        <a14:foregroundMark x1="72890" y1="70044" x2="73013" y2="70044"/>
                        <a14:foregroundMark x1="71668" y1="70044" x2="71993" y2="70044"/>
                        <a14:foregroundMark x1="64656" y1="70044" x2="71220" y2="70044"/>
                        <a14:foregroundMark x1="63758" y1="70044" x2="64207" y2="70044"/>
                        <a14:foregroundMark x1="61067" y1="70044" x2="62861" y2="70044"/>
                        <a14:foregroundMark x1="56054" y1="70044" x2="60619" y2="70044"/>
                        <a14:foregroundMark x1="38534" y1="29515" x2="38565" y2="30396"/>
                        <a14:foregroundMark x1="38488" y1="28194" x2="38534" y2="29515"/>
                        <a14:foregroundMark x1="38472" y1="27753" x2="38488" y2="28194"/>
                        <a14:foregroundMark x1="38457" y1="27313" x2="38472" y2="27753"/>
                        <a14:foregroundMark x1="38426" y1="26432" x2="38457" y2="27313"/>
                        <a14:foregroundMark x1="38395" y1="25551" x2="38426" y2="26432"/>
                        <a14:foregroundMark x1="38364" y1="24670" x2="38395" y2="25551"/>
                        <a14:foregroundMark x1="38349" y1="24229" x2="38364" y2="24670"/>
                        <a14:foregroundMark x1="38318" y1="23348" x2="38349" y2="24229"/>
                        <a14:foregroundMark x1="38287" y1="22467" x2="38318" y2="23348"/>
                        <a14:foregroundMark x1="38256" y1="21586" x2="38287" y2="22467"/>
                        <a14:foregroundMark x1="38241" y1="21145" x2="38256" y2="21586"/>
                        <a14:foregroundMark x1="38210" y1="20264" x2="38241" y2="21145"/>
                        <a14:foregroundMark x1="38195" y1="19824" x2="38210" y2="20264"/>
                        <a14:foregroundMark x1="38179" y1="19383" x2="38195" y2="19824"/>
                        <a14:foregroundMark x1="38148" y1="18502" x2="38179" y2="19383"/>
                        <a14:foregroundMark x1="38133" y1="18062" x2="38148" y2="18502"/>
                        <a14:foregroundMark x1="38117" y1="17621" x2="38133" y2="18062"/>
                        <a14:foregroundMark x1="38117" y1="29956" x2="38117" y2="29956"/>
                        <a14:foregroundMark x1="37668" y1="29075" x2="37668" y2="29075"/>
                        <a14:foregroundMark x1="37668" y1="28194" x2="37668" y2="28194"/>
                        <a14:foregroundMark x1="37668" y1="25991" x2="37668" y2="25991"/>
                        <a14:foregroundMark x1="37668" y1="23789" x2="37668" y2="23789"/>
                        <a14:foregroundMark x1="37220" y1="22467" x2="37220" y2="22467"/>
                        <a14:foregroundMark x1="37220" y1="20705" x2="37220" y2="20705"/>
                        <a14:foregroundMark x1="37220" y1="19383" x2="37220" y2="19383"/>
                        <a14:foregroundMark x1="37220" y1="18062" x2="37220" y2="18062"/>
                        <a14:foregroundMark x1="37220" y1="17181" x2="37220" y2="17181"/>
                        <a14:foregroundMark x1="26906" y1="40969" x2="26906" y2="40969"/>
                        <a14:foregroundMark x1="27803" y1="40969" x2="27803" y2="40969"/>
                        <a14:foregroundMark x1="28700" y1="40969" x2="28700" y2="40969"/>
                        <a14:foregroundMark x1="29148" y1="41410" x2="29148" y2="41410"/>
                        <a14:foregroundMark x1="29596" y1="41850" x2="30045" y2="42731"/>
                        <a14:foregroundMark x1="30045" y1="43172" x2="30045" y2="44053"/>
                        <a14:foregroundMark x1="30045" y1="44493" x2="30493" y2="45374"/>
                        <a14:foregroundMark x1="30942" y1="49780" x2="30942" y2="49780"/>
                        <a14:foregroundMark x1="30942" y1="50220" x2="30942" y2="51982"/>
                        <a14:foregroundMark x1="30942" y1="52423" x2="30942" y2="52423"/>
                        <a14:foregroundMark x1="30942" y1="53744" x2="30942" y2="53744"/>
                        <a14:foregroundMark x1="30942" y1="55507" x2="30942" y2="55507"/>
                        <a14:foregroundMark x1="30942" y1="57269" x2="30942" y2="57269"/>
                        <a14:foregroundMark x1="30942" y1="58150" x2="30942" y2="58150"/>
                        <a14:foregroundMark x1="30942" y1="59031" x2="30942" y2="59031"/>
                        <a14:foregroundMark x1="30493" y1="60352" x2="30493" y2="61233"/>
                        <a14:foregroundMark x1="30493" y1="62555" x2="30493" y2="62555"/>
                        <a14:foregroundMark x1="30493" y1="62555" x2="30493" y2="63436"/>
                        <a14:foregroundMark x1="30493" y1="63877" x2="30493" y2="63877"/>
                        <a14:foregroundMark x1="30493" y1="64758" x2="30493" y2="64758"/>
                        <a14:foregroundMark x1="30493" y1="65639" x2="30493" y2="65639"/>
                        <a14:foregroundMark x1="30493" y1="66960" x2="30493" y2="66960"/>
                        <a14:foregroundMark x1="30493" y1="67401" x2="30493" y2="67401"/>
                        <a14:foregroundMark x1="30493" y1="68282" x2="30493" y2="68722"/>
                        <a14:foregroundMark x1="30493" y1="70044" x2="30493" y2="70485"/>
                        <a14:foregroundMark x1="30493" y1="71806" x2="30493" y2="72687"/>
                        <a14:foregroundMark x1="30493" y1="73128" x2="30493" y2="74009"/>
                        <a14:foregroundMark x1="30493" y1="74449" x2="30493" y2="74449"/>
                        <a14:foregroundMark x1="30493" y1="74890" x2="30493" y2="75771"/>
                        <a14:foregroundMark x1="30493" y1="77093" x2="30493" y2="77093"/>
                        <a14:foregroundMark x1="30493" y1="78855" x2="30493" y2="78855"/>
                        <a14:foregroundMark x1="30493" y1="80176" x2="30493" y2="80617"/>
                        <a14:foregroundMark x1="30493" y1="81498" x2="30493" y2="81498"/>
                        <a14:foregroundMark x1="30045" y1="82379" x2="30045" y2="82379"/>
                        <a14:foregroundMark x1="30045" y1="84141" x2="30045" y2="84141"/>
                        <a14:foregroundMark x1="30045" y1="84141" x2="30045" y2="84141"/>
                        <a14:foregroundMark x1="30045" y1="85022" x2="30045" y2="85022"/>
                        <a14:foregroundMark x1="30045" y1="85903" x2="30045" y2="85903"/>
                        <a14:foregroundMark x1="30045" y1="86344" x2="30045" y2="86344"/>
                        <a14:foregroundMark x1="30493" y1="58590" x2="29596" y2="42291"/>
                        <a14:foregroundMark x1="30045" y1="46696" x2="30045" y2="46696"/>
                        <a14:foregroundMark x1="30045" y1="48899" x2="30045" y2="48899"/>
                        <a14:foregroundMark x1="30493" y1="50661" x2="30493" y2="50661"/>
                        <a14:foregroundMark x1="30493" y1="51982" x2="30493" y2="51982"/>
                        <a14:foregroundMark x1="30493" y1="53744" x2="30493" y2="54626"/>
                        <a14:foregroundMark x1="30045" y1="55947" x2="30045" y2="55947"/>
                        <a14:foregroundMark x1="30045" y1="59031" x2="30045" y2="59031"/>
                        <a14:foregroundMark x1="30493" y1="60793" x2="30493" y2="61674"/>
                        <a14:foregroundMark x1="30493" y1="62115" x2="30493" y2="63436"/>
                        <a14:foregroundMark x1="30942" y1="63877" x2="30942" y2="63877"/>
                        <a14:foregroundMark x1="30942" y1="65198" x2="30942" y2="65198"/>
                        <a14:foregroundMark x1="37220" y1="18062" x2="37220" y2="18062"/>
                        <a14:foregroundMark x1="37220" y1="20705" x2="37220" y2="20705"/>
                        <a14:foregroundMark x1="37220" y1="22026" x2="37220" y2="22026"/>
                        <a14:foregroundMark x1="37220" y1="23348" x2="37668" y2="24229"/>
                        <a14:foregroundMark x1="37668" y1="24670" x2="37668" y2="25551"/>
                        <a14:foregroundMark x1="37668" y1="26432" x2="37668" y2="26432"/>
                        <a14:foregroundMark x1="37220" y1="27753" x2="37220" y2="28194"/>
                        <a14:foregroundMark x1="37220" y1="28634" x2="37220" y2="29515"/>
                        <a14:foregroundMark x1="36771" y1="30396" x2="36771" y2="30396"/>
                        <a14:foregroundMark x1="36771" y1="29515" x2="36771" y2="29515"/>
                        <a14:foregroundMark x1="36771" y1="27753" x2="36771" y2="27753"/>
                        <a14:foregroundMark x1="36771" y1="26432" x2="36771" y2="26432"/>
                        <a14:foregroundMark x1="36323" y1="25110" x2="36323" y2="25110"/>
                        <a14:foregroundMark x1="36323" y1="23789" x2="36323" y2="23789"/>
                        <a14:foregroundMark x1="36323" y1="22026" x2="36323" y2="22026"/>
                        <a14:foregroundMark x1="36323" y1="21145" x2="36323" y2="21145"/>
                        <a14:foregroundMark x1="36323" y1="19824" x2="36323" y2="19824"/>
                        <a14:foregroundMark x1="36323" y1="18943" x2="36323" y2="18943"/>
                        <a14:foregroundMark x1="36323" y1="18943" x2="36323" y2="18943"/>
                        <a14:foregroundMark x1="36323" y1="18502" x2="36323" y2="18502"/>
                        <a14:foregroundMark x1="91928" y1="76652" x2="91928" y2="76652"/>
                        <a14:foregroundMark x1="91928" y1="77533" x2="91928" y2="77533"/>
                        <a14:foregroundMark x1="91928" y1="85463" x2="91928" y2="85463"/>
                        <a14:foregroundMark x1="92377" y1="86344" x2="92377" y2="86344"/>
                        <a14:foregroundMark x1="57848" y1="85903" x2="57848" y2="85903"/>
                        <a14:foregroundMark x1="57848" y1="83260" x2="57848" y2="83260"/>
                        <a14:foregroundMark x1="57848" y1="80617" x2="57848" y2="80617"/>
                        <a14:foregroundMark x1="57848" y1="79295" x2="57848" y2="79295"/>
                        <a14:foregroundMark x1="57848" y1="77974" x2="57848" y2="77974"/>
                        <a14:foregroundMark x1="57848" y1="77093" x2="57848" y2="77093"/>
                        <a14:foregroundMark x1="60538" y1="71366" x2="60538" y2="71366"/>
                        <a14:foregroundMark x1="62780" y1="71806" x2="62780" y2="71806"/>
                        <a14:foregroundMark x1="65022" y1="71806" x2="65022" y2="71806"/>
                        <a14:foregroundMark x1="65919" y1="71806" x2="65919" y2="71806"/>
                        <a14:foregroundMark x1="67265" y1="72247" x2="68161" y2="72247"/>
                        <a14:foregroundMark x1="69058" y1="72247" x2="69058" y2="72247"/>
                        <a14:foregroundMark x1="70240" y1="72247" x2="70852" y2="72247"/>
                        <a14:foregroundMark x1="69507" y1="72247" x2="69792" y2="72247"/>
                        <a14:foregroundMark x1="71300" y1="72247" x2="71300" y2="72247"/>
                        <a14:foregroundMark x1="74725" y1="72247" x2="75336" y2="72247"/>
                        <a14:foregroundMark x1="31390" y1="59471" x2="31390" y2="59471"/>
                        <a14:foregroundMark x1="30493" y1="58590" x2="30493" y2="58590"/>
                        <a14:foregroundMark x1="31390" y1="59031" x2="31390" y2="59031"/>
                        <a14:foregroundMark x1="31390" y1="58590" x2="31390" y2="57709"/>
                        <a14:foregroundMark x1="30942" y1="56828" x2="30942" y2="56828"/>
                        <a14:foregroundMark x1="30942" y1="56828" x2="30942" y2="56828"/>
                        <a14:foregroundMark x1="30942" y1="55066" x2="30942" y2="55066"/>
                        <a14:foregroundMark x1="30942" y1="53744" x2="30942" y2="53744"/>
                        <a14:foregroundMark x1="30942" y1="52423" x2="30942" y2="52423"/>
                        <a14:foregroundMark x1="30942" y1="51542" x2="30942" y2="51542"/>
                        <a14:foregroundMark x1="30942" y1="49780" x2="30942" y2="49780"/>
                        <a14:foregroundMark x1="30942" y1="48899" x2="30942" y2="48899"/>
                        <a14:foregroundMark x1="30942" y1="48018" x2="30942" y2="48018"/>
                        <a14:foregroundMark x1="30942" y1="48018" x2="30942" y2="48018"/>
                        <a14:foregroundMark x1="64615" y1="70108" x2="66368" y2="70044"/>
                        <a14:foregroundMark x1="54260" y1="70485" x2="64155" y2="70125"/>
                        <a14:foregroundMark x1="73462" y1="70044" x2="77130" y2="70044"/>
                        <a14:foregroundMark x1="71668" y1="70044" x2="73013" y2="70044"/>
                        <a14:foregroundMark x1="66368" y1="70044" x2="71220" y2="70044"/>
                        <a14:foregroundMark x1="30493" y1="59471" x2="30045" y2="48018"/>
                        <a14:foregroundMark x1="30493" y1="49339" x2="30493" y2="49339"/>
                        <a14:foregroundMark x1="30493" y1="51101" x2="30493" y2="51101"/>
                        <a14:foregroundMark x1="30493" y1="51982" x2="30493" y2="52423"/>
                        <a14:foregroundMark x1="30493" y1="52423" x2="30493" y2="52423"/>
                        <a14:foregroundMark x1="30493" y1="52423" x2="30493" y2="52863"/>
                        <a14:foregroundMark x1="30493" y1="53304" x2="30493" y2="53304"/>
                        <a14:foregroundMark x1="30493" y1="53744" x2="30493" y2="53744"/>
                        <a14:foregroundMark x1="30942" y1="53744" x2="30942" y2="53744"/>
                        <a14:foregroundMark x1="30493" y1="53304" x2="30493" y2="53304"/>
                        <a14:foregroundMark x1="30493" y1="52423" x2="30493" y2="52423"/>
                        <a14:foregroundMark x1="30493" y1="51542" x2="30493" y2="51542"/>
                        <a14:foregroundMark x1="30942" y1="51101" x2="30942" y2="51101"/>
                        <a14:foregroundMark x1="30942" y1="50661" x2="30942" y2="50661"/>
                        <a14:foregroundMark x1="30942" y1="50220" x2="30942" y2="50220"/>
                        <a14:foregroundMark x1="30942" y1="49339" x2="30942" y2="49339"/>
                        <a14:foregroundMark x1="30493" y1="49339" x2="30493" y2="49339"/>
                        <a14:foregroundMark x1="30942" y1="48458" x2="30942" y2="48458"/>
                        <a14:foregroundMark x1="30942" y1="49339" x2="30942" y2="49339"/>
                        <a14:foregroundMark x1="30942" y1="49780" x2="30942" y2="49780"/>
                        <a14:foregroundMark x1="30942" y1="50220" x2="30942" y2="50661"/>
                        <a14:foregroundMark x1="30942" y1="50661" x2="30942" y2="50661"/>
                        <a14:foregroundMark x1="30942" y1="48899" x2="31390" y2="59031"/>
                        <a14:backgroundMark x1="32249" y1="46696" x2="32287" y2="45374"/>
                        <a14:backgroundMark x1="32211" y1="48018" x2="32249" y2="46696"/>
                        <a14:backgroundMark x1="32198" y1="48458" x2="32211" y2="48018"/>
                        <a14:backgroundMark x1="32185" y1="48899" x2="32198" y2="48458"/>
                        <a14:backgroundMark x1="31877" y1="59471" x2="31890" y2="59031"/>
                        <a14:backgroundMark x1="31839" y1="60793" x2="31877" y2="59471"/>
                        <a14:backgroundMark x1="32632" y1="48018" x2="32735" y2="46696"/>
                        <a14:backgroundMark x1="32598" y1="48458" x2="32632" y2="48018"/>
                        <a14:backgroundMark x1="32569" y1="48829" x2="32598" y2="48458"/>
                        <a14:backgroundMark x1="31838" y1="48458" x2="31614" y2="48899"/>
                        <a14:backgroundMark x1="32062" y1="48018" x2="31838" y2="48458"/>
                        <a14:backgroundMark x1="32735" y1="46696" x2="32062" y2="48018"/>
                        <a14:backgroundMark x1="35426" y1="18502" x2="35426" y2="18502"/>
                        <a14:backgroundMark x1="35874" y1="19383" x2="35874" y2="19383"/>
                        <a14:backgroundMark x1="35874" y1="20264" x2="35874" y2="20264"/>
                        <a14:backgroundMark x1="36323" y1="21145" x2="36323" y2="21145"/>
                        <a14:backgroundMark x1="36323" y1="21586" x2="36323" y2="21586"/>
                        <a14:backgroundMark x1="36323" y1="22467" x2="36323" y2="22467"/>
                        <a14:backgroundMark x1="36323" y1="23348" x2="36323" y2="23348"/>
                        <a14:backgroundMark x1="36323" y1="24229" x2="36323" y2="24229"/>
                        <a14:backgroundMark x1="36323" y1="24670" x2="36323" y2="24670"/>
                        <a14:backgroundMark x1="36323" y1="25551" x2="36323" y2="25551"/>
                        <a14:backgroundMark x1="36323" y1="25551" x2="36323" y2="25551"/>
                        <a14:backgroundMark x1="36323" y1="26432" x2="36323" y2="26432"/>
                        <a14:backgroundMark x1="36323" y1="27313" x2="36323" y2="27313"/>
                        <a14:backgroundMark x1="36323" y1="27753" x2="36323" y2="27753"/>
                        <a14:backgroundMark x1="36771" y1="28194" x2="36771" y2="28194"/>
                        <a14:backgroundMark x1="36771" y1="29515" x2="36771" y2="29515"/>
                        <a14:backgroundMark x1="36771" y1="30396" x2="36771" y2="30396"/>
                        <a14:backgroundMark x1="36771" y1="30837" x2="36771" y2="30837"/>
                        <a14:backgroundMark x1="36323" y1="19383" x2="36323" y2="19383"/>
                        <a14:backgroundMark x1="36323" y1="18062" x2="36323" y2="18062"/>
                        <a14:backgroundMark x1="36771" y1="19824" x2="36771" y2="19824"/>
                        <a14:backgroundMark x1="75785" y1="72687" x2="75785" y2="72687"/>
                        <a14:backgroundMark x1="75785" y1="72687" x2="75785" y2="72687"/>
                        <a14:backgroundMark x1="75336" y1="73128" x2="75336" y2="73128"/>
                        <a14:backgroundMark x1="92825" y1="86784" x2="92825" y2="86784"/>
                        <a14:backgroundMark x1="67265" y1="71806" x2="67265" y2="71806"/>
                        <a14:backgroundMark x1="70852" y1="72687" x2="70852" y2="72687"/>
                        <a14:backgroundMark x1="69058" y1="72247" x2="69058" y2="72247"/>
                        <a14:backgroundMark x1="68610" y1="72687" x2="68610" y2="72687"/>
                        <a14:backgroundMark x1="67713" y1="72687" x2="67713" y2="72687"/>
                        <a14:backgroundMark x1="69507" y1="72687" x2="69955" y2="72687"/>
                        <a14:backgroundMark x1="71300" y1="72687" x2="71749" y2="72687"/>
                        <a14:backgroundMark x1="74439" y1="73128" x2="74439" y2="73128"/>
                        <a14:backgroundMark x1="60538" y1="71806" x2="60538" y2="71806"/>
                        <a14:backgroundMark x1="62780" y1="72247" x2="63229" y2="72247"/>
                        <a14:backgroundMark x1="65022" y1="72247" x2="65022" y2="72247"/>
                        <a14:backgroundMark x1="65919" y1="72247" x2="65919" y2="72247"/>
                        <a14:backgroundMark x1="65471" y1="71806" x2="65471" y2="71806"/>
                        <a14:backgroundMark x1="64574" y1="71806" x2="64574" y2="71806"/>
                        <a14:backgroundMark x1="63677" y1="71806" x2="63677" y2="71806"/>
                        <a14:backgroundMark x1="62780" y1="71806" x2="62780" y2="71806"/>
                        <a14:backgroundMark x1="62332" y1="71806" x2="62332" y2="71806"/>
                        <a14:backgroundMark x1="74888" y1="72247" x2="74888" y2="7224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07390" y="645106"/>
            <a:ext cx="3246740" cy="3304979"/>
          </a:xfrm>
          <a:prstGeom prst="rect">
            <a:avLst/>
          </a:prstGeom>
        </p:spPr>
      </p:pic>
      <p:sp>
        <p:nvSpPr>
          <p:cNvPr id="42" name="Freeform 12">
            <a:extLst>
              <a:ext uri="{FF2B5EF4-FFF2-40B4-BE49-F238E27FC236}">
                <a16:creationId xmlns:a16="http://schemas.microsoft.com/office/drawing/2014/main" id="{55D72A3F-A083-4502-838A-2C32C9800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9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21B41-BB08-42F2-D84F-2D700A21A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MISD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BD111F-3FAE-05A6-E394-E9CB2EFB7E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85801"/>
            <a:ext cx="8861882" cy="34899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A6A2E6-67DF-26AF-9905-8BE2D22E4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18" y="4099560"/>
            <a:ext cx="7807941" cy="273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050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74371-9884-4AC2-904E-23A0DCD72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MISD: </a:t>
            </a:r>
            <a:endParaRPr lang="en-P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2D096F8-F69C-4409-802D-B07A0F8B7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1200" y="1394863"/>
            <a:ext cx="8323263" cy="4757248"/>
          </a:xfrm>
        </p:spPr>
      </p:pic>
    </p:spTree>
    <p:extLst>
      <p:ext uri="{BB962C8B-B14F-4D97-AF65-F5344CB8AC3E}">
        <p14:creationId xmlns:p14="http://schemas.microsoft.com/office/powerpoint/2010/main" val="3303297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1EDD21E1-BAF0-4314-AB31-82ECB8AC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250776"/>
            <a:ext cx="5944362" cy="922425"/>
          </a:xfrm>
        </p:spPr>
        <p:txBody>
          <a:bodyPr>
            <a:normAutofit/>
          </a:bodyPr>
          <a:lstStyle/>
          <a:p>
            <a:r>
              <a:rPr lang="en-US" dirty="0"/>
              <a:t>Flynn’s Taxonomy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DC8619C-F25D-468E-95FA-2A2151D7D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918" y="1173202"/>
            <a:ext cx="4273768" cy="471965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 b="1" dirty="0"/>
              <a:t>MIMD (Multiple Instructions Multiple Data)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Multiple instruction streams and multiple data streams 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Different CPUs can simultaneously execute different instruction streams manipulating different data 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Most of the modern parallel architectures fall under this category e.g., </a:t>
            </a:r>
            <a:r>
              <a:rPr lang="en-US" sz="2000" b="1" dirty="0"/>
              <a:t>Multiprocessor</a:t>
            </a:r>
            <a:r>
              <a:rPr lang="en-US" sz="2000" dirty="0"/>
              <a:t> and </a:t>
            </a:r>
            <a:r>
              <a:rPr lang="en-US" sz="2000" b="1" dirty="0"/>
              <a:t>multicomputer </a:t>
            </a:r>
            <a:r>
              <a:rPr lang="en-US" sz="2000" dirty="0"/>
              <a:t>architectures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Many MIMD architectures include SIMD executions by default.</a:t>
            </a:r>
          </a:p>
          <a:p>
            <a:pPr>
              <a:lnSpc>
                <a:spcPct val="90000"/>
              </a:lnSpc>
            </a:pPr>
            <a:endParaRPr lang="en-US" sz="1700" dirty="0"/>
          </a:p>
          <a:p>
            <a:pPr>
              <a:lnSpc>
                <a:spcPct val="90000"/>
              </a:lnSpc>
            </a:pPr>
            <a:endParaRPr lang="en-US" sz="1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0293A9-2A39-4CEE-B335-9002D592E0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597" b="95023" l="7895" r="96199">
                        <a14:foregroundMark x1="22807" y1="16290" x2="96199" y2="19005"/>
                        <a14:foregroundMark x1="30994" y1="90950" x2="49415" y2="90950"/>
                        <a14:foregroundMark x1="11988" y1="28054" x2="17544" y2="78281"/>
                        <a14:foregroundMark x1="17544" y1="78281" x2="14912" y2="55656"/>
                        <a14:foregroundMark x1="14912" y1="55656" x2="16374" y2="47511"/>
                        <a14:foregroundMark x1="23099" y1="11312" x2="92105" y2="14027"/>
                        <a14:foregroundMark x1="61988" y1="67421" x2="61988" y2="67421"/>
                        <a14:foregroundMark x1="61696" y1="82353" x2="61696" y2="82353"/>
                        <a14:foregroundMark x1="61696" y1="81448" x2="61696" y2="81448"/>
                        <a14:foregroundMark x1="61696" y1="81448" x2="61696" y2="81448"/>
                        <a14:foregroundMark x1="51462" y1="57919" x2="51462" y2="58371"/>
                        <a14:foregroundMark x1="51462" y1="59276" x2="51462" y2="59276"/>
                        <a14:foregroundMark x1="7895" y1="95023" x2="16667" y2="95023"/>
                        <a14:foregroundMark x1="29825" y1="94570" x2="50877" y2="94118"/>
                        <a14:foregroundMark x1="65789" y1="87783" x2="80409" y2="86878"/>
                        <a14:foregroundMark x1="80409" y1="86878" x2="86257" y2="86878"/>
                        <a14:foregroundMark x1="76608" y1="88235" x2="85673" y2="87783"/>
                        <a14:foregroundMark x1="29825" y1="86878" x2="30409" y2="94570"/>
                        <a14:foregroundMark x1="69883" y1="88235" x2="77485" y2="87783"/>
                        <a14:foregroundMark x1="66082" y1="44796" x2="86550" y2="45701"/>
                        <a14:foregroundMark x1="30994" y1="95023" x2="45906" y2="95475"/>
                        <a14:foregroundMark x1="45906" y1="95475" x2="50585" y2="94118"/>
                        <a14:foregroundMark x1="67251" y1="8597" x2="94152" y2="10407"/>
                        <a14:foregroundMark x1="66667" y1="45249" x2="85673" y2="46154"/>
                        <a14:foregroundMark x1="85673" y1="44796" x2="67544" y2="43439"/>
                        <a14:foregroundMark x1="72807" y1="43891" x2="86550" y2="45249"/>
                        <a14:foregroundMark x1="78363" y1="43439" x2="78363" y2="43439"/>
                        <a14:foregroundMark x1="80994" y1="43891" x2="81579" y2="43891"/>
                        <a14:foregroundMark x1="83041" y1="43891" x2="83626" y2="43891"/>
                        <a14:foregroundMark x1="85380" y1="43891" x2="85380" y2="43891"/>
                        <a14:foregroundMark x1="85965" y1="43891" x2="85965" y2="43891"/>
                        <a14:foregroundMark x1="77193" y1="43439" x2="77193" y2="43439"/>
                        <a14:foregroundMark x1="76023" y1="43439" x2="76023" y2="43439"/>
                        <a14:foregroundMark x1="75731" y1="43439" x2="75731" y2="43439"/>
                        <a14:foregroundMark x1="80117" y1="43891" x2="80117" y2="43891"/>
                        <a14:foregroundMark x1="66374" y1="43439" x2="66374" y2="43439"/>
                        <a14:foregroundMark x1="66082" y1="43439" x2="66082" y2="43439"/>
                        <a14:foregroundMark x1="30117" y1="86878" x2="31287" y2="87330"/>
                        <a14:foregroundMark x1="33041" y1="87783" x2="33041" y2="87783"/>
                        <a14:foregroundMark x1="32749" y1="86425" x2="32749" y2="86425"/>
                        <a14:foregroundMark x1="34503" y1="86425" x2="35088" y2="86425"/>
                        <a14:foregroundMark x1="37427" y1="85973" x2="38012" y2="85973"/>
                        <a14:foregroundMark x1="40643" y1="85973" x2="40643" y2="85973"/>
                        <a14:foregroundMark x1="42690" y1="86878" x2="42690" y2="86878"/>
                        <a14:foregroundMark x1="43860" y1="86878" x2="43860" y2="86878"/>
                        <a14:foregroundMark x1="44737" y1="86878" x2="45322" y2="86878"/>
                        <a14:foregroundMark x1="45906" y1="85973" x2="45906" y2="85973"/>
                        <a14:foregroundMark x1="46491" y1="86425" x2="47953" y2="86425"/>
                        <a14:foregroundMark x1="48246" y1="86425" x2="48246" y2="86425"/>
                        <a14:foregroundMark x1="50292" y1="85973" x2="50292" y2="85973"/>
                        <a14:foregroundMark x1="51462" y1="86425" x2="51462" y2="86425"/>
                        <a14:foregroundMark x1="43860" y1="85520" x2="43860" y2="85520"/>
                        <a14:foregroundMark x1="42398" y1="86425" x2="42398" y2="86425"/>
                        <a14:foregroundMark x1="36842" y1="86425" x2="36842" y2="86425"/>
                        <a14:foregroundMark x1="18129" y1="56561" x2="26608" y2="56561"/>
                        <a14:foregroundMark x1="16667" y1="76018" x2="28655" y2="76471"/>
                        <a14:foregroundMark x1="17836" y1="38914" x2="27485" y2="3981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68936" y="1947916"/>
            <a:ext cx="4468383" cy="2642126"/>
          </a:xfrm>
          <a:prstGeom prst="rect">
            <a:avLst/>
          </a:prstGeom>
        </p:spPr>
      </p:pic>
      <p:sp>
        <p:nvSpPr>
          <p:cNvPr id="67" name="Freeform 12">
            <a:extLst>
              <a:ext uri="{FF2B5EF4-FFF2-40B4-BE49-F238E27FC236}">
                <a16:creationId xmlns:a16="http://schemas.microsoft.com/office/drawing/2014/main" id="{7D9439D6-DEAD-4CEB-A61B-BE3D64D1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46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DCA4-AFB9-4855-ABD4-24CC1212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MIMD:</a:t>
            </a:r>
            <a:endParaRPr lang="en-P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EC2E8E-4C98-4D8B-B2A0-621C7900E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1200" y="1491184"/>
            <a:ext cx="8323263" cy="4564606"/>
          </a:xfrm>
        </p:spPr>
      </p:pic>
    </p:spTree>
    <p:extLst>
      <p:ext uri="{BB962C8B-B14F-4D97-AF65-F5344CB8AC3E}">
        <p14:creationId xmlns:p14="http://schemas.microsoft.com/office/powerpoint/2010/main" val="2793372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1EDD21E1-BAF0-4314-AB31-82ECB8AC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645106"/>
            <a:ext cx="5577839" cy="1259894"/>
          </a:xfrm>
        </p:spPr>
        <p:txBody>
          <a:bodyPr>
            <a:normAutofit/>
          </a:bodyPr>
          <a:lstStyle/>
          <a:p>
            <a:r>
              <a:rPr lang="en-US" dirty="0"/>
              <a:t>Flynn’s Taxonomy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DC8619C-F25D-468E-95FA-2A2151D7D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7" name="Freeform 12">
            <a:extLst>
              <a:ext uri="{FF2B5EF4-FFF2-40B4-BE49-F238E27FC236}">
                <a16:creationId xmlns:a16="http://schemas.microsoft.com/office/drawing/2014/main" id="{7D9439D6-DEAD-4CEB-A61B-BE3D64D1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4" descr="simd-mimd">
            <a:extLst>
              <a:ext uri="{FF2B5EF4-FFF2-40B4-BE49-F238E27FC236}">
                <a16:creationId xmlns:a16="http://schemas.microsoft.com/office/drawing/2014/main" id="{CAA68694-9B78-41FE-9548-9B260F8793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546"/>
          <a:stretch>
            <a:fillRect/>
          </a:stretch>
        </p:blipFill>
        <p:spPr>
          <a:xfrm>
            <a:off x="778526" y="1275053"/>
            <a:ext cx="6447151" cy="4557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3" name="Rectangle 6">
            <a:extLst>
              <a:ext uri="{FF2B5EF4-FFF2-40B4-BE49-F238E27FC236}">
                <a16:creationId xmlns:a16="http://schemas.microsoft.com/office/drawing/2014/main" id="{9EF4F46B-6413-4650-A80F-26F0AAC50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687" y="5781191"/>
            <a:ext cx="784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 Unicode MS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A typical SIMD architecture (a) and a typical MIMD architecture (b).</a:t>
            </a:r>
          </a:p>
        </p:txBody>
      </p:sp>
    </p:spTree>
    <p:extLst>
      <p:ext uri="{BB962C8B-B14F-4D97-AF65-F5344CB8AC3E}">
        <p14:creationId xmlns:p14="http://schemas.microsoft.com/office/powerpoint/2010/main" val="444447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AE181687-FF7A-4FEE-9360-C219E1E4B2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SIMD-MIMD Comparison 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DF962481-5990-4026-8C45-6080176E93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SIMD computers require less hardware than MIMD computers (single control unit). </a:t>
            </a:r>
          </a:p>
          <a:p>
            <a:pPr eaLnBrk="1" hangingPunct="1"/>
            <a:r>
              <a:rPr lang="en-US" altLang="en-US" dirty="0"/>
              <a:t>However, since SIMD processors ae specially designed, they tend to be expensive and have long design cycles. </a:t>
            </a:r>
          </a:p>
          <a:p>
            <a:pPr eaLnBrk="1" hangingPunct="1"/>
            <a:r>
              <a:rPr lang="en-US" altLang="en-US" dirty="0"/>
              <a:t>Not all applications are naturally suited to SIMD processors. </a:t>
            </a:r>
          </a:p>
          <a:p>
            <a:pPr eaLnBrk="1" hangingPunct="1"/>
            <a:r>
              <a:rPr lang="en-US" altLang="en-US" dirty="0"/>
              <a:t>In contrast, platforms supporting the SPMD (Same Program Multiple Data) paradigm can be built from inexpensive off-the-shelf components with relatively little effort in a short amount of time. </a:t>
            </a:r>
          </a:p>
          <a:p>
            <a:pPr lvl="1"/>
            <a:r>
              <a:rPr lang="en-US" altLang="en-US" dirty="0"/>
              <a:t>The Term SPMD is close variant of MIMD  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264920" y="2759546"/>
            <a:ext cx="7858668" cy="145275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5000" dirty="0"/>
              <a:t>Physical Organization of Parallel Platforms</a:t>
            </a:r>
          </a:p>
        </p:txBody>
      </p:sp>
    </p:spTree>
    <p:extLst>
      <p:ext uri="{BB962C8B-B14F-4D97-AF65-F5344CB8AC3E}">
        <p14:creationId xmlns:p14="http://schemas.microsoft.com/office/powerpoint/2010/main" val="1524726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889" y="157428"/>
            <a:ext cx="8550111" cy="815755"/>
          </a:xfrm>
        </p:spPr>
        <p:txBody>
          <a:bodyPr>
            <a:normAutofit fontScale="90000"/>
          </a:bodyPr>
          <a:lstStyle/>
          <a:p>
            <a:r>
              <a:rPr lang="en-US" dirty="0"/>
              <a:t>Architecture of an Ideal Parallel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18" y="1329263"/>
            <a:ext cx="8323551" cy="55777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solidFill>
                  <a:srgbClr val="0070C0"/>
                </a:solidFill>
              </a:rPr>
              <a:t>Parallel Random Access Machine (PRAM)</a:t>
            </a:r>
          </a:p>
          <a:p>
            <a:r>
              <a:rPr lang="en-US" altLang="en-US" dirty="0"/>
              <a:t>An extension to ideal sequential model: random access machine (RAM)</a:t>
            </a:r>
          </a:p>
          <a:p>
            <a:r>
              <a:rPr lang="en-US" altLang="en-US" dirty="0"/>
              <a:t>PRAMs consist of </a:t>
            </a:r>
            <a:r>
              <a:rPr lang="en-US" altLang="en-US" b="1" i="1" dirty="0"/>
              <a:t>p</a:t>
            </a:r>
            <a:r>
              <a:rPr lang="en-US" altLang="en-US" dirty="0"/>
              <a:t> processors</a:t>
            </a:r>
          </a:p>
          <a:p>
            <a:r>
              <a:rPr lang="en-US" altLang="en-US" dirty="0"/>
              <a:t>A global memory</a:t>
            </a:r>
          </a:p>
          <a:p>
            <a:pPr lvl="1"/>
            <a:r>
              <a:rPr lang="en-US" altLang="en-US" dirty="0"/>
              <a:t>Unbounded size</a:t>
            </a:r>
          </a:p>
          <a:p>
            <a:pPr lvl="1"/>
            <a:r>
              <a:rPr lang="en-US" altLang="en-US" dirty="0"/>
              <a:t>Uniformly accessible to all processors with same address space</a:t>
            </a:r>
          </a:p>
          <a:p>
            <a:r>
              <a:rPr lang="en-US" altLang="en-US" dirty="0"/>
              <a:t>Processors share a common clock but may execute different instructions in each cycle. </a:t>
            </a:r>
          </a:p>
          <a:p>
            <a:r>
              <a:rPr lang="en-US" altLang="en-US" dirty="0"/>
              <a:t>Based on simultaneous memory access mechanisms, PRAM can further be classified.  </a:t>
            </a:r>
          </a:p>
          <a:p>
            <a:endParaRPr lang="en-US" altLang="en-US" b="1" dirty="0"/>
          </a:p>
          <a:p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973096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D1BF5-8226-499F-9020-4FAEAB96B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representation of PRAM:</a:t>
            </a:r>
            <a:endParaRPr lang="en-PK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48268A6-32FA-4383-A64F-D2C67118DA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48506" y="1558925"/>
            <a:ext cx="8248650" cy="4429125"/>
          </a:xfrm>
        </p:spPr>
      </p:pic>
    </p:spTree>
    <p:extLst>
      <p:ext uri="{BB962C8B-B14F-4D97-AF65-F5344CB8AC3E}">
        <p14:creationId xmlns:p14="http://schemas.microsoft.com/office/powerpoint/2010/main" val="2850901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889" y="142188"/>
            <a:ext cx="8550111" cy="815755"/>
          </a:xfrm>
        </p:spPr>
        <p:txBody>
          <a:bodyPr>
            <a:normAutofit fontScale="90000"/>
          </a:bodyPr>
          <a:lstStyle/>
          <a:p>
            <a:r>
              <a:rPr lang="en-US" dirty="0"/>
              <a:t>Architecture of an Ideal Parallel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18" y="1329263"/>
            <a:ext cx="8323551" cy="55777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en-US" b="1" dirty="0">
                <a:solidFill>
                  <a:srgbClr val="0070C0"/>
                </a:solidFill>
              </a:rPr>
              <a:t>Parallel Random Access Machine (PRAM)</a:t>
            </a:r>
          </a:p>
          <a:p>
            <a:r>
              <a:rPr lang="en-US" altLang="en-US" dirty="0"/>
              <a:t>PRAMs can be divided into four subclasses.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rgbClr val="00B050"/>
                </a:solidFill>
              </a:rPr>
              <a:t>Exclusive-read, exclusive-write (EREW) PRAM </a:t>
            </a:r>
          </a:p>
          <a:p>
            <a:pPr marL="857250" lvl="1" indent="-457200"/>
            <a:r>
              <a:rPr lang="en-US" altLang="en-US" dirty="0"/>
              <a:t>No two processors can perform read/write operations concurrently</a:t>
            </a:r>
          </a:p>
          <a:p>
            <a:pPr marL="857250" lvl="1" indent="-457200"/>
            <a:r>
              <a:rPr lang="en-US" altLang="en-US" dirty="0"/>
              <a:t>Weakest PRAM model, provides minimum memory access concurrency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rgbClr val="00B050"/>
                </a:solidFill>
              </a:rPr>
              <a:t>Concurrent-read, exclusive-write (CREW) PRAM </a:t>
            </a:r>
          </a:p>
          <a:p>
            <a:pPr marL="857250" lvl="1" indent="-457200"/>
            <a:r>
              <a:rPr lang="en-US" altLang="en-US" dirty="0"/>
              <a:t>All processors can read concurrently but can’t write at same time</a:t>
            </a:r>
          </a:p>
          <a:p>
            <a:pPr marL="857250" lvl="1" indent="-457200"/>
            <a:r>
              <a:rPr lang="en-US" altLang="en-US" dirty="0"/>
              <a:t>Multiple write accesses to a memory location are serialized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rgbClr val="00B050"/>
                </a:solidFill>
              </a:rPr>
              <a:t>Exclusive-read, concurrent-write (ERCW) PRAM</a:t>
            </a:r>
          </a:p>
          <a:p>
            <a:pPr marL="857250" lvl="1" indent="-457200"/>
            <a:r>
              <a:rPr lang="en-US" altLang="en-US" dirty="0"/>
              <a:t>No two processors can perform read operations concurrently, but can write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rgbClr val="00B050"/>
                </a:solidFill>
              </a:rPr>
              <a:t>Concurrent-read, concurrent-write (CRCW) PRAM</a:t>
            </a:r>
          </a:p>
          <a:p>
            <a:pPr marL="857250" lvl="1" indent="-457200"/>
            <a:r>
              <a:rPr lang="en-US" altLang="en-US" dirty="0"/>
              <a:t>Most powerful PRAM model </a:t>
            </a:r>
          </a:p>
          <a:p>
            <a:pPr marL="457200" indent="-457200">
              <a:buFont typeface="+mj-lt"/>
              <a:buAutoNum type="arabicPeriod"/>
            </a:pPr>
            <a:endParaRPr lang="en-US" altLang="en-US" b="1" dirty="0"/>
          </a:p>
          <a:p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825468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889" y="142188"/>
            <a:ext cx="8550111" cy="815755"/>
          </a:xfrm>
        </p:spPr>
        <p:txBody>
          <a:bodyPr>
            <a:normAutofit fontScale="90000"/>
          </a:bodyPr>
          <a:lstStyle/>
          <a:p>
            <a:r>
              <a:rPr lang="en-US" dirty="0"/>
              <a:t>Architecture of an Ideal Parallel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18" y="1329263"/>
            <a:ext cx="8323551" cy="55777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/>
              <a:t>Parallel Random Access Machine (PRAM)</a:t>
            </a:r>
          </a:p>
          <a:p>
            <a:r>
              <a:rPr lang="en-US" altLang="en-US" dirty="0"/>
              <a:t>Concurrent reads do not create any semantic inconsistencies</a:t>
            </a:r>
          </a:p>
          <a:p>
            <a:endParaRPr lang="en-US" altLang="en-US" dirty="0"/>
          </a:p>
          <a:p>
            <a:r>
              <a:rPr lang="en-US" altLang="en-US" dirty="0"/>
              <a:t>But, What about concurrent write?</a:t>
            </a:r>
          </a:p>
          <a:p>
            <a:endParaRPr lang="en-US" altLang="en-US" dirty="0"/>
          </a:p>
          <a:p>
            <a:r>
              <a:rPr lang="en-US" altLang="en-US" dirty="0"/>
              <a:t>Need of an arbitration(mediation) mechanism to resolve concurrent write access</a:t>
            </a:r>
          </a:p>
          <a:p>
            <a:pPr lvl="1"/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21214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889" y="142188"/>
            <a:ext cx="8550111" cy="815755"/>
          </a:xfrm>
        </p:spPr>
        <p:txBody>
          <a:bodyPr>
            <a:normAutofit fontScale="90000"/>
          </a:bodyPr>
          <a:lstStyle/>
          <a:p>
            <a:r>
              <a:rPr lang="en-US" dirty="0"/>
              <a:t>Architecture of an Ideal Parallel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889" y="1369423"/>
            <a:ext cx="8323551" cy="64486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/>
              <a:t>Parallel Random Access Machine (PRAM)</a:t>
            </a:r>
          </a:p>
          <a:p>
            <a:r>
              <a:rPr lang="en-US" altLang="en-US" dirty="0"/>
              <a:t>Mostly used arbitration protocols: -</a:t>
            </a:r>
          </a:p>
          <a:p>
            <a:pPr lvl="1"/>
            <a:r>
              <a:rPr lang="en-US" altLang="en-US" sz="2200" b="1" dirty="0">
                <a:solidFill>
                  <a:srgbClr val="00B050"/>
                </a:solidFill>
              </a:rPr>
              <a:t>Common:</a:t>
            </a:r>
            <a:r>
              <a:rPr lang="en-US" altLang="en-US" sz="2200" b="1" dirty="0"/>
              <a:t> </a:t>
            </a:r>
            <a:r>
              <a:rPr lang="en-US" altLang="en-US" sz="2200" dirty="0"/>
              <a:t>write only if all values that the processors are attempting to write are identical</a:t>
            </a:r>
          </a:p>
          <a:p>
            <a:pPr lvl="1"/>
            <a:r>
              <a:rPr lang="en-US" altLang="en-US" sz="2200" b="1" dirty="0">
                <a:solidFill>
                  <a:srgbClr val="00B050"/>
                </a:solidFill>
              </a:rPr>
              <a:t>Arbitrary:</a:t>
            </a:r>
            <a:r>
              <a:rPr lang="en-US" altLang="en-US" sz="2200" dirty="0"/>
              <a:t> write the data from a randomly selected processor and ignore the rest.</a:t>
            </a:r>
          </a:p>
          <a:p>
            <a:pPr lvl="1"/>
            <a:r>
              <a:rPr lang="en-US" altLang="en-US" sz="2200" b="1" dirty="0">
                <a:solidFill>
                  <a:srgbClr val="00B050"/>
                </a:solidFill>
              </a:rPr>
              <a:t>Priority:</a:t>
            </a:r>
            <a:r>
              <a:rPr lang="en-US" altLang="en-US" sz="2200" dirty="0"/>
              <a:t> follow a predetermined priority order. Processor with highest priority succeeds and the rest fail.</a:t>
            </a:r>
          </a:p>
          <a:p>
            <a:pPr lvl="1"/>
            <a:r>
              <a:rPr lang="en-US" altLang="en-US" sz="2200" b="1" dirty="0">
                <a:solidFill>
                  <a:srgbClr val="00B050"/>
                </a:solidFill>
              </a:rPr>
              <a:t>Sum:</a:t>
            </a:r>
            <a:r>
              <a:rPr lang="en-US" altLang="en-US" sz="2200" dirty="0"/>
              <a:t> Write the sum of the data items in all the write requests.  The sum-based write conflict resolution model can be extended for any of the associative operators, that is defined for data being written  </a:t>
            </a:r>
            <a:r>
              <a:rPr lang="en-US" altLang="en-US" dirty="0"/>
              <a:t>.   </a:t>
            </a:r>
          </a:p>
          <a:p>
            <a:endParaRPr lang="en-US" altLang="en-US" dirty="0"/>
          </a:p>
          <a:p>
            <a:endParaRPr lang="en-US" altLang="en-US" b="1" dirty="0"/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712844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889" y="142188"/>
            <a:ext cx="8550111" cy="815755"/>
          </a:xfrm>
        </p:spPr>
        <p:txBody>
          <a:bodyPr>
            <a:normAutofit fontScale="90000"/>
          </a:bodyPr>
          <a:lstStyle/>
          <a:p>
            <a:r>
              <a:rPr lang="en-US" dirty="0"/>
              <a:t>Architecture of an Ideal Parallel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18" y="1329263"/>
            <a:ext cx="8323551" cy="55777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</a:rPr>
              <a:t>Physical Complexity of an Ideal Parallel Computer </a:t>
            </a:r>
          </a:p>
          <a:p>
            <a:endParaRPr lang="en-US" altLang="en-US" dirty="0"/>
          </a:p>
          <a:p>
            <a:r>
              <a:rPr lang="en-US" altLang="en-US" dirty="0"/>
              <a:t>Processors and memories are connected via switches.</a:t>
            </a:r>
          </a:p>
          <a:p>
            <a:r>
              <a:rPr lang="en-US" altLang="en-US" dirty="0"/>
              <a:t>Since these switches must operate in </a:t>
            </a:r>
            <a:r>
              <a:rPr lang="en-US" altLang="en-US" i="1" dirty="0"/>
              <a:t>O(1)</a:t>
            </a:r>
            <a:r>
              <a:rPr lang="en-US" altLang="en-US" dirty="0"/>
              <a:t> time at the level of words, for a system of </a:t>
            </a:r>
            <a:r>
              <a:rPr lang="en-US" altLang="en-US" i="1" dirty="0"/>
              <a:t>p</a:t>
            </a:r>
            <a:r>
              <a:rPr lang="en-US" altLang="en-US" dirty="0"/>
              <a:t> processors and </a:t>
            </a:r>
            <a:r>
              <a:rPr lang="en-US" altLang="en-US" i="1" dirty="0"/>
              <a:t>m</a:t>
            </a:r>
            <a:r>
              <a:rPr lang="en-US" altLang="en-US" dirty="0"/>
              <a:t> words, the switch complexity is </a:t>
            </a:r>
            <a:r>
              <a:rPr lang="en-US" altLang="en-US" i="1" dirty="0"/>
              <a:t>O(</a:t>
            </a:r>
            <a:r>
              <a:rPr lang="en-US" altLang="en-US" i="1" dirty="0" err="1"/>
              <a:t>mp</a:t>
            </a:r>
            <a:r>
              <a:rPr lang="en-US" altLang="en-US" i="1" dirty="0"/>
              <a:t>).</a:t>
            </a:r>
          </a:p>
          <a:p>
            <a:r>
              <a:rPr lang="en-US" altLang="en-US" dirty="0"/>
              <a:t>Clearly, for meaningful values of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m</a:t>
            </a:r>
            <a:r>
              <a:rPr lang="en-US" altLang="en-US" dirty="0"/>
              <a:t>, a true PRAM is not realizable.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401366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2" name="Freeform 6">
            <a:extLst>
              <a:ext uri="{FF2B5EF4-FFF2-40B4-BE49-F238E27FC236}">
                <a16:creationId xmlns:a16="http://schemas.microsoft.com/office/drawing/2014/main" id="{5BD23F8E-2E78-4C84-8EFB-FE6C8ACB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F81819F9-8CAC-4A6C-8F06-0482027F9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214644" y="2759546"/>
            <a:ext cx="6908944" cy="145275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5000" dirty="0"/>
              <a:t>Communication Costs in Parallel Machines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A98CC08-AEC2-4E8F-8F52-0F5C6372D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3863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D1545E6-EB3C-4478-A661-A2CA963F1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49" name="Freeform 11">
              <a:extLst>
                <a:ext uri="{FF2B5EF4-FFF2-40B4-BE49-F238E27FC236}">
                  <a16:creationId xmlns:a16="http://schemas.microsoft.com/office/drawing/2014/main" id="{B2E5B960-0C5D-4F77-8E9F-9F3D883D8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12">
              <a:extLst>
                <a:ext uri="{FF2B5EF4-FFF2-40B4-BE49-F238E27FC236}">
                  <a16:creationId xmlns:a16="http://schemas.microsoft.com/office/drawing/2014/main" id="{258E44FC-92AD-43A0-BB05-DB268C82D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13">
              <a:extLst>
                <a:ext uri="{FF2B5EF4-FFF2-40B4-BE49-F238E27FC236}">
                  <a16:creationId xmlns:a16="http://schemas.microsoft.com/office/drawing/2014/main" id="{C63D3083-A56C-4199-8DE0-63C8BE9ED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14">
              <a:extLst>
                <a:ext uri="{FF2B5EF4-FFF2-40B4-BE49-F238E27FC236}">
                  <a16:creationId xmlns:a16="http://schemas.microsoft.com/office/drawing/2014/main" id="{C7CD3581-635D-438F-A64F-68404E7AE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15">
              <a:extLst>
                <a:ext uri="{FF2B5EF4-FFF2-40B4-BE49-F238E27FC236}">
                  <a16:creationId xmlns:a16="http://schemas.microsoft.com/office/drawing/2014/main" id="{AD6904C0-211C-41A2-BDB8-3B07C90BB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B0837DA6-CAF9-4E78-A39E-6358EDE2B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17">
              <a:extLst>
                <a:ext uri="{FF2B5EF4-FFF2-40B4-BE49-F238E27FC236}">
                  <a16:creationId xmlns:a16="http://schemas.microsoft.com/office/drawing/2014/main" id="{0A99DD7D-3AB3-471E-842F-8AFEA09D0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18">
              <a:extLst>
                <a:ext uri="{FF2B5EF4-FFF2-40B4-BE49-F238E27FC236}">
                  <a16:creationId xmlns:a16="http://schemas.microsoft.com/office/drawing/2014/main" id="{9C70B0D4-92FE-478F-86BD-93BA2C4DF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19">
              <a:extLst>
                <a:ext uri="{FF2B5EF4-FFF2-40B4-BE49-F238E27FC236}">
                  <a16:creationId xmlns:a16="http://schemas.microsoft.com/office/drawing/2014/main" id="{C9156BE6-11D4-4696-9E3F-C325BFAC81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20">
              <a:extLst>
                <a:ext uri="{FF2B5EF4-FFF2-40B4-BE49-F238E27FC236}">
                  <a16:creationId xmlns:a16="http://schemas.microsoft.com/office/drawing/2014/main" id="{4E667226-1D20-4A9D-BBE3-AC17EA436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21">
              <a:extLst>
                <a:ext uri="{FF2B5EF4-FFF2-40B4-BE49-F238E27FC236}">
                  <a16:creationId xmlns:a16="http://schemas.microsoft.com/office/drawing/2014/main" id="{2F87E3B6-5202-4434-9B26-42B46774F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22">
              <a:extLst>
                <a:ext uri="{FF2B5EF4-FFF2-40B4-BE49-F238E27FC236}">
                  <a16:creationId xmlns:a16="http://schemas.microsoft.com/office/drawing/2014/main" id="{AEA5E85F-F1F4-40E4-A62C-95324F674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0A75861-F6C5-44A9-B161-B03701CBD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72EE642D-4F69-47C0-99BA-CE4350357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26178CE4-DA2D-46EA-AB8D-341C5AC56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698E9F53-8381-4FA5-A510-846925D24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6" name="Freeform 30">
              <a:extLst>
                <a:ext uri="{FF2B5EF4-FFF2-40B4-BE49-F238E27FC236}">
                  <a16:creationId xmlns:a16="http://schemas.microsoft.com/office/drawing/2014/main" id="{B13CE284-F21E-411B-BB8E-9C03B853C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7" name="Freeform 31">
              <a:extLst>
                <a:ext uri="{FF2B5EF4-FFF2-40B4-BE49-F238E27FC236}">
                  <a16:creationId xmlns:a16="http://schemas.microsoft.com/office/drawing/2014/main" id="{23DF4578-4703-437C-A797-2A2D0CEE5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8" name="Freeform 32">
              <a:extLst>
                <a:ext uri="{FF2B5EF4-FFF2-40B4-BE49-F238E27FC236}">
                  <a16:creationId xmlns:a16="http://schemas.microsoft.com/office/drawing/2014/main" id="{F878F330-AF64-4F8F-88FD-A4A408D6D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9" name="Freeform 33">
              <a:extLst>
                <a:ext uri="{FF2B5EF4-FFF2-40B4-BE49-F238E27FC236}">
                  <a16:creationId xmlns:a16="http://schemas.microsoft.com/office/drawing/2014/main" id="{AC9B00BF-4FB7-42FA-BBBD-7DB54ED3F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0" name="Freeform 34">
              <a:extLst>
                <a:ext uri="{FF2B5EF4-FFF2-40B4-BE49-F238E27FC236}">
                  <a16:creationId xmlns:a16="http://schemas.microsoft.com/office/drawing/2014/main" id="{BD3D64CA-2AAD-4609-8DAA-3EAD4609A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1" name="Freeform 35">
              <a:extLst>
                <a:ext uri="{FF2B5EF4-FFF2-40B4-BE49-F238E27FC236}">
                  <a16:creationId xmlns:a16="http://schemas.microsoft.com/office/drawing/2014/main" id="{C669E05A-8550-4E91-B29E-E1912228E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2" name="Freeform 36">
              <a:extLst>
                <a:ext uri="{FF2B5EF4-FFF2-40B4-BE49-F238E27FC236}">
                  <a16:creationId xmlns:a16="http://schemas.microsoft.com/office/drawing/2014/main" id="{F8C1FD53-1E8F-46CA-BC2D-FCEC4DAE0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3" name="Freeform 37">
              <a:extLst>
                <a:ext uri="{FF2B5EF4-FFF2-40B4-BE49-F238E27FC236}">
                  <a16:creationId xmlns:a16="http://schemas.microsoft.com/office/drawing/2014/main" id="{CC97A31F-CFDE-4EA3-98F1-13FDD1670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4" name="Freeform 38">
              <a:extLst>
                <a:ext uri="{FF2B5EF4-FFF2-40B4-BE49-F238E27FC236}">
                  <a16:creationId xmlns:a16="http://schemas.microsoft.com/office/drawing/2014/main" id="{9E1540E7-E6C3-4907-B70A-B17568365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6" name="Freeform 11">
            <a:extLst>
              <a:ext uri="{FF2B5EF4-FFF2-40B4-BE49-F238E27FC236}">
                <a16:creationId xmlns:a16="http://schemas.microsoft.com/office/drawing/2014/main" id="{1310EFE2-B91D-47E7-B117-C2A802800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411452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3621006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18" y="142188"/>
            <a:ext cx="8323552" cy="81575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Communication Costs in Parallel Machines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dirty="0"/>
              <a:t>Along with </a:t>
            </a:r>
            <a:r>
              <a:rPr lang="en-US" altLang="en-US" dirty="0">
                <a:highlight>
                  <a:srgbClr val="FFFF00"/>
                </a:highlight>
              </a:rPr>
              <a:t>idling</a:t>
            </a:r>
            <a:r>
              <a:rPr lang="en-US" altLang="en-US" dirty="0"/>
              <a:t> (doing nothing) and </a:t>
            </a:r>
            <a:r>
              <a:rPr lang="en-US" altLang="en-US" dirty="0">
                <a:highlight>
                  <a:srgbClr val="FFFF00"/>
                </a:highlight>
              </a:rPr>
              <a:t>contention </a:t>
            </a:r>
            <a:r>
              <a:rPr lang="en-US" altLang="en-US" dirty="0"/>
              <a:t>(conflict e.g., resource allocation), </a:t>
            </a:r>
            <a:r>
              <a:rPr lang="en-US" altLang="en-US" b="1" dirty="0">
                <a:highlight>
                  <a:srgbClr val="FFFF00"/>
                </a:highlight>
              </a:rPr>
              <a:t>communication</a:t>
            </a:r>
            <a:r>
              <a:rPr lang="en-US" altLang="en-US" dirty="0"/>
              <a:t> is a major overhead in parallel programs. </a:t>
            </a:r>
          </a:p>
          <a:p>
            <a:pPr algn="just"/>
            <a:r>
              <a:rPr lang="en-US" altLang="en-US" dirty="0"/>
              <a:t>The communication cost  is usually dependent on a number of features including the following:</a:t>
            </a:r>
          </a:p>
          <a:p>
            <a:pPr lvl="1" algn="just"/>
            <a:r>
              <a:rPr lang="en-US" altLang="en-US" dirty="0"/>
              <a:t>Programming model for communication</a:t>
            </a:r>
          </a:p>
          <a:p>
            <a:pPr lvl="1" algn="just"/>
            <a:r>
              <a:rPr lang="en-US" altLang="en-US" dirty="0"/>
              <a:t>Network topology</a:t>
            </a:r>
          </a:p>
          <a:p>
            <a:pPr lvl="1" algn="just"/>
            <a:r>
              <a:rPr lang="en-US" altLang="en-US" dirty="0"/>
              <a:t>Data handling and routing</a:t>
            </a:r>
          </a:p>
          <a:p>
            <a:pPr lvl="1" algn="just"/>
            <a:r>
              <a:rPr lang="en-US" altLang="en-US" dirty="0"/>
              <a:t>Associated network protocols</a:t>
            </a:r>
          </a:p>
          <a:p>
            <a:pPr algn="just"/>
            <a:r>
              <a:rPr lang="en-US" altLang="en-US" dirty="0"/>
              <a:t> Usually, distributed systems suffer from major communication overheads.</a:t>
            </a:r>
          </a:p>
          <a:p>
            <a:pPr algn="just"/>
            <a:endParaRPr lang="en-US" altLang="en-US" dirty="0"/>
          </a:p>
          <a:p>
            <a:pPr algn="just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972508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18" y="142188"/>
            <a:ext cx="8323552" cy="81575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Message Passing Costs in Parallel Computers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dirty="0"/>
              <a:t>The total time to transfer a message over a network comprises of the following:</a:t>
            </a:r>
          </a:p>
          <a:p>
            <a:pPr lvl="1"/>
            <a:r>
              <a:rPr lang="en-US" altLang="en-US" b="1" i="1" dirty="0"/>
              <a:t>Startup time </a:t>
            </a:r>
            <a:r>
              <a:rPr lang="en-US" altLang="en-US" b="1" dirty="0"/>
              <a:t>(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s</a:t>
            </a:r>
            <a:r>
              <a:rPr lang="en-US" altLang="en-US" b="1" dirty="0"/>
              <a:t>):</a:t>
            </a:r>
            <a:r>
              <a:rPr lang="en-US" altLang="en-US" dirty="0"/>
              <a:t> Time spent at sending and receiving nodes (preparing the message[adding headers, trailers, and parity information ] , executing the routing algorithm, establishing interface between node and router, etc.).</a:t>
            </a:r>
          </a:p>
          <a:p>
            <a:pPr lvl="1"/>
            <a:r>
              <a:rPr lang="en-US" altLang="en-US" b="1" i="1" dirty="0"/>
              <a:t>Per-hop time </a:t>
            </a:r>
            <a:r>
              <a:rPr lang="en-US" altLang="en-US" b="1" dirty="0"/>
              <a:t>(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h</a:t>
            </a:r>
            <a:r>
              <a:rPr lang="en-US" altLang="en-US" b="1" dirty="0"/>
              <a:t>):</a:t>
            </a:r>
            <a:r>
              <a:rPr lang="en-US" altLang="en-US" dirty="0"/>
              <a:t> This time is a function of number of hops (steps) and includes factors such as switch latencies, network delays, etc. </a:t>
            </a:r>
          </a:p>
          <a:p>
            <a:pPr lvl="2"/>
            <a:r>
              <a:rPr lang="en-US" altLang="en-US" dirty="0"/>
              <a:t>Also known as </a:t>
            </a:r>
            <a:r>
              <a:rPr lang="en-US" altLang="en-US" b="1" dirty="0"/>
              <a:t>node latency</a:t>
            </a:r>
            <a:r>
              <a:rPr lang="en-US" altLang="en-US" dirty="0"/>
              <a:t>. </a:t>
            </a:r>
          </a:p>
          <a:p>
            <a:pPr lvl="1"/>
            <a:r>
              <a:rPr lang="en-US" altLang="en-US" b="1" i="1" dirty="0"/>
              <a:t>Per-word transfer time </a:t>
            </a:r>
            <a:r>
              <a:rPr lang="en-US" altLang="en-US" b="1" dirty="0"/>
              <a:t>(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w</a:t>
            </a:r>
            <a:r>
              <a:rPr lang="en-US" altLang="en-US" b="1" dirty="0"/>
              <a:t>):</a:t>
            </a:r>
            <a:r>
              <a:rPr lang="en-US" altLang="en-US" dirty="0"/>
              <a:t> This time includes all overheads that are determined by the length of the message. This includes bandwidth of links, and buffering overheads, etc.</a:t>
            </a:r>
          </a:p>
          <a:p>
            <a:pPr lvl="1" algn="just"/>
            <a:endParaRPr lang="en-US" altLang="en-US" dirty="0"/>
          </a:p>
          <a:p>
            <a:pPr lvl="1" algn="just"/>
            <a:endParaRPr lang="en-US" altLang="en-US" dirty="0"/>
          </a:p>
          <a:p>
            <a:pPr algn="just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71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18" y="142188"/>
            <a:ext cx="8323552" cy="81575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Message Passing Costs in Parallel Computers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/>
              <a:t>Store-and-Forward Routing</a:t>
            </a:r>
          </a:p>
          <a:p>
            <a:r>
              <a:rPr lang="en-US" altLang="en-US" dirty="0"/>
              <a:t>A message traversing multiple hops is completely received at an intermediate hop before being forwarded to the next hop.</a:t>
            </a:r>
          </a:p>
          <a:p>
            <a:r>
              <a:rPr lang="en-US" altLang="en-US" dirty="0"/>
              <a:t>The total communication cost for a message of size </a:t>
            </a:r>
            <a:r>
              <a:rPr lang="en-US" altLang="en-US" b="1" i="1" dirty="0"/>
              <a:t>m</a:t>
            </a:r>
            <a:r>
              <a:rPr lang="en-US" altLang="en-US" i="1" dirty="0"/>
              <a:t> </a:t>
            </a:r>
            <a:r>
              <a:rPr lang="en-US" altLang="en-US" dirty="0"/>
              <a:t>words to traverse </a:t>
            </a:r>
            <a:r>
              <a:rPr lang="en-US" altLang="en-US" b="1" i="1" dirty="0"/>
              <a:t>l</a:t>
            </a:r>
            <a:r>
              <a:rPr lang="en-US" altLang="en-US" i="1" dirty="0"/>
              <a:t> </a:t>
            </a:r>
            <a:r>
              <a:rPr lang="en-US" altLang="en-US" dirty="0"/>
              <a:t>communication links is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In most platforms, 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h</a:t>
            </a:r>
            <a:r>
              <a:rPr lang="en-US" altLang="en-US" dirty="0"/>
              <a:t> is small and the above expression can be approximated by</a:t>
            </a:r>
          </a:p>
          <a:p>
            <a:endParaRPr lang="en-US" altLang="en-US" dirty="0"/>
          </a:p>
          <a:p>
            <a:endParaRPr lang="en-US" b="1" dirty="0"/>
          </a:p>
        </p:txBody>
      </p:sp>
      <p:pic>
        <p:nvPicPr>
          <p:cNvPr id="7" name="Picture 8" descr="img91">
            <a:extLst>
              <a:ext uri="{FF2B5EF4-FFF2-40B4-BE49-F238E27FC236}">
                <a16:creationId xmlns:a16="http://schemas.microsoft.com/office/drawing/2014/main" id="{883ED7B8-B71F-4E95-B299-B0D085D89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300" y="3918857"/>
            <a:ext cx="35814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1" descr="img92">
            <a:extLst>
              <a:ext uri="{FF2B5EF4-FFF2-40B4-BE49-F238E27FC236}">
                <a16:creationId xmlns:a16="http://schemas.microsoft.com/office/drawing/2014/main" id="{837345C9-839D-4D58-B1F3-88740905D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5279036"/>
            <a:ext cx="268605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40896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18" y="142188"/>
            <a:ext cx="8323552" cy="81575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Message Passing Costs in Parallel Computers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18" y="1280277"/>
            <a:ext cx="8323551" cy="55777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/>
              <a:t>Packet Routing</a:t>
            </a:r>
          </a:p>
          <a:p>
            <a:r>
              <a:rPr lang="en-US" altLang="en-US" dirty="0"/>
              <a:t>Store-and-forward makes poor use of communication resources. </a:t>
            </a:r>
          </a:p>
          <a:p>
            <a:r>
              <a:rPr lang="en-US" altLang="en-US" dirty="0"/>
              <a:t>Packet routing breaks messages into packets and pipelines them through the network. </a:t>
            </a:r>
          </a:p>
          <a:p>
            <a:r>
              <a:rPr lang="en-US" altLang="en-US" dirty="0"/>
              <a:t>Since packets may take different paths, each packet must carry routing information, error checking, sequencing, and other related header information. </a:t>
            </a:r>
          </a:p>
          <a:p>
            <a:r>
              <a:rPr lang="en-US" altLang="en-US" dirty="0"/>
              <a:t>The total communication time for packet routing is approximated by: </a:t>
            </a:r>
          </a:p>
          <a:p>
            <a:r>
              <a:rPr lang="en-US" altLang="en-US" dirty="0"/>
              <a:t>Here factor </a:t>
            </a:r>
            <a:r>
              <a:rPr lang="en-US" altLang="en-US" b="1" i="1" dirty="0" err="1"/>
              <a:t>t</a:t>
            </a:r>
            <a:r>
              <a:rPr lang="en-US" altLang="en-US" b="1" i="1" baseline="-25000" dirty="0" err="1"/>
              <a:t>w</a:t>
            </a:r>
            <a:r>
              <a:rPr lang="en-US" altLang="en-US" dirty="0"/>
              <a:t> also accounts for overheads in packet headers.</a:t>
            </a:r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F63E9-91E2-4978-A1B1-A1CFC3EB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pic>
        <p:nvPicPr>
          <p:cNvPr id="9" name="Picture 7" descr="img95">
            <a:extLst>
              <a:ext uri="{FF2B5EF4-FFF2-40B4-BE49-F238E27FC236}">
                <a16:creationId xmlns:a16="http://schemas.microsoft.com/office/drawing/2014/main" id="{8143F665-6287-4510-93F4-39E9534D7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28369" y="5247559"/>
            <a:ext cx="33337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12774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18" y="142188"/>
            <a:ext cx="8323552" cy="81575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Message Passing Costs in Parallel Computers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18" y="1280277"/>
            <a:ext cx="8323551" cy="55777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/>
              <a:t>Cut-Through Routing</a:t>
            </a:r>
            <a:r>
              <a:rPr lang="en-US" altLang="en-US" dirty="0"/>
              <a:t> </a:t>
            </a:r>
          </a:p>
          <a:p>
            <a:r>
              <a:rPr lang="en-US" altLang="en-US" dirty="0"/>
              <a:t>Takes the concept of packet routing to an extreme by further dividing messages into basic units called </a:t>
            </a:r>
            <a:r>
              <a:rPr lang="en-US" altLang="en-US" b="1" dirty="0"/>
              <a:t>flits</a:t>
            </a:r>
            <a:r>
              <a:rPr lang="en-US" altLang="en-US" dirty="0"/>
              <a:t> or flow control digits. </a:t>
            </a:r>
          </a:p>
          <a:p>
            <a:r>
              <a:rPr lang="en-US" altLang="en-US" dirty="0"/>
              <a:t>Since flits are typically small, the header information must be minimized. </a:t>
            </a:r>
          </a:p>
          <a:p>
            <a:r>
              <a:rPr lang="en-US" altLang="en-US" dirty="0"/>
              <a:t>This is done by forcing all flits to take the same path, in sequence. </a:t>
            </a:r>
          </a:p>
          <a:p>
            <a:r>
              <a:rPr lang="en-US" altLang="en-US" dirty="0"/>
              <a:t>A tracer message first programs all intermediate routers. All flits then take the same route. </a:t>
            </a:r>
          </a:p>
          <a:p>
            <a:r>
              <a:rPr lang="en-US" altLang="en-US" dirty="0"/>
              <a:t>Error checks are performed on the entire message, as opposed to flits. </a:t>
            </a:r>
          </a:p>
          <a:p>
            <a:r>
              <a:rPr lang="en-US" altLang="en-US" dirty="0"/>
              <a:t>No sequence numbers are needed. 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570738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18" y="142188"/>
            <a:ext cx="8323552" cy="81575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Message Passing Costs in Parallel Computers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18" y="1280277"/>
            <a:ext cx="8323551" cy="55777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/>
              <a:t>Cut-Through Routing</a:t>
            </a:r>
            <a:r>
              <a:rPr lang="en-US" altLang="en-US" dirty="0"/>
              <a:t> </a:t>
            </a:r>
          </a:p>
          <a:p>
            <a:r>
              <a:rPr lang="en-US" altLang="en-US" dirty="0"/>
              <a:t>The total communication time for cut-through routing is approximated by: 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altLang="en-US" dirty="0"/>
              <a:t>This is identical to packet routing, however,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w</a:t>
            </a:r>
            <a:r>
              <a:rPr lang="en-US" altLang="en-US" dirty="0"/>
              <a:t> is typically much smaller.</a:t>
            </a:r>
            <a:endParaRPr lang="en-US" b="1" dirty="0"/>
          </a:p>
        </p:txBody>
      </p:sp>
      <p:pic>
        <p:nvPicPr>
          <p:cNvPr id="7" name="Picture 7" descr="img95">
            <a:extLst>
              <a:ext uri="{FF2B5EF4-FFF2-40B4-BE49-F238E27FC236}">
                <a16:creationId xmlns:a16="http://schemas.microsoft.com/office/drawing/2014/main" id="{3DA518EC-6886-41ED-AB2E-9ECF37425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59529" y="2800350"/>
            <a:ext cx="33337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63622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18" y="142188"/>
            <a:ext cx="8323552" cy="81575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Message Passing Costs in Parallel Computers</a:t>
            </a:r>
            <a:endParaRPr lang="en-US" dirty="0"/>
          </a:p>
        </p:txBody>
      </p:sp>
      <p:pic>
        <p:nvPicPr>
          <p:cNvPr id="8" name="Picture 5" descr="routing">
            <a:extLst>
              <a:ext uri="{FF2B5EF4-FFF2-40B4-BE49-F238E27FC236}">
                <a16:creationId xmlns:a16="http://schemas.microsoft.com/office/drawing/2014/main" id="{8375F00D-4D7B-43CA-88B5-79DEC077B5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0" t="-2315" r="-2130" b="-2315"/>
          <a:stretch>
            <a:fillRect/>
          </a:stretch>
        </p:blipFill>
        <p:spPr>
          <a:xfrm>
            <a:off x="4676634" y="690292"/>
            <a:ext cx="4475465" cy="590005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D71461F-4732-4392-AF63-B53EE2F3F405}"/>
              </a:ext>
            </a:extLst>
          </p:cNvPr>
          <p:cNvSpPr/>
          <p:nvPr/>
        </p:nvSpPr>
        <p:spPr>
          <a:xfrm>
            <a:off x="104634" y="162340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dirty="0"/>
              <a:t>(a) through a store-and-forward communication network;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2B89E9-0D60-4B76-B01B-5C9C7B08B1EC}"/>
              </a:ext>
            </a:extLst>
          </p:cNvPr>
          <p:cNvSpPr/>
          <p:nvPr/>
        </p:nvSpPr>
        <p:spPr>
          <a:xfrm>
            <a:off x="104634" y="343240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dirty="0"/>
              <a:t>b) and (c) extending the concept to cut-through routing.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6350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18" y="142188"/>
            <a:ext cx="8323552" cy="81575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Message Passing Costs in Parallel Computers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18" y="1280277"/>
            <a:ext cx="8323551" cy="55777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/>
              <a:t>Simplified Cost Model for Communicating Messages</a:t>
            </a:r>
            <a:r>
              <a:rPr lang="en-US" altLang="en-US" dirty="0"/>
              <a:t> </a:t>
            </a:r>
          </a:p>
          <a:p>
            <a:r>
              <a:rPr lang="en-US" altLang="en-US" dirty="0"/>
              <a:t>The cost of communicating a message between two nodes </a:t>
            </a:r>
            <a:r>
              <a:rPr lang="en-US" altLang="en-US" i="1" dirty="0"/>
              <a:t>l </a:t>
            </a:r>
            <a:r>
              <a:rPr lang="en-US" altLang="en-US" dirty="0"/>
              <a:t>hops away using cut-through routing is given by</a:t>
            </a:r>
          </a:p>
          <a:p>
            <a:endParaRPr lang="en-US" altLang="en-US" dirty="0"/>
          </a:p>
          <a:p>
            <a:r>
              <a:rPr lang="en-US" altLang="en-US" dirty="0"/>
              <a:t>In this expression,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h</a:t>
            </a:r>
            <a:r>
              <a:rPr lang="en-US" altLang="en-US" dirty="0"/>
              <a:t> is typically smaller than</a:t>
            </a:r>
            <a:r>
              <a:rPr lang="en-US" altLang="en-US" i="1" dirty="0"/>
              <a:t>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s</a:t>
            </a:r>
            <a:r>
              <a:rPr lang="en-US" altLang="en-US" dirty="0"/>
              <a:t> and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w</a:t>
            </a:r>
            <a:r>
              <a:rPr lang="en-US" altLang="en-US" dirty="0"/>
              <a:t>. For this reason, the second term in the RHS does not show, particularly, when </a:t>
            </a:r>
            <a:r>
              <a:rPr lang="en-US" altLang="en-US" i="1" dirty="0"/>
              <a:t>m</a:t>
            </a:r>
            <a:r>
              <a:rPr lang="en-US" altLang="en-US" dirty="0"/>
              <a:t> is large.</a:t>
            </a:r>
          </a:p>
          <a:p>
            <a:endParaRPr lang="en-US" altLang="en-US" dirty="0"/>
          </a:p>
          <a:p>
            <a:r>
              <a:rPr lang="en-US" altLang="en-US" dirty="0"/>
              <a:t>For these reasons, we can approximate the cost of message transfer by</a:t>
            </a:r>
          </a:p>
          <a:p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F63E9-91E2-4978-A1B1-A1CFC3EB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CS3006 -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pic>
        <p:nvPicPr>
          <p:cNvPr id="8" name="Picture 10" descr="img96">
            <a:extLst>
              <a:ext uri="{FF2B5EF4-FFF2-40B4-BE49-F238E27FC236}">
                <a16:creationId xmlns:a16="http://schemas.microsoft.com/office/drawing/2014/main" id="{0F888527-452E-4A49-959D-F30B82751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06118" y="2800350"/>
            <a:ext cx="33337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" name="Picture 12" descr="img97">
            <a:extLst>
              <a:ext uri="{FF2B5EF4-FFF2-40B4-BE49-F238E27FC236}">
                <a16:creationId xmlns:a16="http://schemas.microsoft.com/office/drawing/2014/main" id="{DA6786F1-12F0-4CB3-9C1B-BE616B2A2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06118" y="6087162"/>
            <a:ext cx="2581275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6991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18" y="142188"/>
            <a:ext cx="8323552" cy="81575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Message Passing Costs in Parallel Computers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18" y="1280277"/>
            <a:ext cx="8323551" cy="55777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/>
              <a:t>Simplified Cost Model for Communicating Messages</a:t>
            </a:r>
            <a:r>
              <a:rPr lang="en-US" altLang="en-US" dirty="0"/>
              <a:t> </a:t>
            </a:r>
          </a:p>
          <a:p>
            <a:r>
              <a:rPr lang="en-US" altLang="en-US" dirty="0"/>
              <a:t>It is important to note that the original expression for communication time is valid for only </a:t>
            </a:r>
            <a:r>
              <a:rPr lang="en-US" altLang="en-US" dirty="0">
                <a:highlight>
                  <a:srgbClr val="FFFF00"/>
                </a:highlight>
              </a:rPr>
              <a:t>uncongested networks</a:t>
            </a:r>
            <a:r>
              <a:rPr lang="en-US" altLang="en-US" dirty="0"/>
              <a:t>. </a:t>
            </a:r>
          </a:p>
          <a:p>
            <a:endParaRPr lang="en-US" altLang="en-US" dirty="0"/>
          </a:p>
          <a:p>
            <a:r>
              <a:rPr lang="en-US" altLang="en-US" dirty="0"/>
              <a:t>Different communication patterns congest different networks to varying extents. </a:t>
            </a:r>
          </a:p>
          <a:p>
            <a:endParaRPr lang="en-US" altLang="en-US" dirty="0"/>
          </a:p>
          <a:p>
            <a:r>
              <a:rPr lang="en-US" altLang="en-US" dirty="0"/>
              <a:t>It is important to </a:t>
            </a:r>
            <a:r>
              <a:rPr lang="en-US" altLang="en-US" dirty="0">
                <a:highlight>
                  <a:srgbClr val="FFFF00"/>
                </a:highlight>
              </a:rPr>
              <a:t>understand and account for</a:t>
            </a:r>
            <a:r>
              <a:rPr lang="en-US" altLang="en-US" dirty="0"/>
              <a:t> this in the communication time accordingly. 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428144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A692209D-B607-46C3-8560-07AF72291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4874638-CF15-4908-BC4B-4908744D0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79799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09" y="967417"/>
            <a:ext cx="2834152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500">
                <a:solidFill>
                  <a:srgbClr val="FEFFFF"/>
                </a:solidFill>
              </a:rPr>
              <a:t>Questions</a:t>
            </a:r>
          </a:p>
        </p:txBody>
      </p:sp>
      <p:sp>
        <p:nvSpPr>
          <p:cNvPr id="49" name="Freeform 5">
            <a:extLst>
              <a:ext uri="{FF2B5EF4-FFF2-40B4-BE49-F238E27FC236}">
                <a16:creationId xmlns:a16="http://schemas.microsoft.com/office/drawing/2014/main" id="{5F1B8348-CD6E-4561-A704-C232D9A2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4053016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Graphic 9" descr="Help">
            <a:extLst>
              <a:ext uri="{FF2B5EF4-FFF2-40B4-BE49-F238E27FC236}">
                <a16:creationId xmlns:a16="http://schemas.microsoft.com/office/drawing/2014/main" id="{1545BE9E-711D-438E-B83C-21C83592E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3319" y="972342"/>
            <a:ext cx="4230377" cy="423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668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2B38B-89BC-41E9-B368-C232B1E49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596C9-EC0E-473B-9040-9141FE961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Flynn, M., “Some Computer Organizations and Their Effectiveness,” IEEE Transactions on Computers, Vol. C-21, No. 9, September 1972.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Kumar, V., </a:t>
            </a:r>
            <a:r>
              <a:rPr lang="en-US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Grama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, A., Gupta, A., &amp; </a:t>
            </a:r>
            <a:r>
              <a:rPr lang="en-US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Karypis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, G. (1994). </a:t>
            </a:r>
            <a:r>
              <a:rPr lang="en-US" sz="1200" i="1" dirty="0">
                <a:solidFill>
                  <a:srgbClr val="222222"/>
                </a:solidFill>
                <a:latin typeface="Arial" panose="020B0604020202020204" pitchFamily="34" charset="0"/>
              </a:rPr>
              <a:t>Introduction to parallel computing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 (Vol. 110). Redwood City, CA: Benjamin/Cummings.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Quinn, M. J. Parallel Programming in C with MPI and OpenMP,(2003).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8114206"/>
      </p:ext>
    </p:extLst>
  </p:cSld>
  <p:clrMapOvr>
    <a:masterClrMapping/>
  </p:clrMapOvr>
</p:sld>
</file>

<file path=ppt/theme/theme1.xml><?xml version="1.0" encoding="utf-8"?>
<a:theme xmlns:a="http://schemas.openxmlformats.org/drawingml/2006/main" name="1_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2100</TotalTime>
  <Words>2086</Words>
  <Application>Microsoft Office PowerPoint</Application>
  <PresentationFormat>On-screen Show (4:3)</PresentationFormat>
  <Paragraphs>291</Paragraphs>
  <Slides>35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Arial</vt:lpstr>
      <vt:lpstr>Calibri</vt:lpstr>
      <vt:lpstr>Century Gothic</vt:lpstr>
      <vt:lpstr>Monotype Sorts</vt:lpstr>
      <vt:lpstr>Wingdings 3</vt:lpstr>
      <vt:lpstr>1_Wisp</vt:lpstr>
      <vt:lpstr>PowerPoint Presentation</vt:lpstr>
      <vt:lpstr>Agenda</vt:lpstr>
      <vt:lpstr>Quick Review to the Previous Lecture</vt:lpstr>
      <vt:lpstr>Quick Review to the Previous Lecture</vt:lpstr>
      <vt:lpstr>Flynn’s Taxonomy</vt:lpstr>
      <vt:lpstr>Flynn’s Taxonomy</vt:lpstr>
      <vt:lpstr>Example of SISD:</vt:lpstr>
      <vt:lpstr>Flynn’s Taxonomy</vt:lpstr>
      <vt:lpstr>Example of SIMD:</vt:lpstr>
      <vt:lpstr>Flynn’s Taxonomy</vt:lpstr>
      <vt:lpstr>MISD Example</vt:lpstr>
      <vt:lpstr>Example of MISD: </vt:lpstr>
      <vt:lpstr>Flynn’s Taxonomy</vt:lpstr>
      <vt:lpstr>Example of MIMD:</vt:lpstr>
      <vt:lpstr>Flynn’s Taxonomy</vt:lpstr>
      <vt:lpstr>SIMD-MIMD Comparison </vt:lpstr>
      <vt:lpstr>Physical Organization of Parallel Platforms</vt:lpstr>
      <vt:lpstr>Architecture of an Ideal Parallel Computer</vt:lpstr>
      <vt:lpstr>Graphical representation of PRAM:</vt:lpstr>
      <vt:lpstr>Architecture of an Ideal Parallel Computer</vt:lpstr>
      <vt:lpstr>Architecture of an Ideal Parallel Computer</vt:lpstr>
      <vt:lpstr>Architecture of an Ideal Parallel Computer</vt:lpstr>
      <vt:lpstr>Architecture of an Ideal Parallel Computer</vt:lpstr>
      <vt:lpstr>Communication Costs in Parallel Machines</vt:lpstr>
      <vt:lpstr>Communication Costs in Parallel Machines </vt:lpstr>
      <vt:lpstr>Message Passing Costs in Parallel Computers</vt:lpstr>
      <vt:lpstr>Message Passing Costs in Parallel Computers</vt:lpstr>
      <vt:lpstr>Message Passing Costs in Parallel Computers</vt:lpstr>
      <vt:lpstr>Message Passing Costs in Parallel Computers</vt:lpstr>
      <vt:lpstr>Message Passing Costs in Parallel Computers</vt:lpstr>
      <vt:lpstr>Message Passing Costs in Parallel Computers</vt:lpstr>
      <vt:lpstr>Message Passing Costs in Parallel Computers</vt:lpstr>
      <vt:lpstr>Message Passing Costs in Parallel Computers</vt:lpstr>
      <vt:lpstr>Questions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CS416 – Parallel and Distributed Computing</dc:title>
  <dc:creator>Muhammad Husnain</dc:creator>
  <cp:lastModifiedBy>Umar</cp:lastModifiedBy>
  <cp:revision>111</cp:revision>
  <dcterms:created xsi:type="dcterms:W3CDTF">2020-02-07T07:53:43Z</dcterms:created>
  <dcterms:modified xsi:type="dcterms:W3CDTF">2022-12-19T07:39:43Z</dcterms:modified>
</cp:coreProperties>
</file>