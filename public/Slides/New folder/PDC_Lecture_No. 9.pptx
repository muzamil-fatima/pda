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9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19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6858000"/>
  <p:notesSz cx="7315200" cy="9601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43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E986D95-21C1-4276-B61A-29BF2948C1B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sldNum" idx="47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AF1CC6-8D09-43B7-BFCC-6FADA76369C8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Permute the matrix</a:t>
            </a:r>
            <a:r>
              <a:rPr b="0" lang="en-US" sz="2000" spc="-1" strike="noStrike">
                <a:latin typeface="Wingdings"/>
              </a:rPr>
              <a:t></a:t>
            </a:r>
            <a:r>
              <a:rPr b="0" lang="en-US" sz="2000" spc="-1" strike="noStrike">
                <a:latin typeface="Times New Roman"/>
              </a:rPr>
              <a:t> use 2d block distribution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 type="sldNum" idx="48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05CAC45-B27A-43F2-BF2B-9AE52AD809B6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Applications in different matrix operations including matrix multiplication and matrix-vector multiplication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49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128DB54-99DC-4ED0-97B3-D00A22D7BF24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Reduction: let’s say every node has generated different P random numbers. The problem is to sum the respective indices and store it to respective process  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Solution: It is possible to use the communication links in the interconnection network more efficiently by performing all p one-to-all broadcasts simultaneously so that all messages traversing the same path at the same time are concatenated into a single message whose size is the sum of the sizes of individual messages.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50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454FFE8-3F65-4E65-99AB-4D362F613D8E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51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E0ABA14-B5FD-428C-AD22-FF9C5A3F19FD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At any node my-id is the value or label of that node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The initial message to be broadcast is known locally as my_msg at each node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At the end of the procedure, each node stores the collection of all p messages in result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52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BE5C628-D1E3-444C-998E-41FCA3DEE72A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Write a program that takes number of processes in the ring from user and generates the following output.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You can take help from the algorithm described in the book.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53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9273001-DDB2-41D9-887B-13BCBD3402F9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54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8BBFD17A-E085-466B-B702-A4ABB7379ABD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Result is a list that can accumulate all the messages received one by on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55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FA0E0FE-9D3E-4A69-8D66-40F60A76C02E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2 phases-----</a:t>
            </a:r>
            <a:endParaRPr b="0" lang="en-US" sz="20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All to all in each row.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AlltoAll in each column with word size= </a:t>
            </a:r>
            <a:r>
              <a:rPr b="1" lang="en-US" sz="2000" spc="-1" strike="noStrike">
                <a:latin typeface="Arial"/>
              </a:rPr>
              <a:t>sqrt(p) times 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56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56CDE2F-BF54-4BA0-840B-A06A60376EDD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2 phases-----</a:t>
            </a:r>
            <a:endParaRPr b="0" lang="en-US" sz="20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All to all in each row.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2) AlltoAll in each column with word size= </a:t>
            </a:r>
            <a:r>
              <a:rPr b="1" lang="en-US" sz="2000" spc="-1" strike="noStrike">
                <a:latin typeface="Arial"/>
              </a:rPr>
              <a:t>sqrt(p) times 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57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489F573-3F3C-48F6-8123-A9D67B63926D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2 phases-----</a:t>
            </a:r>
            <a:endParaRPr b="0" lang="en-US" sz="20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buClr>
                <a:srgbClr val="000000"/>
              </a:buClr>
              <a:buFont typeface="StarSymbol"/>
              <a:buAutoNum type="arabicParenR"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All to all in each row.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AlltoAll in each column with word size= </a:t>
            </a:r>
            <a:r>
              <a:rPr b="1" lang="en-US" sz="2000" spc="-1" strike="noStrike">
                <a:latin typeface="Arial"/>
              </a:rPr>
              <a:t>sqrt(p) times m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58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B6A9B62-A42D-43C9-B9B6-A6C2CBDF7B9C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Log p steps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Wingdings"/>
              </a:rPr>
              <a:t></a:t>
            </a:r>
            <a:r>
              <a:rPr b="0" lang="en-US" sz="2000" spc="-1" strike="noStrike">
                <a:latin typeface="Times New Roman"/>
              </a:rPr>
              <a:t>communicating nodes exchange data in each dimension</a:t>
            </a: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"/>
              <a:tabLst>
                <a:tab algn="l" pos="0"/>
              </a:tabLst>
            </a:pPr>
            <a:r>
              <a:rPr b="0" lang="en-US" sz="2000" spc="-1" strike="noStrike">
                <a:latin typeface="Times New Roman"/>
              </a:rPr>
              <a:t>Message size doubles in every iteration  </a:t>
            </a: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"/>
              <a:tabLst>
                <a:tab algn="l" pos="0"/>
              </a:tabLst>
            </a:pPr>
            <a:r>
              <a:rPr b="0" lang="en-US" sz="2000" spc="-1" strike="noStrike">
                <a:latin typeface="Times New Roman"/>
              </a:rPr>
              <a:t>Reduction is performed by simply reversing the steps. </a:t>
            </a:r>
            <a:endParaRPr b="0" lang="en-US" sz="2000" spc="-1" strike="noStrike"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Wingdings" charset="2"/>
              <a:buChar char=""/>
              <a:tabLst>
                <a:tab algn="l" pos="0"/>
              </a:tabLst>
            </a:pPr>
            <a:r>
              <a:rPr b="0" lang="en-US" sz="2000" spc="-1" strike="noStrike">
                <a:latin typeface="Times New Roman"/>
              </a:rPr>
              <a:t>For example in first step: P1 will send (4,5,6,7) to P5 and P5 will send (0,1,2,3) to P1..Both reduce their contents by half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59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6F01A72-14A7-40FE-98E5-F7392FE447E9}" type="slidenum">
              <a:rPr b="0" lang="en-US" sz="1300" spc="-1" strike="noStrike">
                <a:latin typeface="Times New Roman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Xoring an id with 2^(dimension-1) gives partner in that dimension.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60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C6BB9E0-32E9-4A0C-B82B-C61243F94CF3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61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89537AD-8CBA-454A-829D-46EE5C71A5A4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62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51FF1188-BBE7-42F0-80D3-05382EF00B33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63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EF901B4-838D-4F3A-8DD9-F980189BF6CF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Re-write the  second portion to apply the formula.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64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300" spc="-1" strike="noStrike">
                <a:solidFill>
                  <a:srgbClr val="000000"/>
                </a:solidFill>
                <a:latin typeface="Calibri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6257BA5-ECD2-4062-9597-3036FB90215C}" type="slidenum">
              <a:rPr b="0" lang="en-US" sz="1300" spc="-1" strike="noStrike">
                <a:solidFill>
                  <a:srgbClr val="000000"/>
                </a:solidFill>
                <a:latin typeface="Calibri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1496880" y="1200240"/>
            <a:ext cx="4320360" cy="323928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731520" y="4620600"/>
            <a:ext cx="5851440" cy="377964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65"/>
          </p:nvPr>
        </p:nvSpPr>
        <p:spPr>
          <a:xfrm>
            <a:off x="4143600" y="9119520"/>
            <a:ext cx="3169080" cy="480960"/>
          </a:xfrm>
          <a:prstGeom prst="rect">
            <a:avLst/>
          </a:prstGeom>
          <a:noFill/>
          <a:ln w="0">
            <a:noFill/>
          </a:ln>
        </p:spPr>
        <p:txBody>
          <a:bodyPr lIns="96840" rIns="96840" tIns="48240" bIns="4824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3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93F191D-8790-499E-B5B0-43872B42F676}" type="slidenum">
              <a:rPr b="0" lang="en-US" sz="13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3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38A2B4-6C48-41BA-B400-89A6D9DDC21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77BA287-B492-47E2-956B-EFFF8436DA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AAEF73-415C-4677-AC28-FCCF16630E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388FF56-2ED5-419A-A99B-F061C69133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38AEAC-A447-458B-9744-58C8EB952A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A0A2FA3-1D83-497F-B289-9B00096F3C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8569F0B-F03C-4339-B7EC-C7E02559C7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0031BE2-D0BF-4DD0-BA05-BC1066F0BC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C3D345-530E-46D4-B39E-F08D1EAE04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A14CD02-5A70-4739-B617-EEBBE01B23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89D7657-5D27-46DE-9FD3-EE27B8EE763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70C990-296D-4934-B5DE-B8EA6682473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A94D203-E145-465E-83B1-F113C5C8A3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979EF5-740C-43C4-8DB3-5B8557F9DA3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B09FFD0-2A57-4BFD-B70F-F374F62D80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6CDBC54-E979-441D-B198-04464B8B38D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02C067A-34E2-425D-A305-DA7F4A6E4EA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90F6481-BC31-439E-8576-1036633F619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E01895-14F2-4840-A762-C3BEBBAB1A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DA60518-C706-4E7A-9C4B-2F4F8DDB0E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5A0FE1-341C-41C8-A707-97AAE971B0C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5311DB7-91B0-4596-9987-D21686D48A7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4EAB36E-B95A-409B-BD5E-16FAB2FC394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8BCC0A0-224B-4D49-9472-E29626427CE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7f7f7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35"/>
          <p:cNvGrpSpPr/>
          <p:nvPr/>
        </p:nvGrpSpPr>
        <p:grpSpPr>
          <a:xfrm>
            <a:off x="0" y="228600"/>
            <a:ext cx="1980360" cy="6638040"/>
            <a:chOff x="0" y="228600"/>
            <a:chExt cx="1980360" cy="6638040"/>
          </a:xfrm>
        </p:grpSpPr>
        <p:sp>
          <p:nvSpPr>
            <p:cNvPr id="1" name="Freeform 11"/>
            <p:cNvSpPr/>
            <p:nvPr/>
          </p:nvSpPr>
          <p:spPr>
            <a:xfrm>
              <a:off x="0" y="2575080"/>
              <a:ext cx="69120" cy="62532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Freeform 12"/>
            <p:cNvSpPr/>
            <p:nvPr/>
          </p:nvSpPr>
          <p:spPr>
            <a:xfrm>
              <a:off x="89280" y="3156480"/>
              <a:ext cx="448560" cy="232164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Freeform 13"/>
            <p:cNvSpPr/>
            <p:nvPr/>
          </p:nvSpPr>
          <p:spPr>
            <a:xfrm>
              <a:off x="560520" y="5447160"/>
              <a:ext cx="422640" cy="141948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Freeform 14"/>
            <p:cNvSpPr/>
            <p:nvPr/>
          </p:nvSpPr>
          <p:spPr>
            <a:xfrm>
              <a:off x="666720" y="6503760"/>
              <a:ext cx="118440" cy="36288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Freeform 15"/>
            <p:cNvSpPr/>
            <p:nvPr/>
          </p:nvSpPr>
          <p:spPr>
            <a:xfrm>
              <a:off x="69840" y="3201120"/>
              <a:ext cx="570240" cy="332784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Freeform 16"/>
            <p:cNvSpPr/>
            <p:nvPr/>
          </p:nvSpPr>
          <p:spPr>
            <a:xfrm>
              <a:off x="15480" y="228600"/>
              <a:ext cx="73080" cy="292716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Freeform 17"/>
            <p:cNvSpPr/>
            <p:nvPr/>
          </p:nvSpPr>
          <p:spPr>
            <a:xfrm>
              <a:off x="54360" y="2944080"/>
              <a:ext cx="53640" cy="493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Freeform 18"/>
            <p:cNvSpPr/>
            <p:nvPr/>
          </p:nvSpPr>
          <p:spPr>
            <a:xfrm>
              <a:off x="534960" y="5478840"/>
              <a:ext cx="131400" cy="102420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Freeform 19"/>
            <p:cNvSpPr/>
            <p:nvPr/>
          </p:nvSpPr>
          <p:spPr>
            <a:xfrm>
              <a:off x="538560" y="1398960"/>
              <a:ext cx="1441800" cy="404748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" name="Freeform 20"/>
            <p:cNvSpPr/>
            <p:nvPr/>
          </p:nvSpPr>
          <p:spPr>
            <a:xfrm>
              <a:off x="640800" y="6530040"/>
              <a:ext cx="111960" cy="33660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" name="Freeform 21"/>
            <p:cNvSpPr/>
            <p:nvPr/>
          </p:nvSpPr>
          <p:spPr>
            <a:xfrm>
              <a:off x="534960" y="5359320"/>
              <a:ext cx="25200" cy="22104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" name="Freeform 22"/>
            <p:cNvSpPr/>
            <p:nvPr/>
          </p:nvSpPr>
          <p:spPr>
            <a:xfrm>
              <a:off x="590400" y="6244560"/>
              <a:ext cx="164880" cy="62172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" name="Group 48"/>
          <p:cNvGrpSpPr/>
          <p:nvPr/>
        </p:nvGrpSpPr>
        <p:grpSpPr>
          <a:xfrm>
            <a:off x="20520" y="360"/>
            <a:ext cx="1951560" cy="6852240"/>
            <a:chOff x="20520" y="360"/>
            <a:chExt cx="1951560" cy="6852240"/>
          </a:xfrm>
        </p:grpSpPr>
        <p:sp>
          <p:nvSpPr>
            <p:cNvPr id="14" name="Freeform 27"/>
            <p:cNvSpPr/>
            <p:nvPr/>
          </p:nvSpPr>
          <p:spPr>
            <a:xfrm>
              <a:off x="20520" y="360"/>
              <a:ext cx="408960" cy="440028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Freeform 28"/>
            <p:cNvSpPr/>
            <p:nvPr/>
          </p:nvSpPr>
          <p:spPr>
            <a:xfrm>
              <a:off x="453600" y="4316400"/>
              <a:ext cx="349920" cy="158004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Freeform 29"/>
            <p:cNvSpPr/>
            <p:nvPr/>
          </p:nvSpPr>
          <p:spPr>
            <a:xfrm>
              <a:off x="831600" y="5862600"/>
              <a:ext cx="356400" cy="99000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" name="Freeform 30"/>
            <p:cNvSpPr/>
            <p:nvPr/>
          </p:nvSpPr>
          <p:spPr>
            <a:xfrm>
              <a:off x="429840" y="4364280"/>
              <a:ext cx="456480" cy="223524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" name="Freeform 31"/>
            <p:cNvSpPr/>
            <p:nvPr/>
          </p:nvSpPr>
          <p:spPr>
            <a:xfrm>
              <a:off x="385560" y="1289160"/>
              <a:ext cx="143640" cy="302652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" name="Freeform 32"/>
            <p:cNvSpPr/>
            <p:nvPr/>
          </p:nvSpPr>
          <p:spPr>
            <a:xfrm>
              <a:off x="918720" y="6571440"/>
              <a:ext cx="110520" cy="28080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" name="Freeform 33"/>
            <p:cNvSpPr/>
            <p:nvPr/>
          </p:nvSpPr>
          <p:spPr>
            <a:xfrm>
              <a:off x="414000" y="4107600"/>
              <a:ext cx="67680" cy="51084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" name="Freeform 34"/>
            <p:cNvSpPr/>
            <p:nvPr/>
          </p:nvSpPr>
          <p:spPr>
            <a:xfrm>
              <a:off x="804600" y="3145680"/>
              <a:ext cx="1167480" cy="271620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" name="Freeform 35"/>
            <p:cNvSpPr/>
            <p:nvPr/>
          </p:nvSpPr>
          <p:spPr>
            <a:xfrm>
              <a:off x="887040" y="6600240"/>
              <a:ext cx="99360" cy="25236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" name="Freeform 36"/>
            <p:cNvSpPr/>
            <p:nvPr/>
          </p:nvSpPr>
          <p:spPr>
            <a:xfrm>
              <a:off x="804600" y="5897160"/>
              <a:ext cx="113400" cy="67356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" name="Freeform 37"/>
            <p:cNvSpPr/>
            <p:nvPr/>
          </p:nvSpPr>
          <p:spPr>
            <a:xfrm>
              <a:off x="804600" y="5772600"/>
              <a:ext cx="30960" cy="22716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" name="Freeform 38"/>
            <p:cNvSpPr/>
            <p:nvPr/>
          </p:nvSpPr>
          <p:spPr>
            <a:xfrm>
              <a:off x="831600" y="6322680"/>
              <a:ext cx="173880" cy="52992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6" name="Rectangle 61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" name="Freeform 11"/>
          <p:cNvSpPr/>
          <p:nvPr/>
        </p:nvSpPr>
        <p:spPr>
          <a:xfrm flipV="1">
            <a:off x="0" y="709920"/>
            <a:ext cx="1357560" cy="507240"/>
          </a:xfrm>
          <a:custGeom>
            <a:avLst/>
            <a:gdLst/>
            <a:ah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" name="PlaceHolder 1"/>
          <p:cNvSpPr>
            <a:spLocks noGrp="1"/>
          </p:cNvSpPr>
          <p:nvPr>
            <p:ph type="ftr" idx="1"/>
          </p:nvPr>
        </p:nvSpPr>
        <p:spPr>
          <a:xfrm>
            <a:off x="1942560" y="6135840"/>
            <a:ext cx="51069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&lt;footer&gt;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2"/>
          </p:nvPr>
        </p:nvSpPr>
        <p:spPr>
          <a:xfrm>
            <a:off x="511200" y="78768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0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9AEFF93-8457-4960-B498-005CEAF5935D}" type="slidenum">
              <a:rPr b="0" lang="en-US" sz="2000" spc="-1" strike="noStrike">
                <a:solidFill>
                  <a:srgbClr val="000000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3"/>
          </p:nvPr>
        </p:nvSpPr>
        <p:spPr>
          <a:xfrm>
            <a:off x="7248960" y="6135120"/>
            <a:ext cx="1289160" cy="36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f7f7f7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35"/>
          <p:cNvGrpSpPr/>
          <p:nvPr/>
        </p:nvGrpSpPr>
        <p:grpSpPr>
          <a:xfrm>
            <a:off x="0" y="228600"/>
            <a:ext cx="1980360" cy="6638040"/>
            <a:chOff x="0" y="228600"/>
            <a:chExt cx="1980360" cy="6638040"/>
          </a:xfrm>
        </p:grpSpPr>
        <p:sp>
          <p:nvSpPr>
            <p:cNvPr id="70" name="Freeform 11"/>
            <p:cNvSpPr/>
            <p:nvPr/>
          </p:nvSpPr>
          <p:spPr>
            <a:xfrm>
              <a:off x="0" y="2575080"/>
              <a:ext cx="69120" cy="62532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Freeform 12"/>
            <p:cNvSpPr/>
            <p:nvPr/>
          </p:nvSpPr>
          <p:spPr>
            <a:xfrm>
              <a:off x="89280" y="3156480"/>
              <a:ext cx="448560" cy="232164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2" name="Freeform 13"/>
            <p:cNvSpPr/>
            <p:nvPr/>
          </p:nvSpPr>
          <p:spPr>
            <a:xfrm>
              <a:off x="560520" y="5447160"/>
              <a:ext cx="422640" cy="141948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" name="Freeform 14"/>
            <p:cNvSpPr/>
            <p:nvPr/>
          </p:nvSpPr>
          <p:spPr>
            <a:xfrm>
              <a:off x="666720" y="6503760"/>
              <a:ext cx="118440" cy="36288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4" name="Freeform 15"/>
            <p:cNvSpPr/>
            <p:nvPr/>
          </p:nvSpPr>
          <p:spPr>
            <a:xfrm>
              <a:off x="69840" y="3201120"/>
              <a:ext cx="570240" cy="332784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5" name="Freeform 16"/>
            <p:cNvSpPr/>
            <p:nvPr/>
          </p:nvSpPr>
          <p:spPr>
            <a:xfrm>
              <a:off x="15480" y="228600"/>
              <a:ext cx="73080" cy="292716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6" name="Freeform 17"/>
            <p:cNvSpPr/>
            <p:nvPr/>
          </p:nvSpPr>
          <p:spPr>
            <a:xfrm>
              <a:off x="54360" y="2944080"/>
              <a:ext cx="53640" cy="493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" name="Freeform 18"/>
            <p:cNvSpPr/>
            <p:nvPr/>
          </p:nvSpPr>
          <p:spPr>
            <a:xfrm>
              <a:off x="534960" y="5478840"/>
              <a:ext cx="131400" cy="102420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Freeform 19"/>
            <p:cNvSpPr/>
            <p:nvPr/>
          </p:nvSpPr>
          <p:spPr>
            <a:xfrm>
              <a:off x="538560" y="1398960"/>
              <a:ext cx="1441800" cy="404748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" name="Freeform 20"/>
            <p:cNvSpPr/>
            <p:nvPr/>
          </p:nvSpPr>
          <p:spPr>
            <a:xfrm>
              <a:off x="640800" y="6530040"/>
              <a:ext cx="111960" cy="33660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" name="Freeform 21"/>
            <p:cNvSpPr/>
            <p:nvPr/>
          </p:nvSpPr>
          <p:spPr>
            <a:xfrm>
              <a:off x="534960" y="5359320"/>
              <a:ext cx="25200" cy="22104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Freeform 22"/>
            <p:cNvSpPr/>
            <p:nvPr/>
          </p:nvSpPr>
          <p:spPr>
            <a:xfrm>
              <a:off x="590400" y="6244560"/>
              <a:ext cx="164880" cy="62172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2" name="Group 48"/>
          <p:cNvGrpSpPr/>
          <p:nvPr/>
        </p:nvGrpSpPr>
        <p:grpSpPr>
          <a:xfrm>
            <a:off x="20520" y="360"/>
            <a:ext cx="1951560" cy="6852240"/>
            <a:chOff x="20520" y="360"/>
            <a:chExt cx="1951560" cy="6852240"/>
          </a:xfrm>
        </p:grpSpPr>
        <p:sp>
          <p:nvSpPr>
            <p:cNvPr id="83" name="Freeform 27"/>
            <p:cNvSpPr/>
            <p:nvPr/>
          </p:nvSpPr>
          <p:spPr>
            <a:xfrm>
              <a:off x="20520" y="360"/>
              <a:ext cx="408960" cy="440028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Freeform 28"/>
            <p:cNvSpPr/>
            <p:nvPr/>
          </p:nvSpPr>
          <p:spPr>
            <a:xfrm>
              <a:off x="453600" y="4316400"/>
              <a:ext cx="349920" cy="158004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Freeform 29"/>
            <p:cNvSpPr/>
            <p:nvPr/>
          </p:nvSpPr>
          <p:spPr>
            <a:xfrm>
              <a:off x="831600" y="5862600"/>
              <a:ext cx="356400" cy="99000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Freeform 30"/>
            <p:cNvSpPr/>
            <p:nvPr/>
          </p:nvSpPr>
          <p:spPr>
            <a:xfrm>
              <a:off x="429840" y="4364280"/>
              <a:ext cx="456480" cy="223524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Freeform 31"/>
            <p:cNvSpPr/>
            <p:nvPr/>
          </p:nvSpPr>
          <p:spPr>
            <a:xfrm>
              <a:off x="385560" y="1289160"/>
              <a:ext cx="143640" cy="302652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Freeform 32"/>
            <p:cNvSpPr/>
            <p:nvPr/>
          </p:nvSpPr>
          <p:spPr>
            <a:xfrm>
              <a:off x="918720" y="6571440"/>
              <a:ext cx="110520" cy="28080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Freeform 33"/>
            <p:cNvSpPr/>
            <p:nvPr/>
          </p:nvSpPr>
          <p:spPr>
            <a:xfrm>
              <a:off x="414000" y="4107600"/>
              <a:ext cx="67680" cy="51084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" name="Freeform 34"/>
            <p:cNvSpPr/>
            <p:nvPr/>
          </p:nvSpPr>
          <p:spPr>
            <a:xfrm>
              <a:off x="804600" y="3145680"/>
              <a:ext cx="1167480" cy="271620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1" name="Freeform 35"/>
            <p:cNvSpPr/>
            <p:nvPr/>
          </p:nvSpPr>
          <p:spPr>
            <a:xfrm>
              <a:off x="887040" y="6600240"/>
              <a:ext cx="99360" cy="25236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Freeform 36"/>
            <p:cNvSpPr/>
            <p:nvPr/>
          </p:nvSpPr>
          <p:spPr>
            <a:xfrm>
              <a:off x="804600" y="5897160"/>
              <a:ext cx="113400" cy="67356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" name="Freeform 37"/>
            <p:cNvSpPr/>
            <p:nvPr/>
          </p:nvSpPr>
          <p:spPr>
            <a:xfrm>
              <a:off x="804600" y="5772600"/>
              <a:ext cx="30960" cy="22716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" name="Freeform 38"/>
            <p:cNvSpPr/>
            <p:nvPr/>
          </p:nvSpPr>
          <p:spPr>
            <a:xfrm>
              <a:off x="831600" y="6322680"/>
              <a:ext cx="173880" cy="52992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5" name="Rectangle 61" hidden="1"/>
          <p:cNvSpPr/>
          <p:nvPr/>
        </p:nvSpPr>
        <p:spPr>
          <a:xfrm>
            <a:off x="0" y="0"/>
            <a:ext cx="18216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Freeform 11"/>
          <p:cNvSpPr/>
          <p:nvPr/>
        </p:nvSpPr>
        <p:spPr>
          <a:xfrm flipV="1">
            <a:off x="0" y="709920"/>
            <a:ext cx="701640" cy="507240"/>
          </a:xfrm>
          <a:custGeom>
            <a:avLst/>
            <a:gdLst/>
            <a:ah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PlaceHolder 1"/>
          <p:cNvSpPr>
            <a:spLocks noGrp="1"/>
          </p:cNvSpPr>
          <p:nvPr>
            <p:ph type="ftr" idx="4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&lt;footer&gt;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5"/>
          </p:nvPr>
        </p:nvSpPr>
        <p:spPr>
          <a:xfrm>
            <a:off x="9000" y="78264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8349C58-7492-4F56-9D72-42C307F3EB23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dt" idx="6"/>
          </p:nvPr>
        </p:nvSpPr>
        <p:spPr>
          <a:xfrm>
            <a:off x="7686360" y="6322680"/>
            <a:ext cx="1347840" cy="36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/>
          </p:nvPr>
        </p:nvSpPr>
        <p:spPr>
          <a:xfrm>
            <a:off x="803880" y="1320840"/>
            <a:ext cx="8228880" cy="499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8000"/>
          </a:bodyPr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4400" spc="-1" strike="noStrike">
                <a:solidFill>
                  <a:srgbClr val="0070c0"/>
                </a:solidFill>
                <a:latin typeface="Century Gothic"/>
              </a:rPr>
              <a:t>Parallel and Distributed Computing</a:t>
            </a: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44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3200" spc="-1" strike="noStrike">
                <a:solidFill>
                  <a:srgbClr val="404040"/>
                </a:solidFill>
                <a:latin typeface="Century Gothic"/>
              </a:rPr>
              <a:t>Lecture 9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GB" sz="3200" spc="-1" strike="noStrike">
                <a:solidFill>
                  <a:srgbClr val="ff0000"/>
                </a:solidFill>
                <a:latin typeface="Century Gothic"/>
              </a:rPr>
              <a:t>Basic Communication Operations-II</a:t>
            </a: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200" spc="-1" strike="noStrike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200" spc="-1" strike="noStrike"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12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1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ldNum" idx="10"/>
          </p:nvPr>
        </p:nvSpPr>
        <p:spPr>
          <a:xfrm>
            <a:off x="511200" y="78768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0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151FB5-979F-473B-B9A2-AD4A8F203E82}" type="slidenum">
              <a:rPr b="0" lang="en-US" sz="2000" spc="-1" strike="noStrike">
                <a:solidFill>
                  <a:srgbClr val="000000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roup 10"/>
          <p:cNvGrpSpPr/>
          <p:nvPr/>
        </p:nvGrpSpPr>
        <p:grpSpPr>
          <a:xfrm>
            <a:off x="0" y="228600"/>
            <a:ext cx="2137680" cy="6638040"/>
            <a:chOff x="0" y="228600"/>
            <a:chExt cx="2137680" cy="6638040"/>
          </a:xfrm>
        </p:grpSpPr>
        <p:sp>
          <p:nvSpPr>
            <p:cNvPr id="147" name="Freeform 11"/>
            <p:cNvSpPr/>
            <p:nvPr/>
          </p:nvSpPr>
          <p:spPr>
            <a:xfrm>
              <a:off x="0" y="2575080"/>
              <a:ext cx="74880" cy="62532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" name="Freeform 12"/>
            <p:cNvSpPr/>
            <p:nvPr/>
          </p:nvSpPr>
          <p:spPr>
            <a:xfrm>
              <a:off x="96480" y="3156480"/>
              <a:ext cx="484200" cy="232164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9" name="Freeform 13"/>
            <p:cNvSpPr/>
            <p:nvPr/>
          </p:nvSpPr>
          <p:spPr>
            <a:xfrm>
              <a:off x="605160" y="5447160"/>
              <a:ext cx="456480" cy="141948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0" name="Freeform 14"/>
            <p:cNvSpPr/>
            <p:nvPr/>
          </p:nvSpPr>
          <p:spPr>
            <a:xfrm>
              <a:off x="720000" y="6503760"/>
              <a:ext cx="127800" cy="36288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" name="Freeform 15"/>
            <p:cNvSpPr/>
            <p:nvPr/>
          </p:nvSpPr>
          <p:spPr>
            <a:xfrm>
              <a:off x="75600" y="3201120"/>
              <a:ext cx="615600" cy="332784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" name="Freeform 16"/>
            <p:cNvSpPr/>
            <p:nvPr/>
          </p:nvSpPr>
          <p:spPr>
            <a:xfrm>
              <a:off x="16920" y="228600"/>
              <a:ext cx="78840" cy="292716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" name="Freeform 17"/>
            <p:cNvSpPr/>
            <p:nvPr/>
          </p:nvSpPr>
          <p:spPr>
            <a:xfrm>
              <a:off x="58680" y="2944080"/>
              <a:ext cx="57960" cy="493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" name="Freeform 18"/>
            <p:cNvSpPr/>
            <p:nvPr/>
          </p:nvSpPr>
          <p:spPr>
            <a:xfrm>
              <a:off x="577440" y="5478840"/>
              <a:ext cx="141840" cy="102420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5" name="Freeform 19"/>
            <p:cNvSpPr/>
            <p:nvPr/>
          </p:nvSpPr>
          <p:spPr>
            <a:xfrm>
              <a:off x="581400" y="1398960"/>
              <a:ext cx="1556280" cy="404748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" name="Freeform 20"/>
            <p:cNvSpPr/>
            <p:nvPr/>
          </p:nvSpPr>
          <p:spPr>
            <a:xfrm>
              <a:off x="691920" y="6530040"/>
              <a:ext cx="120960" cy="33660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Freeform 21"/>
            <p:cNvSpPr/>
            <p:nvPr/>
          </p:nvSpPr>
          <p:spPr>
            <a:xfrm>
              <a:off x="577440" y="5359320"/>
              <a:ext cx="27360" cy="22104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8" name="Freeform 22"/>
            <p:cNvSpPr/>
            <p:nvPr/>
          </p:nvSpPr>
          <p:spPr>
            <a:xfrm>
              <a:off x="637560" y="6244560"/>
              <a:ext cx="178200" cy="62172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9" name="Group 24"/>
          <p:cNvGrpSpPr/>
          <p:nvPr/>
        </p:nvGrpSpPr>
        <p:grpSpPr>
          <a:xfrm>
            <a:off x="20520" y="-720"/>
            <a:ext cx="1766880" cy="6853320"/>
            <a:chOff x="20520" y="-720"/>
            <a:chExt cx="1766880" cy="6853320"/>
          </a:xfrm>
        </p:grpSpPr>
        <p:sp>
          <p:nvSpPr>
            <p:cNvPr id="160" name="Freeform 27"/>
            <p:cNvSpPr/>
            <p:nvPr/>
          </p:nvSpPr>
          <p:spPr>
            <a:xfrm>
              <a:off x="20520" y="-720"/>
              <a:ext cx="370080" cy="440028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Freeform 28"/>
            <p:cNvSpPr/>
            <p:nvPr/>
          </p:nvSpPr>
          <p:spPr>
            <a:xfrm>
              <a:off x="412560" y="4316400"/>
              <a:ext cx="316800" cy="158004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Freeform 29"/>
            <p:cNvSpPr/>
            <p:nvPr/>
          </p:nvSpPr>
          <p:spPr>
            <a:xfrm>
              <a:off x="754560" y="5862600"/>
              <a:ext cx="322560" cy="99000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Freeform 30"/>
            <p:cNvSpPr/>
            <p:nvPr/>
          </p:nvSpPr>
          <p:spPr>
            <a:xfrm>
              <a:off x="391320" y="4364280"/>
              <a:ext cx="413280" cy="223524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Freeform 31"/>
            <p:cNvSpPr/>
            <p:nvPr/>
          </p:nvSpPr>
          <p:spPr>
            <a:xfrm>
              <a:off x="351000" y="1289160"/>
              <a:ext cx="129960" cy="302652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" name="Freeform 32"/>
            <p:cNvSpPr/>
            <p:nvPr/>
          </p:nvSpPr>
          <p:spPr>
            <a:xfrm>
              <a:off x="833760" y="6571440"/>
              <a:ext cx="99720" cy="28080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" name="Freeform 33"/>
            <p:cNvSpPr/>
            <p:nvPr/>
          </p:nvSpPr>
          <p:spPr>
            <a:xfrm>
              <a:off x="376920" y="4107600"/>
              <a:ext cx="61200" cy="51084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" name="Freeform 34"/>
            <p:cNvSpPr/>
            <p:nvPr/>
          </p:nvSpPr>
          <p:spPr>
            <a:xfrm>
              <a:off x="730440" y="3145680"/>
              <a:ext cx="1056960" cy="271620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" name="Freeform 35"/>
            <p:cNvSpPr/>
            <p:nvPr/>
          </p:nvSpPr>
          <p:spPr>
            <a:xfrm>
              <a:off x="804960" y="6600240"/>
              <a:ext cx="89640" cy="25236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" name="Freeform 36"/>
            <p:cNvSpPr/>
            <p:nvPr/>
          </p:nvSpPr>
          <p:spPr>
            <a:xfrm>
              <a:off x="730440" y="5897160"/>
              <a:ext cx="102600" cy="67356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" name="Freeform 37"/>
            <p:cNvSpPr/>
            <p:nvPr/>
          </p:nvSpPr>
          <p:spPr>
            <a:xfrm>
              <a:off x="730440" y="5772600"/>
              <a:ext cx="28080" cy="22716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" name="Freeform 38"/>
            <p:cNvSpPr/>
            <p:nvPr/>
          </p:nvSpPr>
          <p:spPr>
            <a:xfrm>
              <a:off x="754560" y="6322680"/>
              <a:ext cx="157320" cy="52992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2" name="Rectangle 38"/>
          <p:cNvSpPr/>
          <p:nvPr/>
        </p:nvSpPr>
        <p:spPr>
          <a:xfrm>
            <a:off x="0" y="0"/>
            <a:ext cx="13644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Freeform 6"/>
          <p:cNvSpPr/>
          <p:nvPr/>
        </p:nvSpPr>
        <p:spPr>
          <a:xfrm>
            <a:off x="0" y="4323960"/>
            <a:ext cx="1307880" cy="777960"/>
          </a:xfrm>
          <a:custGeom>
            <a:avLst/>
            <a:gdLst/>
            <a:ahLst/>
            <a:rect l="l" t="t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Rectangle 42"/>
          <p:cNvSpPr/>
          <p:nvPr/>
        </p:nvSpPr>
        <p:spPr>
          <a:xfrm>
            <a:off x="0" y="0"/>
            <a:ext cx="9143280" cy="685728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fe7c4"/>
              </a:gs>
            </a:gsLst>
            <a:path path="circle">
              <a:fillToRect l="25000" t="25000" r="75000" b="75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2529720" y="1864800"/>
            <a:ext cx="6098040" cy="226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algn="ctr">
              <a:lnSpc>
                <a:spcPct val="90000"/>
              </a:lnSpc>
              <a:buNone/>
            </a:pPr>
            <a:r>
              <a:rPr b="0" lang="en-US" sz="4200" spc="-1" strike="noStrike">
                <a:solidFill>
                  <a:srgbClr val="262626"/>
                </a:solidFill>
                <a:latin typeface="Century Gothic"/>
              </a:rPr>
              <a:t>All-to-All Broadcast and All-to-All Reduction</a:t>
            </a:r>
            <a:endParaRPr b="0" lang="en-US" sz="4200" spc="-1" strike="noStrike">
              <a:latin typeface="Arial"/>
            </a:endParaRPr>
          </a:p>
        </p:txBody>
      </p:sp>
      <p:sp>
        <p:nvSpPr>
          <p:cNvPr id="176" name="Rectangle 44"/>
          <p:cNvSpPr/>
          <p:nvPr/>
        </p:nvSpPr>
        <p:spPr>
          <a:xfrm>
            <a:off x="0" y="0"/>
            <a:ext cx="2138040" cy="68572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177" name="Group 46"/>
          <p:cNvGrpSpPr/>
          <p:nvPr/>
        </p:nvGrpSpPr>
        <p:grpSpPr>
          <a:xfrm>
            <a:off x="0" y="228600"/>
            <a:ext cx="2137680" cy="6638040"/>
            <a:chOff x="0" y="228600"/>
            <a:chExt cx="2137680" cy="6638040"/>
          </a:xfrm>
        </p:grpSpPr>
        <p:sp>
          <p:nvSpPr>
            <p:cNvPr id="178" name="Freeform 11"/>
            <p:cNvSpPr/>
            <p:nvPr/>
          </p:nvSpPr>
          <p:spPr>
            <a:xfrm>
              <a:off x="0" y="2575080"/>
              <a:ext cx="74880" cy="62532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9" name="Freeform 12"/>
            <p:cNvSpPr/>
            <p:nvPr/>
          </p:nvSpPr>
          <p:spPr>
            <a:xfrm>
              <a:off x="96480" y="3156480"/>
              <a:ext cx="484200" cy="232164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0" name="Freeform 13"/>
            <p:cNvSpPr/>
            <p:nvPr/>
          </p:nvSpPr>
          <p:spPr>
            <a:xfrm>
              <a:off x="605160" y="5447160"/>
              <a:ext cx="456480" cy="141948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Freeform 14"/>
            <p:cNvSpPr/>
            <p:nvPr/>
          </p:nvSpPr>
          <p:spPr>
            <a:xfrm>
              <a:off x="720000" y="6503760"/>
              <a:ext cx="127800" cy="36288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2" name="Freeform 15"/>
            <p:cNvSpPr/>
            <p:nvPr/>
          </p:nvSpPr>
          <p:spPr>
            <a:xfrm>
              <a:off x="75600" y="3201120"/>
              <a:ext cx="615600" cy="332784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3" name="Freeform 16"/>
            <p:cNvSpPr/>
            <p:nvPr/>
          </p:nvSpPr>
          <p:spPr>
            <a:xfrm>
              <a:off x="16920" y="228600"/>
              <a:ext cx="78840" cy="292716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Freeform 17"/>
            <p:cNvSpPr/>
            <p:nvPr/>
          </p:nvSpPr>
          <p:spPr>
            <a:xfrm>
              <a:off x="58680" y="2944080"/>
              <a:ext cx="57960" cy="493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5" name="Freeform 18"/>
            <p:cNvSpPr/>
            <p:nvPr/>
          </p:nvSpPr>
          <p:spPr>
            <a:xfrm>
              <a:off x="577440" y="5478840"/>
              <a:ext cx="141840" cy="102420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6" name="Freeform 19"/>
            <p:cNvSpPr/>
            <p:nvPr/>
          </p:nvSpPr>
          <p:spPr>
            <a:xfrm>
              <a:off x="581400" y="1398960"/>
              <a:ext cx="1556280" cy="404748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" name="Freeform 20"/>
            <p:cNvSpPr/>
            <p:nvPr/>
          </p:nvSpPr>
          <p:spPr>
            <a:xfrm>
              <a:off x="691920" y="6530040"/>
              <a:ext cx="120960" cy="33660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8" name="Freeform 21"/>
            <p:cNvSpPr/>
            <p:nvPr/>
          </p:nvSpPr>
          <p:spPr>
            <a:xfrm>
              <a:off x="577440" y="5359320"/>
              <a:ext cx="27360" cy="22104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9" name="Freeform 22"/>
            <p:cNvSpPr/>
            <p:nvPr/>
          </p:nvSpPr>
          <p:spPr>
            <a:xfrm>
              <a:off x="637560" y="6244560"/>
              <a:ext cx="178200" cy="62172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4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0" name="Group 60"/>
          <p:cNvGrpSpPr/>
          <p:nvPr/>
        </p:nvGrpSpPr>
        <p:grpSpPr>
          <a:xfrm>
            <a:off x="20520" y="-720"/>
            <a:ext cx="1766880" cy="6853320"/>
            <a:chOff x="20520" y="-720"/>
            <a:chExt cx="1766880" cy="6853320"/>
          </a:xfrm>
        </p:grpSpPr>
        <p:sp>
          <p:nvSpPr>
            <p:cNvPr id="191" name="Freeform 27"/>
            <p:cNvSpPr/>
            <p:nvPr/>
          </p:nvSpPr>
          <p:spPr>
            <a:xfrm>
              <a:off x="20520" y="-720"/>
              <a:ext cx="370080" cy="440028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2" name="Freeform 28"/>
            <p:cNvSpPr/>
            <p:nvPr/>
          </p:nvSpPr>
          <p:spPr>
            <a:xfrm>
              <a:off x="412560" y="4316400"/>
              <a:ext cx="316800" cy="158004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3" name="Freeform 29"/>
            <p:cNvSpPr/>
            <p:nvPr/>
          </p:nvSpPr>
          <p:spPr>
            <a:xfrm>
              <a:off x="754560" y="5862600"/>
              <a:ext cx="322560" cy="99000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4" name="Freeform 30"/>
            <p:cNvSpPr/>
            <p:nvPr/>
          </p:nvSpPr>
          <p:spPr>
            <a:xfrm>
              <a:off x="391320" y="4364280"/>
              <a:ext cx="413280" cy="223524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5" name="Freeform 31"/>
            <p:cNvSpPr/>
            <p:nvPr/>
          </p:nvSpPr>
          <p:spPr>
            <a:xfrm>
              <a:off x="351000" y="1289160"/>
              <a:ext cx="129960" cy="302652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Freeform 32"/>
            <p:cNvSpPr/>
            <p:nvPr/>
          </p:nvSpPr>
          <p:spPr>
            <a:xfrm>
              <a:off x="833760" y="6571440"/>
              <a:ext cx="99720" cy="28080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7" name="Freeform 33"/>
            <p:cNvSpPr/>
            <p:nvPr/>
          </p:nvSpPr>
          <p:spPr>
            <a:xfrm>
              <a:off x="376920" y="4107600"/>
              <a:ext cx="61200" cy="51084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8" name="Freeform 34"/>
            <p:cNvSpPr/>
            <p:nvPr/>
          </p:nvSpPr>
          <p:spPr>
            <a:xfrm>
              <a:off x="730440" y="3145680"/>
              <a:ext cx="1056960" cy="271620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9" name="Freeform 35"/>
            <p:cNvSpPr/>
            <p:nvPr/>
          </p:nvSpPr>
          <p:spPr>
            <a:xfrm>
              <a:off x="804960" y="6600240"/>
              <a:ext cx="89640" cy="25236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0" name="Freeform 36"/>
            <p:cNvSpPr/>
            <p:nvPr/>
          </p:nvSpPr>
          <p:spPr>
            <a:xfrm>
              <a:off x="730440" y="5897160"/>
              <a:ext cx="102600" cy="67356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1" name="Freeform 37"/>
            <p:cNvSpPr/>
            <p:nvPr/>
          </p:nvSpPr>
          <p:spPr>
            <a:xfrm>
              <a:off x="730440" y="5772600"/>
              <a:ext cx="28080" cy="22716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2" name="Freeform 38"/>
            <p:cNvSpPr/>
            <p:nvPr/>
          </p:nvSpPr>
          <p:spPr>
            <a:xfrm>
              <a:off x="754560" y="6322680"/>
              <a:ext cx="157320" cy="52992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>
                <a:lumMod val="75000"/>
                <a:alpha val="7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03" name="Freeform 11"/>
          <p:cNvSpPr/>
          <p:nvPr/>
        </p:nvSpPr>
        <p:spPr>
          <a:xfrm flipV="1">
            <a:off x="0" y="3410640"/>
            <a:ext cx="822960" cy="513360"/>
          </a:xfrm>
          <a:custGeom>
            <a:avLst/>
            <a:gdLst/>
            <a:ahLst/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PlaceHolder 2"/>
          <p:cNvSpPr>
            <a:spLocks noGrp="1"/>
          </p:cNvSpPr>
          <p:nvPr>
            <p:ph type="sldNum" idx="11"/>
          </p:nvPr>
        </p:nvSpPr>
        <p:spPr>
          <a:xfrm>
            <a:off x="65880" y="348588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lstStyle>
            <a:lvl1pPr algn="r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19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30519237-3B1E-4772-9F6E-13636DE2DF57}" type="slidenum">
              <a:rPr b="0" lang="en-US" sz="19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1900" spc="-1" strike="noStrike">
              <a:latin typeface="Times New Roman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ftr" idx="12"/>
          </p:nvPr>
        </p:nvSpPr>
        <p:spPr>
          <a:xfrm>
            <a:off x="2529720" y="6135840"/>
            <a:ext cx="51264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lstStyle>
            <a:lvl1pPr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All-to-All Broadcast and All-to-All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200" cy="49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All-to-All</a:t>
            </a: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 </a:t>
            </a: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Broadcast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A generalization to of one-to-all broadcast.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Every process broadcasts m-word message.</a:t>
            </a:r>
            <a:endParaRPr b="0" lang="en-US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The broadcast-message for each of the processes can be different than others 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All-to-All</a:t>
            </a:r>
            <a:r>
              <a:rPr b="1" lang="en-US" sz="2000" spc="-1" strike="noStrike">
                <a:solidFill>
                  <a:srgbClr val="262626"/>
                </a:solidFill>
                <a:latin typeface="Century Gothic"/>
              </a:rPr>
              <a:t> </a:t>
            </a: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Reduction 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Dual of all-to-all broadcast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Each node is the destination of an all-to-one reduction out of total P reductions.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3"/>
          </p:nvPr>
        </p:nvSpPr>
        <p:spPr>
          <a:xfrm>
            <a:off x="9000" y="78264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F65B373-F9EF-4BA3-8AB9-998A39BFB353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ftr" idx="14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All-to-All Broadcast and All-to-All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 type="sldNum" idx="15"/>
          </p:nvPr>
        </p:nvSpPr>
        <p:spPr>
          <a:xfrm>
            <a:off x="9000" y="78264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FFF76C5-5DD3-4BF1-A64A-8B7CAB0957D4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ftr" idx="16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213" name="Picture 4" descr=""/>
          <p:cNvPicPr/>
          <p:nvPr/>
        </p:nvPicPr>
        <p:blipFill>
          <a:blip r:embed="rId1"/>
          <a:stretch/>
        </p:blipFill>
        <p:spPr>
          <a:xfrm>
            <a:off x="301320" y="1294920"/>
            <a:ext cx="8514360" cy="3206160"/>
          </a:xfrm>
          <a:prstGeom prst="rect">
            <a:avLst/>
          </a:prstGeom>
          <a:ln w="0">
            <a:noFill/>
          </a:ln>
        </p:spPr>
      </p:pic>
      <p:sp>
        <p:nvSpPr>
          <p:cNvPr id="214" name="TextBox 2"/>
          <p:cNvSpPr/>
          <p:nvPr/>
        </p:nvSpPr>
        <p:spPr>
          <a:xfrm>
            <a:off x="594000" y="4941360"/>
            <a:ext cx="77580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entury Gothic"/>
                <a:ea typeface="DejaVu Sans"/>
              </a:rPr>
              <a:t>A naïve Broadcast method may be performing </a:t>
            </a:r>
            <a:r>
              <a:rPr b="1" lang="en-US" sz="1800" spc="-1" strike="noStrike">
                <a:solidFill>
                  <a:srgbClr val="000000"/>
                </a:solidFill>
                <a:latin typeface="Century Gothic"/>
                <a:ea typeface="DejaVu Sans"/>
              </a:rPr>
              <a:t>P</a:t>
            </a:r>
            <a:r>
              <a:rPr b="0" lang="en-US" sz="1800" spc="-1" strike="noStrike">
                <a:solidFill>
                  <a:srgbClr val="000000"/>
                </a:solidFill>
                <a:latin typeface="Century Gothic"/>
                <a:ea typeface="DejaVu Sans"/>
              </a:rPr>
              <a:t> one-to-all broadcasts. This will result </a:t>
            </a:r>
            <a:r>
              <a:rPr b="1" lang="en-US" sz="1800" spc="-1" strike="noStrike">
                <a:solidFill>
                  <a:srgbClr val="000000"/>
                </a:solidFill>
                <a:latin typeface="Century Gothic"/>
                <a:ea typeface="DejaVu Sans"/>
              </a:rPr>
              <a:t>P( log(p)(t(s) + mt(w)) )</a:t>
            </a:r>
            <a:r>
              <a:rPr b="0" lang="en-US" sz="1800" spc="-1" strike="noStrike">
                <a:solidFill>
                  <a:srgbClr val="000000"/>
                </a:solidFill>
                <a:latin typeface="Century Gothic"/>
                <a:ea typeface="DejaVu Sans"/>
              </a:rPr>
              <a:t> communication time.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entury Gothic"/>
                <a:ea typeface="DejaVu Sans"/>
              </a:rPr>
              <a:t>Solution?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711360" y="8928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6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62626"/>
                </a:solidFill>
                <a:latin typeface="Century Gothic"/>
              </a:rPr>
              <a:t>Linear Ring Broadcast</a:t>
            </a:r>
            <a:br>
              <a:rPr sz="2400"/>
            </a:br>
            <a:r>
              <a:rPr b="1" lang="en-US" sz="2400" spc="-1" strike="noStrike">
                <a:solidFill>
                  <a:srgbClr val="262626"/>
                </a:solidFill>
                <a:latin typeface="Century Gothic"/>
              </a:rPr>
              <a:t> </a:t>
            </a:r>
            <a:br>
              <a:rPr sz="2400"/>
            </a:br>
            <a:endParaRPr b="0" lang="en-US" sz="2400" spc="-1" strike="noStrike"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200" cy="49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7"/>
          </p:nvPr>
        </p:nvSpPr>
        <p:spPr>
          <a:xfrm>
            <a:off x="9000" y="78264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A6880A8-2A42-4303-BBE9-418E37CC6D33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218" name="PlaceHolder 4"/>
          <p:cNvSpPr>
            <a:spLocks noGrp="1"/>
          </p:cNvSpPr>
          <p:nvPr>
            <p:ph type="ftr" idx="18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219" name="Picture 4" descr=""/>
          <p:cNvPicPr/>
          <p:nvPr/>
        </p:nvPicPr>
        <p:blipFill>
          <a:blip r:embed="rId1"/>
          <a:stretch/>
        </p:blipFill>
        <p:spPr>
          <a:xfrm>
            <a:off x="594000" y="457200"/>
            <a:ext cx="8121600" cy="6400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711360" y="8928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6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62626"/>
                </a:solidFill>
                <a:latin typeface="Century Gothic"/>
              </a:rPr>
              <a:t>Linear Ring Broadcast</a:t>
            </a:r>
            <a:br>
              <a:rPr sz="2400"/>
            </a:br>
            <a:r>
              <a:rPr b="1" lang="en-US" sz="2400" spc="-1" strike="noStrike">
                <a:solidFill>
                  <a:srgbClr val="262626"/>
                </a:solidFill>
                <a:latin typeface="Century Gothic"/>
              </a:rPr>
              <a:t> </a:t>
            </a:r>
            <a:br>
              <a:rPr sz="2400"/>
            </a:br>
            <a:endParaRPr b="0" lang="en-US" sz="2400" spc="-1" strike="noStrike"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200" cy="49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19"/>
          </p:nvPr>
        </p:nvSpPr>
        <p:spPr>
          <a:xfrm>
            <a:off x="9000" y="78264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BD8AB5C-6456-48AA-AE88-9A5316878871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ftr" idx="20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224" name="Picture 4" descr=""/>
          <p:cNvPicPr/>
          <p:nvPr/>
        </p:nvPicPr>
        <p:blipFill>
          <a:blip r:embed="rId1"/>
          <a:stretch/>
        </p:blipFill>
        <p:spPr>
          <a:xfrm>
            <a:off x="354960" y="1225080"/>
            <a:ext cx="8578440" cy="498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0"/>
          <p:cNvSpPr/>
          <p:nvPr/>
        </p:nvSpPr>
        <p:spPr>
          <a:xfrm>
            <a:off x="0" y="-720"/>
            <a:ext cx="9143280" cy="6853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fe7c4"/>
              </a:gs>
            </a:gsLst>
            <a:path path="circle">
              <a:fillToRect l="25000" t="25000" r="75000" b="75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87080" y="645120"/>
            <a:ext cx="3841200" cy="125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1000"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500" spc="-1" strike="noStrike">
                <a:solidFill>
                  <a:srgbClr val="262626"/>
                </a:solidFill>
                <a:latin typeface="Century Gothic"/>
              </a:rPr>
              <a:t>Linear Ring Broadcast</a:t>
            </a:r>
            <a:br>
              <a:rPr sz="2500"/>
            </a:br>
            <a:r>
              <a:rPr b="1" lang="en-US" sz="2500" spc="-1" strike="noStrike">
                <a:solidFill>
                  <a:srgbClr val="262626"/>
                </a:solidFill>
                <a:latin typeface="Century Gothic"/>
              </a:rPr>
              <a:t> </a:t>
            </a:r>
            <a:br>
              <a:rPr sz="2500"/>
            </a:br>
            <a:endParaRPr b="0" lang="en-US" sz="2500" spc="-1" strike="noStrike">
              <a:latin typeface="Arial"/>
            </a:endParaRPr>
          </a:p>
        </p:txBody>
      </p:sp>
      <p:sp>
        <p:nvSpPr>
          <p:cNvPr id="227" name="Rectangle 12"/>
          <p:cNvSpPr/>
          <p:nvPr/>
        </p:nvSpPr>
        <p:spPr>
          <a:xfrm>
            <a:off x="0" y="0"/>
            <a:ext cx="13644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487080" y="2133720"/>
            <a:ext cx="3841200" cy="3758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Home Task  (graded as extra bonus)</a:t>
            </a: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229" name="Picture 3" descr=""/>
          <p:cNvPicPr/>
          <p:nvPr/>
        </p:nvPicPr>
        <p:blipFill>
          <a:blip r:embed="rId1"/>
          <a:stretch/>
        </p:blipFill>
        <p:spPr>
          <a:xfrm>
            <a:off x="4236120" y="423000"/>
            <a:ext cx="4788360" cy="5900400"/>
          </a:xfrm>
          <a:prstGeom prst="rect">
            <a:avLst/>
          </a:prstGeom>
          <a:ln w="0">
            <a:noFill/>
          </a:ln>
        </p:spPr>
      </p:pic>
      <p:sp>
        <p:nvSpPr>
          <p:cNvPr id="230" name="Freeform 12"/>
          <p:cNvSpPr/>
          <p:nvPr/>
        </p:nvSpPr>
        <p:spPr>
          <a:xfrm>
            <a:off x="0" y="6061320"/>
            <a:ext cx="777960" cy="505440"/>
          </a:xfrm>
          <a:custGeom>
            <a:avLst/>
            <a:gdLst/>
            <a:ahLst/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solidFill>
            <a:srgbClr val="a530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31" name="PlaceHolder 3"/>
          <p:cNvSpPr>
            <a:spLocks noGrp="1"/>
          </p:cNvSpPr>
          <p:nvPr>
            <p:ph type="sldNum" idx="21"/>
          </p:nvPr>
        </p:nvSpPr>
        <p:spPr>
          <a:xfrm>
            <a:off x="91080" y="613368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lstStyle>
            <a:lvl1pPr algn="r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19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9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EB06A572-65EB-4A48-B181-5F5F63105B5E}" type="slidenum">
              <a:rPr b="0" lang="en-US" sz="19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1900" spc="-1" strike="noStrike"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ftr" idx="22"/>
          </p:nvPr>
        </p:nvSpPr>
        <p:spPr>
          <a:xfrm>
            <a:off x="915840" y="6135840"/>
            <a:ext cx="571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lstStyle>
            <a:lvl1pPr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b="0" lang="en-US" sz="900" spc="-1" strike="noStrike">
                <a:solidFill>
                  <a:srgbClr val="8b8b8b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b8b8b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All-to-All Broadcast and All-to-All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322840" cy="46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98000"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Linear Array or Ring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Reduction</a:t>
            </a:r>
            <a:endParaRPr b="0" lang="en-US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Draw an All-to-All Broadcast on a P-node linear ring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Reverse the directions in each foreach of the step without changing message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After each communication step, combine messages having same broadcast destination with associative operator.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 </a:t>
            </a: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Now, Its your turn to draw?</a:t>
            </a:r>
            <a:endParaRPr b="0" lang="en-US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1" lang="en-US" sz="2000" spc="-1" strike="noStrike">
                <a:solidFill>
                  <a:srgbClr val="404040"/>
                </a:solidFill>
                <a:latin typeface="Century Gothic"/>
              </a:rPr>
              <a:t>Draw an All-to-All Broadcast on a 4-node linear ring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1" lang="en-US" sz="2000" spc="-1" strike="noStrike">
                <a:solidFill>
                  <a:srgbClr val="404040"/>
                </a:solidFill>
                <a:latin typeface="Century Gothic"/>
              </a:rPr>
              <a:t>Reverse the directions and combine the results using ‘SUM’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3"/>
          </p:nvPr>
        </p:nvSpPr>
        <p:spPr>
          <a:xfrm>
            <a:off x="9000" y="78264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0BC83019-6FB3-49EC-950D-0540136C3AA0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 type="ftr" idx="24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711360" y="44856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6000"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262626"/>
                </a:solidFill>
                <a:latin typeface="Century Gothic"/>
              </a:rPr>
              <a:t>Linear Ring Reduction</a:t>
            </a:r>
            <a:br>
              <a:rPr sz="2400"/>
            </a:br>
            <a:r>
              <a:rPr b="1" lang="en-US" sz="2400" spc="-1" strike="noStrike">
                <a:solidFill>
                  <a:srgbClr val="262626"/>
                </a:solidFill>
                <a:latin typeface="Century Gothic"/>
              </a:rPr>
              <a:t> </a:t>
            </a:r>
            <a:br>
              <a:rPr sz="2400"/>
            </a:br>
            <a:endParaRPr b="0" lang="en-US" sz="2400" spc="-1" strike="noStrike"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ftr" idx="25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CS321 - Spring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239" name="Picture 4" descr=""/>
          <p:cNvPicPr/>
          <p:nvPr/>
        </p:nvPicPr>
        <p:blipFill>
          <a:blip r:embed="rId1"/>
          <a:stretch/>
        </p:blipFill>
        <p:spPr>
          <a:xfrm>
            <a:off x="196200" y="1380960"/>
            <a:ext cx="8947080" cy="494100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9474A9-309C-4426-BC49-9A1417A931F8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All-to-All Broadcast on 2D Mesh..Algorithm 4.6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322840" cy="46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26"/>
          </p:nvPr>
        </p:nvSpPr>
        <p:spPr>
          <a:xfrm>
            <a:off x="9000" y="78264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4A516C5-3042-454C-B3C6-28F0DA74E9E2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243" name="PlaceHolder 4"/>
          <p:cNvSpPr>
            <a:spLocks noGrp="1"/>
          </p:cNvSpPr>
          <p:nvPr>
            <p:ph type="ftr" idx="27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244" name="Picture 4" descr=""/>
          <p:cNvPicPr/>
          <p:nvPr/>
        </p:nvPicPr>
        <p:blipFill>
          <a:blip r:embed="rId1"/>
          <a:stretch/>
        </p:blipFill>
        <p:spPr>
          <a:xfrm>
            <a:off x="716760" y="1233000"/>
            <a:ext cx="7832880" cy="548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322840" cy="46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8"/>
          </p:nvPr>
        </p:nvSpPr>
        <p:spPr>
          <a:xfrm>
            <a:off x="9000" y="78264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A1210A54-A577-4151-B17F-6AB5EA72BE0B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ftr" idx="29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249" name="Picture 4" descr=""/>
          <p:cNvPicPr/>
          <p:nvPr/>
        </p:nvPicPr>
        <p:blipFill>
          <a:blip r:embed="rId1"/>
          <a:stretch/>
        </p:blipFill>
        <p:spPr>
          <a:xfrm>
            <a:off x="956520" y="230040"/>
            <a:ext cx="7475760" cy="5923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All-to-All Broadcast on 2D Mesh..Algorithm 4.6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322840" cy="46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30"/>
          </p:nvPr>
        </p:nvSpPr>
        <p:spPr>
          <a:xfrm>
            <a:off x="9000" y="78264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0777517-C012-4964-96F7-29E45B47A86E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ftr" idx="31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254" name="Picture 4" descr=""/>
          <p:cNvPicPr/>
          <p:nvPr/>
        </p:nvPicPr>
        <p:blipFill>
          <a:blip r:embed="rId1"/>
          <a:stretch/>
        </p:blipFill>
        <p:spPr>
          <a:xfrm>
            <a:off x="716760" y="1233000"/>
            <a:ext cx="7832880" cy="5482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Picture 4" descr=""/>
          <p:cNvPicPr/>
          <p:nvPr/>
        </p:nvPicPr>
        <p:blipFill>
          <a:blip r:embed="rId1"/>
          <a:stretch/>
        </p:blipFill>
        <p:spPr>
          <a:xfrm>
            <a:off x="1519200" y="230040"/>
            <a:ext cx="6104880" cy="6396840"/>
          </a:xfrm>
          <a:prstGeom prst="rect">
            <a:avLst/>
          </a:prstGeom>
          <a:ln w="0">
            <a:noFill/>
          </a:ln>
        </p:spPr>
      </p:pic>
      <p:sp>
        <p:nvSpPr>
          <p:cNvPr id="256" name="PlaceHolder 1"/>
          <p:cNvSpPr>
            <a:spLocks noGrp="1"/>
          </p:cNvSpPr>
          <p:nvPr>
            <p:ph type="ftr" idx="32"/>
          </p:nvPr>
        </p:nvSpPr>
        <p:spPr>
          <a:xfrm>
            <a:off x="1942560" y="6135840"/>
            <a:ext cx="51069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 type="sldNum" idx="33"/>
          </p:nvPr>
        </p:nvSpPr>
        <p:spPr>
          <a:xfrm>
            <a:off x="511200" y="78768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0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36DEB5A-2C2D-4AF3-B521-56A323B77C8A}" type="slidenum">
              <a:rPr b="0" lang="en-US" sz="2000" spc="-1" strike="noStrike">
                <a:solidFill>
                  <a:srgbClr val="000000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All-to-All Broadcast on HyperCube..Algorithm 4.6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322840" cy="46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34"/>
          </p:nvPr>
        </p:nvSpPr>
        <p:spPr>
          <a:xfrm>
            <a:off x="9000" y="78264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9D3F2184-F296-49C0-9D80-9862599EC337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261" name="PlaceHolder 4"/>
          <p:cNvSpPr>
            <a:spLocks noGrp="1"/>
          </p:cNvSpPr>
          <p:nvPr>
            <p:ph type="ftr" idx="35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262" name="Picture 4" descr=""/>
          <p:cNvPicPr/>
          <p:nvPr/>
        </p:nvPicPr>
        <p:blipFill>
          <a:blip r:embed="rId1"/>
          <a:stretch/>
        </p:blipFill>
        <p:spPr>
          <a:xfrm>
            <a:off x="594000" y="1893240"/>
            <a:ext cx="8225640" cy="383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All-to-All Broadcast on HyperCube..Algorithm 4.6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322840" cy="464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Same algorithm for linear ring is not possible as in one-to-all broadcast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6"/>
          </p:nvPr>
        </p:nvSpPr>
        <p:spPr>
          <a:xfrm>
            <a:off x="9000" y="78264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DC41A8B-A215-481B-80C3-88D4A53A81D0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ftr" idx="37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pic>
        <p:nvPicPr>
          <p:cNvPr id="267" name="Picture 4" descr=""/>
          <p:cNvPicPr/>
          <p:nvPr/>
        </p:nvPicPr>
        <p:blipFill>
          <a:blip r:embed="rId1"/>
          <a:stretch/>
        </p:blipFill>
        <p:spPr>
          <a:xfrm>
            <a:off x="458640" y="2226960"/>
            <a:ext cx="8225640" cy="4277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All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-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to-All Broadcast and All-to-All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200" cy="49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Cost Estimation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Different on each infrastructure.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Linear Ring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Mesh</a:t>
            </a:r>
            <a:endParaRPr b="0" lang="en-US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Total time for All-to-All broadcast in the first  phase</a:t>
            </a: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	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Total time for the second phase (note here m= m)</a:t>
            </a:r>
            <a:endParaRPr b="0" lang="en-US" sz="2000" spc="-1" strike="noStrike">
              <a:latin typeface="Arial"/>
            </a:endParaRPr>
          </a:p>
          <a:p>
            <a:pPr lvl="2" marL="1143000" indent="-22860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So, Total time= 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38"/>
          </p:nvPr>
        </p:nvSpPr>
        <p:spPr>
          <a:xfrm>
            <a:off x="9000" y="78264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6F582E2D-7069-4B28-8077-4C129131F190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ftr" idx="39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All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-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to-All Broadcast and All-to-All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200" cy="49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Cost Estimation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Different on each infrastructure.</a:t>
            </a:r>
            <a:endParaRPr b="0" lang="en-US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Hypercube (broadcast)</a:t>
            </a:r>
            <a:endParaRPr b="0" lang="en-US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Communication in for 1st step:</a:t>
            </a:r>
            <a:r>
              <a:rPr b="1" lang="en-US" sz="20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Communication in for 2nd step:</a:t>
            </a:r>
            <a:r>
              <a:rPr b="1" lang="en-US" sz="20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Communication in for ith step:</a:t>
            </a:r>
            <a:r>
              <a:rPr b="1" lang="en-US" sz="20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entury Gothic"/>
              </a:rPr>
              <a:t>Total Cost=</a:t>
            </a:r>
            <a:r>
              <a:rPr b="0" lang="en-US" sz="20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40"/>
          </p:nvPr>
        </p:nvSpPr>
        <p:spPr>
          <a:xfrm>
            <a:off x="9000" y="78264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449B876-F98D-4DCD-BA46-58AC5EBB9B75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ftr" idx="41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66000"/>
          </a:bodyPr>
          <a:p>
            <a:pPr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Basic Communication Operations</a:t>
            </a:r>
            <a:br>
              <a:rPr sz="3600"/>
            </a:b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	</a:t>
            </a:r>
            <a:r>
              <a:rPr b="0" lang="en-US" sz="3600" spc="-1" strike="noStrike">
                <a:solidFill>
                  <a:srgbClr val="262626"/>
                </a:solidFill>
                <a:latin typeface="Century Gothic"/>
              </a:rPr>
              <a:t>(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All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-</a:t>
            </a:r>
            <a:r>
              <a:rPr b="1" lang="en-US" sz="2200" spc="-1" strike="noStrike">
                <a:solidFill>
                  <a:srgbClr val="262626"/>
                </a:solidFill>
                <a:latin typeface="Century Gothic"/>
              </a:rPr>
              <a:t>to-All Broadcast and All-to-All Reduction</a:t>
            </a:r>
            <a:r>
              <a:rPr b="0" lang="en-US" sz="2200" spc="-1" strike="noStrike">
                <a:solidFill>
                  <a:srgbClr val="262626"/>
                </a:solidFill>
                <a:latin typeface="Century Gothic"/>
              </a:rPr>
              <a:t>)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/>
          </p:nvPr>
        </p:nvSpPr>
        <p:spPr>
          <a:xfrm>
            <a:off x="594000" y="1280160"/>
            <a:ext cx="8440200" cy="49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404040"/>
                </a:solidFill>
                <a:latin typeface="Century Gothic"/>
              </a:rPr>
              <a:t>Cost Estimation</a:t>
            </a:r>
            <a:endParaRPr b="0" lang="en-US" sz="24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400" spc="-1" strike="noStrike">
                <a:solidFill>
                  <a:srgbClr val="404040"/>
                </a:solidFill>
                <a:latin typeface="Century Gothic"/>
              </a:rPr>
              <a:t>Total Cost=</a:t>
            </a:r>
            <a:r>
              <a:rPr b="0" lang="en-US" sz="18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1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entury Gothic"/>
              </a:rPr>
              <a:t>Simplify the equation</a:t>
            </a: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entury Gothic"/>
              </a:rPr>
              <a:t>HINT: [  + ……+  ]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601"/>
              </a:spcBef>
              <a:buClr>
                <a:srgbClr val="a53010"/>
              </a:buClr>
              <a:buFont typeface="Wingdings 3" charset="2"/>
              <a:buChar char=""/>
              <a:tabLst>
                <a:tab algn="l" pos="0"/>
              </a:tabLst>
            </a:pPr>
            <a:r>
              <a:rPr b="0" lang="en-US" sz="2800" spc="-1" strike="noStrike">
                <a:solidFill>
                  <a:srgbClr val="404040"/>
                </a:solidFill>
                <a:latin typeface="Century Gothic"/>
              </a:rPr>
              <a:t>Answer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42"/>
          </p:nvPr>
        </p:nvSpPr>
        <p:spPr>
          <a:xfrm>
            <a:off x="9000" y="782640"/>
            <a:ext cx="58428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45644CAA-65FF-4D05-A170-3984BD383A2B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sp>
        <p:nvSpPr>
          <p:cNvPr id="279" name="PlaceHolder 4"/>
          <p:cNvSpPr>
            <a:spLocks noGrp="1"/>
          </p:cNvSpPr>
          <p:nvPr>
            <p:ph type="ftr" idx="43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roup 12"/>
          <p:cNvGrpSpPr/>
          <p:nvPr/>
        </p:nvGrpSpPr>
        <p:grpSpPr>
          <a:xfrm>
            <a:off x="0" y="228600"/>
            <a:ext cx="2137680" cy="6638040"/>
            <a:chOff x="0" y="228600"/>
            <a:chExt cx="2137680" cy="6638040"/>
          </a:xfrm>
        </p:grpSpPr>
        <p:sp>
          <p:nvSpPr>
            <p:cNvPr id="281" name="Freeform 11"/>
            <p:cNvSpPr/>
            <p:nvPr/>
          </p:nvSpPr>
          <p:spPr>
            <a:xfrm>
              <a:off x="0" y="2575080"/>
              <a:ext cx="74880" cy="625320"/>
            </a:xfrm>
            <a:custGeom>
              <a:avLst/>
              <a:gdLst/>
              <a:ahLst/>
              <a:rect l="l" t="t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2" name="Freeform 12"/>
            <p:cNvSpPr/>
            <p:nvPr/>
          </p:nvSpPr>
          <p:spPr>
            <a:xfrm>
              <a:off x="96480" y="3156480"/>
              <a:ext cx="484200" cy="2321640"/>
            </a:xfrm>
            <a:custGeom>
              <a:avLst/>
              <a:gdLst/>
              <a:ahLst/>
              <a:rect l="l" t="t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Freeform 13"/>
            <p:cNvSpPr/>
            <p:nvPr/>
          </p:nvSpPr>
          <p:spPr>
            <a:xfrm>
              <a:off x="605160" y="5447160"/>
              <a:ext cx="456480" cy="1419480"/>
            </a:xfrm>
            <a:custGeom>
              <a:avLst/>
              <a:gdLst/>
              <a:ahLst/>
              <a:rect l="l" t="t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4" name="Freeform 14"/>
            <p:cNvSpPr/>
            <p:nvPr/>
          </p:nvSpPr>
          <p:spPr>
            <a:xfrm>
              <a:off x="720000" y="6503760"/>
              <a:ext cx="127800" cy="362880"/>
            </a:xfrm>
            <a:custGeom>
              <a:avLst/>
              <a:gdLst/>
              <a:ahLst/>
              <a:rect l="l" t="t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5" name="Freeform 15"/>
            <p:cNvSpPr/>
            <p:nvPr/>
          </p:nvSpPr>
          <p:spPr>
            <a:xfrm>
              <a:off x="75600" y="3201120"/>
              <a:ext cx="615600" cy="3327840"/>
            </a:xfrm>
            <a:custGeom>
              <a:avLst/>
              <a:gdLst/>
              <a:ahLst/>
              <a:rect l="l" t="t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6" name="Freeform 16"/>
            <p:cNvSpPr/>
            <p:nvPr/>
          </p:nvSpPr>
          <p:spPr>
            <a:xfrm>
              <a:off x="16920" y="228600"/>
              <a:ext cx="78840" cy="2927160"/>
            </a:xfrm>
            <a:custGeom>
              <a:avLst/>
              <a:gdLst/>
              <a:ahLst/>
              <a:rect l="l" t="t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7" name="Freeform 17"/>
            <p:cNvSpPr/>
            <p:nvPr/>
          </p:nvSpPr>
          <p:spPr>
            <a:xfrm>
              <a:off x="58680" y="2944080"/>
              <a:ext cx="57960" cy="49320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8" name="Freeform 18"/>
            <p:cNvSpPr/>
            <p:nvPr/>
          </p:nvSpPr>
          <p:spPr>
            <a:xfrm>
              <a:off x="577440" y="5478840"/>
              <a:ext cx="141840" cy="1024200"/>
            </a:xfrm>
            <a:custGeom>
              <a:avLst/>
              <a:gdLst/>
              <a:ahLst/>
              <a:rect l="l" t="t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9" name="Freeform 19"/>
            <p:cNvSpPr/>
            <p:nvPr/>
          </p:nvSpPr>
          <p:spPr>
            <a:xfrm>
              <a:off x="581400" y="1398960"/>
              <a:ext cx="1556280" cy="4047480"/>
            </a:xfrm>
            <a:custGeom>
              <a:avLst/>
              <a:gdLst/>
              <a:ahLst/>
              <a:rect l="l" t="t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0" name="Freeform 20"/>
            <p:cNvSpPr/>
            <p:nvPr/>
          </p:nvSpPr>
          <p:spPr>
            <a:xfrm>
              <a:off x="691920" y="6530040"/>
              <a:ext cx="120960" cy="336600"/>
            </a:xfrm>
            <a:custGeom>
              <a:avLst/>
              <a:gdLst/>
              <a:ahLst/>
              <a:rect l="l" t="t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1" name="Freeform 21"/>
            <p:cNvSpPr/>
            <p:nvPr/>
          </p:nvSpPr>
          <p:spPr>
            <a:xfrm>
              <a:off x="577440" y="5359320"/>
              <a:ext cx="27360" cy="22104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" name="Freeform 22"/>
            <p:cNvSpPr/>
            <p:nvPr/>
          </p:nvSpPr>
          <p:spPr>
            <a:xfrm>
              <a:off x="637560" y="6244560"/>
              <a:ext cx="178200" cy="621720"/>
            </a:xfrm>
            <a:custGeom>
              <a:avLst/>
              <a:gdLst/>
              <a:ahLst/>
              <a:rect l="l" t="t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93" name="Group 26"/>
          <p:cNvGrpSpPr/>
          <p:nvPr/>
        </p:nvGrpSpPr>
        <p:grpSpPr>
          <a:xfrm>
            <a:off x="20520" y="-720"/>
            <a:ext cx="1766880" cy="6853320"/>
            <a:chOff x="20520" y="-720"/>
            <a:chExt cx="1766880" cy="6853320"/>
          </a:xfrm>
        </p:grpSpPr>
        <p:sp>
          <p:nvSpPr>
            <p:cNvPr id="294" name="Freeform 27"/>
            <p:cNvSpPr/>
            <p:nvPr/>
          </p:nvSpPr>
          <p:spPr>
            <a:xfrm>
              <a:off x="20520" y="-720"/>
              <a:ext cx="370080" cy="4400280"/>
            </a:xfrm>
            <a:custGeom>
              <a:avLst/>
              <a:gdLst/>
              <a:ahLst/>
              <a:rect l="l" t="t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5" name="Freeform 28"/>
            <p:cNvSpPr/>
            <p:nvPr/>
          </p:nvSpPr>
          <p:spPr>
            <a:xfrm>
              <a:off x="412560" y="4316400"/>
              <a:ext cx="316800" cy="1580040"/>
            </a:xfrm>
            <a:custGeom>
              <a:avLst/>
              <a:gdLst/>
              <a:ahLst/>
              <a:rect l="l" t="t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6" name="Freeform 29"/>
            <p:cNvSpPr/>
            <p:nvPr/>
          </p:nvSpPr>
          <p:spPr>
            <a:xfrm>
              <a:off x="754560" y="5862600"/>
              <a:ext cx="322560" cy="990000"/>
            </a:xfrm>
            <a:custGeom>
              <a:avLst/>
              <a:gdLst/>
              <a:ahLst/>
              <a:rect l="l" t="t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7" name="Freeform 30"/>
            <p:cNvSpPr/>
            <p:nvPr/>
          </p:nvSpPr>
          <p:spPr>
            <a:xfrm>
              <a:off x="391320" y="4364280"/>
              <a:ext cx="413280" cy="2235240"/>
            </a:xfrm>
            <a:custGeom>
              <a:avLst/>
              <a:gdLst/>
              <a:ahLst/>
              <a:rect l="l" t="t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8" name="Freeform 31"/>
            <p:cNvSpPr/>
            <p:nvPr/>
          </p:nvSpPr>
          <p:spPr>
            <a:xfrm>
              <a:off x="351000" y="1289160"/>
              <a:ext cx="129960" cy="3026520"/>
            </a:xfrm>
            <a:custGeom>
              <a:avLst/>
              <a:gdLst/>
              <a:ahLst/>
              <a:rect l="l" t="t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9" name="Freeform 32"/>
            <p:cNvSpPr/>
            <p:nvPr/>
          </p:nvSpPr>
          <p:spPr>
            <a:xfrm>
              <a:off x="833760" y="6571440"/>
              <a:ext cx="99720" cy="280800"/>
            </a:xfrm>
            <a:custGeom>
              <a:avLst/>
              <a:gdLst/>
              <a:ahLst/>
              <a:rect l="l" t="t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0" name="Freeform 33"/>
            <p:cNvSpPr/>
            <p:nvPr/>
          </p:nvSpPr>
          <p:spPr>
            <a:xfrm>
              <a:off x="376920" y="4107600"/>
              <a:ext cx="61200" cy="510840"/>
            </a:xfrm>
            <a:custGeom>
              <a:avLst/>
              <a:gdLst/>
              <a:ahLst/>
              <a:rect l="l" t="t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1" name="Freeform 34"/>
            <p:cNvSpPr/>
            <p:nvPr/>
          </p:nvSpPr>
          <p:spPr>
            <a:xfrm>
              <a:off x="730440" y="3145680"/>
              <a:ext cx="1056960" cy="2716200"/>
            </a:xfrm>
            <a:custGeom>
              <a:avLst/>
              <a:gdLst/>
              <a:ahLst/>
              <a:rect l="l" t="t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2" name="Freeform 35"/>
            <p:cNvSpPr/>
            <p:nvPr/>
          </p:nvSpPr>
          <p:spPr>
            <a:xfrm>
              <a:off x="804960" y="6600240"/>
              <a:ext cx="89640" cy="252360"/>
            </a:xfrm>
            <a:custGeom>
              <a:avLst/>
              <a:gdLst/>
              <a:ahLst/>
              <a:rect l="l" t="t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3" name="Freeform 36"/>
            <p:cNvSpPr/>
            <p:nvPr/>
          </p:nvSpPr>
          <p:spPr>
            <a:xfrm>
              <a:off x="730440" y="5897160"/>
              <a:ext cx="102600" cy="673560"/>
            </a:xfrm>
            <a:custGeom>
              <a:avLst/>
              <a:gdLst/>
              <a:ahLst/>
              <a:rect l="l" t="t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4" name="Freeform 37"/>
            <p:cNvSpPr/>
            <p:nvPr/>
          </p:nvSpPr>
          <p:spPr>
            <a:xfrm>
              <a:off x="730440" y="5772600"/>
              <a:ext cx="28080" cy="227160"/>
            </a:xfrm>
            <a:custGeom>
              <a:avLst/>
              <a:gdLst/>
              <a:ahLst/>
              <a:rect l="l" t="t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5" name="Freeform 38"/>
            <p:cNvSpPr/>
            <p:nvPr/>
          </p:nvSpPr>
          <p:spPr>
            <a:xfrm>
              <a:off x="754560" y="6322680"/>
              <a:ext cx="157320" cy="529920"/>
            </a:xfrm>
            <a:custGeom>
              <a:avLst/>
              <a:gdLst/>
              <a:ahLst/>
              <a:rect l="l" t="t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06" name="Rectangle 40"/>
          <p:cNvSpPr/>
          <p:nvPr/>
        </p:nvSpPr>
        <p:spPr>
          <a:xfrm>
            <a:off x="0" y="0"/>
            <a:ext cx="136440" cy="685728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07" name="Freeform 6"/>
          <p:cNvSpPr/>
          <p:nvPr/>
        </p:nvSpPr>
        <p:spPr>
          <a:xfrm>
            <a:off x="0" y="4323960"/>
            <a:ext cx="1307880" cy="777960"/>
          </a:xfrm>
          <a:custGeom>
            <a:avLst/>
            <a:gdLst/>
            <a:ahLst/>
            <a:rect l="l" t="t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08" name="Rectangle 44"/>
          <p:cNvSpPr/>
          <p:nvPr/>
        </p:nvSpPr>
        <p:spPr>
          <a:xfrm>
            <a:off x="0" y="-720"/>
            <a:ext cx="9143280" cy="68533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fe7c4"/>
              </a:gs>
            </a:gsLst>
            <a:path path="circle">
              <a:fillToRect l="25000" t="25000" r="75000" b="75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09" name="Rectangle 46"/>
          <p:cNvSpPr/>
          <p:nvPr/>
        </p:nvSpPr>
        <p:spPr>
          <a:xfrm>
            <a:off x="0" y="0"/>
            <a:ext cx="3479040" cy="685728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405360" y="967320"/>
            <a:ext cx="2833560" cy="394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>
              <a:lnSpc>
                <a:spcPct val="100000"/>
              </a:lnSpc>
              <a:buNone/>
            </a:pPr>
            <a:r>
              <a:rPr b="1" lang="en-US" sz="3500" spc="-1" strike="noStrike">
                <a:solidFill>
                  <a:srgbClr val="feffff"/>
                </a:solidFill>
                <a:latin typeface="Century Gothic"/>
              </a:rPr>
              <a:t>Questions</a:t>
            </a:r>
            <a:endParaRPr b="0" lang="en-US" sz="3500" spc="-1" strike="noStrike">
              <a:latin typeface="Arial"/>
            </a:endParaRPr>
          </a:p>
        </p:txBody>
      </p:sp>
      <p:sp>
        <p:nvSpPr>
          <p:cNvPr id="311" name="Freeform 5"/>
          <p:cNvSpPr/>
          <p:nvPr/>
        </p:nvSpPr>
        <p:spPr>
          <a:xfrm>
            <a:off x="0" y="5033160"/>
            <a:ext cx="4052160" cy="856440"/>
          </a:xfrm>
          <a:custGeom>
            <a:avLst/>
            <a:gdLst/>
            <a:ahLst/>
            <a:rect l="l" t="t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12" name="PlaceHolder 2"/>
          <p:cNvSpPr>
            <a:spLocks noGrp="1"/>
          </p:cNvSpPr>
          <p:nvPr>
            <p:ph type="sldNum" idx="44"/>
          </p:nvPr>
        </p:nvSpPr>
        <p:spPr>
          <a:xfrm>
            <a:off x="3182040" y="5202720"/>
            <a:ext cx="487080" cy="51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lstStyle>
            <a:lvl1pPr algn="r">
              <a:lnSpc>
                <a:spcPct val="100000"/>
              </a:lnSpc>
              <a:spcAft>
                <a:spcPts val="601"/>
              </a:spcAft>
              <a:buNone/>
              <a:defRPr b="0" lang="en-US" sz="20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 algn="r">
              <a:lnSpc>
                <a:spcPct val="100000"/>
              </a:lnSpc>
              <a:spcAft>
                <a:spcPts val="601"/>
              </a:spcAft>
              <a:buNone/>
            </a:pPr>
            <a:fld id="{480D2EE2-AF97-4801-BCA1-FFAC83344826}" type="slidenum">
              <a:rPr b="0" lang="en-US" sz="2000" spc="-1" strike="noStrike">
                <a:solidFill>
                  <a:srgbClr val="feffff"/>
                </a:solidFill>
                <a:latin typeface="Century Gothic"/>
              </a:rPr>
              <a:t>&lt;number&gt;</a:t>
            </a:fld>
            <a:endParaRPr b="0" lang="en-US" sz="2000" spc="-1" strike="noStrike">
              <a:latin typeface="Times New Roman"/>
            </a:endParaRPr>
          </a:p>
        </p:txBody>
      </p:sp>
      <p:pic>
        <p:nvPicPr>
          <p:cNvPr id="313" name="Graphic 9" descr="Help"/>
          <p:cNvPicPr/>
          <p:nvPr/>
        </p:nvPicPr>
        <p:blipFill>
          <a:blip r:embed="rId1"/>
          <a:stretch/>
        </p:blipFill>
        <p:spPr>
          <a:xfrm>
            <a:off x="4483440" y="972360"/>
            <a:ext cx="4229640" cy="4229640"/>
          </a:xfrm>
          <a:prstGeom prst="rect">
            <a:avLst/>
          </a:prstGeom>
          <a:ln w="0">
            <a:noFill/>
          </a:ln>
        </p:spPr>
      </p:pic>
      <p:sp>
        <p:nvSpPr>
          <p:cNvPr id="314" name="PlaceHolder 3"/>
          <p:cNvSpPr>
            <a:spLocks noGrp="1"/>
          </p:cNvSpPr>
          <p:nvPr>
            <p:ph type="ftr" idx="45"/>
          </p:nvPr>
        </p:nvSpPr>
        <p:spPr>
          <a:xfrm>
            <a:off x="405360" y="6135840"/>
            <a:ext cx="25657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rmAutofit/>
          </a:bodyPr>
          <a:lstStyle>
            <a:lvl1pPr>
              <a:lnSpc>
                <a:spcPct val="100000"/>
              </a:lnSpc>
              <a:spcAft>
                <a:spcPts val="601"/>
              </a:spcAft>
              <a:buNone/>
              <a:defRPr b="0" lang="en-US" sz="900" spc="-1" strike="noStrike">
                <a:solidFill>
                  <a:srgbClr val="feffff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spcAft>
                <a:spcPts val="601"/>
              </a:spcAft>
              <a:buNone/>
            </a:pPr>
            <a:r>
              <a:rPr b="0" lang="en-US" sz="900" spc="-1" strike="noStrike">
                <a:solidFill>
                  <a:srgbClr val="feffff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711360" y="142200"/>
            <a:ext cx="8322840" cy="8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1" lang="en-US" sz="3600" spc="-1" strike="noStrike">
                <a:solidFill>
                  <a:srgbClr val="262626"/>
                </a:solidFill>
                <a:latin typeface="Century Gothic"/>
              </a:rPr>
              <a:t>References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711360" y="1280160"/>
            <a:ext cx="8322840" cy="4986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Century Gothic"/>
              <a:buAutoNum type="arabicPeriod"/>
            </a:pPr>
            <a:r>
              <a:rPr b="0" lang="en-US" sz="1200" spc="-1" strike="noStrike">
                <a:solidFill>
                  <a:srgbClr val="222222"/>
                </a:solidFill>
                <a:latin typeface="Arial"/>
              </a:rPr>
              <a:t>Kumar, V., Grama, A., Gupta, A., &amp; Karypis, G. (1994). </a:t>
            </a:r>
            <a:r>
              <a:rPr b="0" i="1" lang="en-US" sz="1200" spc="-1" strike="noStrike">
                <a:solidFill>
                  <a:srgbClr val="222222"/>
                </a:solidFill>
                <a:latin typeface="Arial"/>
              </a:rPr>
              <a:t>Introduction to parallel computing</a:t>
            </a:r>
            <a:r>
              <a:rPr b="0" lang="en-US" sz="1200" spc="-1" strike="noStrike">
                <a:solidFill>
                  <a:srgbClr val="222222"/>
                </a:solidFill>
                <a:latin typeface="Arial"/>
              </a:rPr>
              <a:t> (Vol. 110). Redwood City, CA: Benjamin/Cummings.</a:t>
            </a:r>
            <a:endParaRPr b="0" lang="en-US" sz="12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Century Gothic"/>
              <a:buAutoNum type="arabicPeriod"/>
            </a:pPr>
            <a:r>
              <a:rPr b="0" lang="en-US" sz="1200" spc="-1" strike="noStrike">
                <a:solidFill>
                  <a:srgbClr val="222222"/>
                </a:solidFill>
                <a:latin typeface="Arial"/>
              </a:rPr>
              <a:t>Quinn, M. J. Parallel Programming in C with MPI and OpenMP,(2003).</a:t>
            </a:r>
            <a:r>
              <a:rPr b="0" lang="en-US" sz="1200" spc="-1" strike="noStrike">
                <a:solidFill>
                  <a:srgbClr val="404040"/>
                </a:solidFill>
                <a:latin typeface="Century Gothic"/>
              </a:rPr>
              <a:t> 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ftr" idx="46"/>
          </p:nvPr>
        </p:nvSpPr>
        <p:spPr>
          <a:xfrm>
            <a:off x="711360" y="6322680"/>
            <a:ext cx="622692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000000"/>
                </a:solidFill>
                <a:latin typeface="Century Gothic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000000"/>
                </a:solidFill>
                <a:latin typeface="Century Gothic"/>
              </a:rPr>
              <a:t>CS3006 - Fall 2021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2BB8F89-6F15-434E-8B8A-1FDE49C0BEAB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1624</TotalTime>
  <Application>LibreOffice/7.3.7.2$Linux_X86_64 LibreOffice_project/30$Build-2</Application>
  <AppVersion>15.0000</AppVersion>
  <Words>1020</Words>
  <Paragraphs>162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2020-03-08T08:05:32Z</dcterms:created>
  <dc:creator>Muhammad Husnain</dc:creator>
  <dc:description/>
  <dc:language>en-US</dc:language>
  <cp:lastModifiedBy/>
  <dcterms:modified xsi:type="dcterms:W3CDTF">2024-11-14T10:18:56Z</dcterms:modified>
  <cp:revision>78</cp:revision>
  <dc:subject/>
  <dc:title>CS416 – Parallel and Distributed Computing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On-screen Show (4:3)</vt:lpwstr>
  </property>
  <property fmtid="{D5CDD505-2E9C-101B-9397-08002B2CF9AE}" pid="4" name="Slides">
    <vt:i4>20</vt:i4>
  </property>
</Properties>
</file>