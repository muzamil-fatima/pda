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42"/>
  </p:notesMasterIdLst>
  <p:sldIdLst>
    <p:sldId id="341" r:id="rId2"/>
    <p:sldId id="342" r:id="rId3"/>
    <p:sldId id="281" r:id="rId4"/>
    <p:sldId id="345" r:id="rId5"/>
    <p:sldId id="364" r:id="rId6"/>
    <p:sldId id="365" r:id="rId7"/>
    <p:sldId id="346" r:id="rId8"/>
    <p:sldId id="348" r:id="rId9"/>
    <p:sldId id="347" r:id="rId10"/>
    <p:sldId id="366" r:id="rId11"/>
    <p:sldId id="367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43" r:id="rId28"/>
    <p:sldId id="328" r:id="rId29"/>
    <p:sldId id="329" r:id="rId30"/>
    <p:sldId id="330" r:id="rId31"/>
    <p:sldId id="332" r:id="rId32"/>
    <p:sldId id="333" r:id="rId33"/>
    <p:sldId id="331" r:id="rId34"/>
    <p:sldId id="334" r:id="rId35"/>
    <p:sldId id="335" r:id="rId36"/>
    <p:sldId id="336" r:id="rId37"/>
    <p:sldId id="337" r:id="rId38"/>
    <p:sldId id="338" r:id="rId39"/>
    <p:sldId id="339" r:id="rId40"/>
    <p:sldId id="280" r:id="rId4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364" autoAdjust="0"/>
  </p:normalViewPr>
  <p:slideViewPr>
    <p:cSldViewPr snapToGrid="0">
      <p:cViewPr varScale="1">
        <p:scale>
          <a:sx n="72" d="100"/>
          <a:sy n="72" d="100"/>
        </p:scale>
        <p:origin x="1158" y="72"/>
      </p:cViewPr>
      <p:guideLst/>
    </p:cSldViewPr>
  </p:slideViewPr>
  <p:outlineViewPr>
    <p:cViewPr>
      <p:scale>
        <a:sx n="33" d="100"/>
        <a:sy n="33" d="100"/>
      </p:scale>
      <p:origin x="0" y="-1212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86A7654-4E2B-4822-BAE0-8BF48C8D095C}" type="datetimeFigureOut">
              <a:rPr lang="en-US" smtClean="0"/>
              <a:t>10/19/2023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1D701400-B431-4047-89AC-DA61F7C3E04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39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9C32AA-29E0-4558-BC14-174AC8456D63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2468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and when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F8AC1D-5799-4ACB-95B0-1826EF7A7AFE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665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62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38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9AC623-D6EB-4969-8D88-C750CC3E8419}" type="slidenum">
              <a:rPr lang="en-US" altLang="ja-JP"/>
              <a:pPr/>
              <a:t>7</a:t>
            </a:fld>
            <a:endParaRPr lang="en-US" altLang="ja-JP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03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0CA325-2681-4FFB-84F9-4607E040B0C3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6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requires time and effort</a:t>
            </a:r>
          </a:p>
          <a:p>
            <a:r>
              <a:rPr lang="en-US" dirty="0"/>
              <a:t>If uniprocessor is so fast why we need parallel computing?</a:t>
            </a:r>
          </a:p>
          <a:p>
            <a:r>
              <a:rPr lang="en-US" dirty="0"/>
              <a:t>Good but it is just not enough because of physical and computational limitations</a:t>
            </a:r>
          </a:p>
          <a:p>
            <a:r>
              <a:rPr lang="en-US" dirty="0"/>
              <a:t>Solution: Standardized parallel programming environment, libraries and hardware</a:t>
            </a:r>
          </a:p>
          <a:p>
            <a:endParaRPr lang="en-US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527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6BA6C9-8844-4FE2-AE80-722833E8DB45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72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5E0341-BFDA-4A40-983C-BE1B7C59A3DA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38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7488EA-0F67-43B5-AF40-9F357AC8DC5C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94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5C6584-A9F5-4244-89AC-C09F19BF5AC9}" type="slidenum">
              <a:rPr lang="en-US" altLang="ja-JP"/>
              <a:pPr/>
              <a:t>16</a:t>
            </a:fld>
            <a:endParaRPr lang="en-US" altLang="ja-JP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43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883AA8-FC4E-43F8-A54E-9C9580ADB6C4}" type="slidenum">
              <a:rPr lang="en-US" altLang="ja-JP"/>
              <a:pPr/>
              <a:t>17</a:t>
            </a:fld>
            <a:endParaRPr lang="en-US" altLang="ja-JP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20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A535AF-3B35-49E8-8F22-705A62D2FC22}" type="slidenum">
              <a:rPr lang="en-US" altLang="ja-JP"/>
              <a:pPr/>
              <a:t>18</a:t>
            </a:fld>
            <a:endParaRPr lang="en-US" altLang="ja-JP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30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1E79E4-2F62-4517-963E-B82A77A94021}" type="slidenum">
              <a:rPr lang="en-US" altLang="ja-JP"/>
              <a:pPr/>
              <a:t>19</a:t>
            </a:fld>
            <a:endParaRPr lang="en-US" altLang="ja-JP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038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1B12BE-9B94-45AB-8419-91A4E7C80E0A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96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EA7D39-37B8-41DF-AD51-5E0795738BA2}" type="slidenum">
              <a:rPr lang="en-US" altLang="ja-JP"/>
              <a:pPr/>
              <a:t>21</a:t>
            </a:fld>
            <a:endParaRPr lang="en-US" altLang="ja-JP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31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58CCB3-8ADC-43D6-8917-A72EB12CA795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93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1F978-474B-4E63-8BDF-586C01AADE2A}" type="slidenum">
              <a:rPr lang="en-US" altLang="ja-JP"/>
              <a:pPr/>
              <a:t>23</a:t>
            </a:fld>
            <a:endParaRPr lang="en-US" altLang="ja-JP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41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616E4F-708D-4EB5-B4B4-3E8277A54302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779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23FDD-4F16-422C-B369-0A4717329C08}" type="slidenum">
              <a:rPr lang="en-US" altLang="ja-JP"/>
              <a:pPr/>
              <a:t>25</a:t>
            </a:fld>
            <a:endParaRPr lang="en-US" altLang="ja-JP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83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7D1BFB-08FC-4BEB-BB9E-5332EBC4F020}" type="slidenum">
              <a:rPr lang="en-US" altLang="ja-JP"/>
              <a:pPr/>
              <a:t>26</a:t>
            </a:fld>
            <a:endParaRPr lang="en-US" altLang="ja-JP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51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5763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3301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Ultra large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scale integration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(ULSI) is the process of embedding millions of transistors on a single silicon semiconductor microchip.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31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are the efficient solutions:  parallel software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9933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is fast but memory isn’t, which is a mismatch in context of parallel programming.</a:t>
            </a:r>
          </a:p>
          <a:p>
            <a:r>
              <a:rPr lang="en-US" dirty="0"/>
              <a:t>Solution: parallel platform (increased bandwidth to memory) and combination or collection of caches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013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028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 engineering vs Software development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884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 engineering vs Software development </a:t>
            </a:r>
          </a:p>
          <a:p>
            <a:r>
              <a:rPr lang="en-US" dirty="0"/>
              <a:t>Graphics Processing Unit: GPU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4320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DLSF—Distributed Load Sharing facility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7254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DLSF—Distributed Load Sharing facility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5350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Worlds largest stock exchange in </a:t>
            </a:r>
            <a:r>
              <a:rPr lang="en-US" dirty="0" err="1"/>
              <a:t>Newyork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5025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(NIDS) are responsible for monitoring traffic on packet level. intrusion= disturbance</a:t>
            </a:r>
          </a:p>
          <a:p>
            <a:r>
              <a:rPr lang="en-US" dirty="0"/>
              <a:t>Convolutions, Rendering(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computer graphics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process by which an abstract description of a scene is converted to an image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905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Coupling and cohesion in terms of Data and operations on 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6636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01400-B431-4047-89AC-DA61F7C3E04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0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FE1188-7CA3-4AFC-A8BD-6087B0DE68D9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CS326 -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0EB7319F-4077-44B4-9A6C-FEF1EF56DF1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0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18" y="142188"/>
            <a:ext cx="832355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18" y="1280277"/>
            <a:ext cx="8323551" cy="4987331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600"/>
              </a:spcBef>
              <a:defRPr sz="1800"/>
            </a:lvl3pPr>
            <a:lvl4pPr>
              <a:spcBef>
                <a:spcPts val="600"/>
              </a:spcBef>
              <a:defRPr sz="16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86261" y="6322697"/>
            <a:ext cx="1348509" cy="370171"/>
          </a:xfrm>
        </p:spPr>
        <p:txBody>
          <a:bodyPr/>
          <a:lstStyle/>
          <a:p>
            <a:pPr>
              <a:defRPr/>
            </a:pPr>
            <a:fld id="{EC4D75CD-A3DE-4EB6-8B88-4033C35CF56A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1218" y="6322697"/>
            <a:ext cx="6227641" cy="365125"/>
          </a:xfrm>
        </p:spPr>
        <p:txBody>
          <a:bodyPr/>
          <a:lstStyle/>
          <a:p>
            <a:pPr>
              <a:defRPr/>
            </a:pP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88"/>
            <a:ext cx="702307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1" y="782633"/>
            <a:ext cx="584978" cy="365125"/>
          </a:xfrm>
        </p:spPr>
        <p:txBody>
          <a:bodyPr/>
          <a:lstStyle/>
          <a:p>
            <a:fld id="{C50AD498-1756-4FAA-884D-721A5EF92E83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120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C59533-E7C0-4494-9DC9-3F44FD5B2288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33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0321" y="1280278"/>
            <a:ext cx="4126722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800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9565" y="1281539"/>
            <a:ext cx="4126157" cy="4915891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3010" y="6368709"/>
            <a:ext cx="1361760" cy="370171"/>
          </a:xfrm>
        </p:spPr>
        <p:txBody>
          <a:bodyPr/>
          <a:lstStyle/>
          <a:p>
            <a:pPr>
              <a:defRPr/>
            </a:pPr>
            <a:fld id="{E5756122-46C6-4E18-AC1B-497EA618873A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2365" y="6365849"/>
            <a:ext cx="6236494" cy="3651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Fall 2022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59" y="711190"/>
            <a:ext cx="70230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162" y="782633"/>
            <a:ext cx="584978" cy="365125"/>
          </a:xfrm>
        </p:spPr>
        <p:txBody>
          <a:bodyPr/>
          <a:lstStyle/>
          <a:p>
            <a:fld id="{4B01923B-769F-4373-B3D8-C2DA6094E9C2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4468" y="142188"/>
            <a:ext cx="8310301" cy="81575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575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B5C1F0-5FE1-428F-9FD0-A3FE7FCD6222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- Fall 202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E6CBD27-9711-4E21-8679-3436A2D8D267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71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8FF5E6-38D9-491E-B166-C355A44BC50E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-Fall 202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37EDB-9B1E-42BE-B450-001CA8028EA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8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2BA0DC-4105-416A-85B3-6F028043530D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Fall 2022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32233-7D2A-45E8-BFA2-E1C56202CBE5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0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AF2F3C-5363-4496-A239-83300036BCFF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Fall 2022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4D973-3C1B-4A83-87AE-CB7A258334E1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365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4A5D1A-17EF-4B5A-B38C-FA40256CCBF6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000000"/>
                </a:solidFill>
              </a:rPr>
              <a:t> Fall 2022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1426E4D-2F12-42DC-9E77-4F2E38723F64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212DE6E-1F37-4063-87CC-16A8392CFB02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>
                <a:solidFill>
                  <a:srgbClr val="000000"/>
                </a:solidFill>
              </a:rPr>
              <a:t>Fall 2022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9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9DB895F-EE87-4399-8C6E-F19802D004E4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7146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78D1AA8-9636-4208-AB8D-A1A0E7AC90F6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1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0FBF04-A5CB-4536-B4F1-E7186E922A65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6372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40D6C1-90AE-45F6-A21B-2BFF622F96F5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8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391B9-03F2-4A02-8853-E233DF976E65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217B6-24F4-4090-A44B-3393AA32DD5C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22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B4E181-4EFF-4C9A-AB54-6D0E48C4D3EB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8F4FB-256D-429C-81CA-F531534D6146}" type="slidenum">
              <a:rPr lang="en-US" altLang="en-US" smtClean="0">
                <a:solidFill>
                  <a:srgbClr val="000000"/>
                </a:solidFill>
              </a:rPr>
              <a:pPr/>
              <a:t>‹#›</a:t>
            </a:fld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7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54" y="152400"/>
            <a:ext cx="8557846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0677" y="914400"/>
            <a:ext cx="4325815" cy="541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7169" y="914400"/>
            <a:ext cx="4325815" cy="541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2391508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Kyushu Institute of Technology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60985" y="6553200"/>
            <a:ext cx="492369" cy="304800"/>
          </a:xfrm>
        </p:spPr>
        <p:txBody>
          <a:bodyPr/>
          <a:lstStyle>
            <a:lvl1pPr>
              <a:defRPr/>
            </a:lvl1pPr>
          </a:lstStyle>
          <a:p>
            <a:fld id="{FDEFE62E-572A-4BB3-9550-0CCC63EDB094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81292" y="6400800"/>
            <a:ext cx="562708" cy="457200"/>
          </a:xfrm>
        </p:spPr>
        <p:txBody>
          <a:bodyPr/>
          <a:lstStyle>
            <a:lvl1pPr>
              <a:defRPr/>
            </a:lvl1pPr>
          </a:lstStyle>
          <a:p>
            <a:fld id="{E4754DDC-1277-4666-A320-BFDC8F8203F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6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8939" y="6135089"/>
            <a:ext cx="1289841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F3B5C2-B441-4489-9235-C2C938567EA5}" type="datetime1">
              <a:rPr lang="en-US" altLang="en-US" smtClean="0">
                <a:solidFill>
                  <a:srgbClr val="000000"/>
                </a:solidFill>
              </a:rPr>
              <a:t>10/19/2023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1077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solidFill>
                  <a:srgbClr val="000000"/>
                </a:solidFill>
              </a:rPr>
              <a:t>CS326 - Fall 2021</a:t>
            </a:r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831C2B2F-CAD7-4A58-95D8-FC9D9FD692D2}" type="slidenum">
              <a:rPr lang="en-US" altLang="en-US" smtClean="0">
                <a:solidFill>
                  <a:srgbClr val="000000"/>
                </a:solidFill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727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803717" y="1320921"/>
            <a:ext cx="8229600" cy="4997450"/>
          </a:xfrm>
        </p:spPr>
        <p:txBody>
          <a:bodyPr>
            <a:normAutofit/>
          </a:bodyPr>
          <a:lstStyle/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4400" b="1" dirty="0">
                <a:solidFill>
                  <a:srgbClr val="0070C0"/>
                </a:solidFill>
              </a:rPr>
              <a:t>Parallel and Distributed Computing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2800" dirty="0"/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dirty="0"/>
              <a:t>Lecture 1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r>
              <a:rPr lang="en-GB" sz="3200" b="1" dirty="0">
                <a:solidFill>
                  <a:srgbClr val="FF0000"/>
                </a:solidFill>
              </a:rPr>
              <a:t>Introduction</a:t>
            </a:r>
          </a:p>
          <a:p>
            <a:pPr marL="0" indent="0" algn="ctr">
              <a:buFont typeface="Monotype Sorts" pitchFamily="-84" charset="2"/>
              <a:buNone/>
              <a:defRPr/>
            </a:pPr>
            <a:endParaRPr lang="en-GB" sz="3200" dirty="0"/>
          </a:p>
          <a:p>
            <a:pPr marL="0" indent="0" algn="r">
              <a:buFont typeface="Monotype Sorts" pitchFamily="-84" charset="2"/>
              <a:buNone/>
              <a:defRPr/>
            </a:pPr>
            <a:endParaRPr lang="en-GB" sz="1200" dirty="0">
              <a:solidFill>
                <a:srgbClr val="00B050"/>
              </a:solidFill>
            </a:endParaRPr>
          </a:p>
          <a:p>
            <a:pPr marL="0" indent="0" algn="r">
              <a:buFont typeface="Monotype Sorts" pitchFamily="-84" charset="2"/>
              <a:buNone/>
              <a:defRPr/>
            </a:pPr>
            <a:r>
              <a:rPr lang="en-GB" sz="1200" dirty="0"/>
              <a:t> 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cy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20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Aim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dirty="0"/>
              <a:t>to understand the </a:t>
            </a:r>
            <a:r>
              <a:rPr lang="en-US" sz="2800" dirty="0">
                <a:solidFill>
                  <a:srgbClr val="FF0000"/>
                </a:solidFill>
              </a:rPr>
              <a:t>fundamental concepts</a:t>
            </a:r>
            <a:r>
              <a:rPr lang="en-US" sz="2800" dirty="0"/>
              <a:t> of parallel and distributed computing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design and analysis of </a:t>
            </a:r>
            <a:r>
              <a:rPr lang="en-US" sz="2800" dirty="0">
                <a:solidFill>
                  <a:srgbClr val="FF0000"/>
                </a:solidFill>
              </a:rPr>
              <a:t>Parallel algorithms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analyze different problems and </a:t>
            </a:r>
            <a:r>
              <a:rPr lang="en-US" sz="2800" dirty="0">
                <a:solidFill>
                  <a:srgbClr val="FF0000"/>
                </a:solidFill>
              </a:rPr>
              <a:t>develop parallel programming solutions </a:t>
            </a:r>
            <a:r>
              <a:rPr lang="en-US" sz="2800" dirty="0"/>
              <a:t>of those problems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Study the </a:t>
            </a:r>
            <a:r>
              <a:rPr lang="en-US" sz="2800" dirty="0">
                <a:solidFill>
                  <a:srgbClr val="FF0000"/>
                </a:solidFill>
              </a:rPr>
              <a:t>challenges of Parallel and Distributed systems</a:t>
            </a:r>
            <a:r>
              <a:rPr lang="en-US" sz="2800" dirty="0"/>
              <a:t> and how to cope with them </a:t>
            </a:r>
          </a:p>
        </p:txBody>
      </p:sp>
    </p:spTree>
    <p:extLst>
      <p:ext uri="{BB962C8B-B14F-4D97-AF65-F5344CB8AC3E}">
        <p14:creationId xmlns:p14="http://schemas.microsoft.com/office/powerpoint/2010/main" val="89557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Motivating Parallelism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Computing vs Systems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Parallel vs Distributed Computing</a:t>
            </a:r>
          </a:p>
          <a:p>
            <a:pPr algn="just"/>
            <a:endParaRPr lang="en-US" b="1" dirty="0"/>
          </a:p>
          <a:p>
            <a:pPr algn="just"/>
            <a:r>
              <a:rPr lang="en-US" altLang="en-US" b="1" dirty="0"/>
              <a:t>Practical Applications of P&amp;D Computing</a:t>
            </a:r>
          </a:p>
          <a:p>
            <a:pPr marL="0" indent="0" algn="just">
              <a:buNone/>
            </a:pPr>
            <a:r>
              <a:rPr lang="en-US" altLang="en-US" dirty="0"/>
              <a:t> </a:t>
            </a:r>
          </a:p>
          <a:p>
            <a:pPr marL="0" indent="0" algn="just">
              <a:buNone/>
            </a:pPr>
            <a:endParaRPr lang="en-US" alt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925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AF7B5-7443-4331-9AEC-F5FFF2CF215D}" type="slidenum">
              <a:rPr lang="en-US" altLang="ja-JP"/>
              <a:pPr/>
              <a:t>4</a:t>
            </a:fld>
            <a:endParaRPr lang="en-US" altLang="ja-JP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2031" y="1670539"/>
            <a:ext cx="8581292" cy="1899138"/>
          </a:xfrm>
        </p:spPr>
        <p:txBody>
          <a:bodyPr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en-US" altLang="ja-JP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</a:rPr>
              <a:t>Lecture1: Introduction </a:t>
            </a:r>
            <a:r>
              <a:rPr lang="en-US" altLang="ja-JP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</a:rPr>
              <a:t>to 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140684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38618" y="2654877"/>
            <a:ext cx="6899398" cy="98184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/>
              <a:t>Motivating Parallelism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45" y="3485923"/>
            <a:ext cx="5848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C50AD498-1756-4FAA-884D-721A5EF92E83}" type="slidenum">
              <a:rPr lang="en-US" altLang="en-US" sz="1900" kern="1200" dirty="0">
                <a:solidFill>
                  <a:srgbClr val="FEFFFF"/>
                </a:solidFill>
                <a:latin typeface="+mn-lt"/>
                <a:ea typeface="+mn-ea"/>
                <a:cs typeface="+mn-cs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altLang="en-US" sz="1900" kern="1200" dirty="0">
              <a:solidFill>
                <a:srgbClr val="FE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67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5080"/>
            <a:ext cx="8001000" cy="417616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Motivation for Parallel and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1"/>
            <a:ext cx="8153400" cy="2942456"/>
          </a:xfrm>
        </p:spPr>
        <p:txBody>
          <a:bodyPr/>
          <a:lstStyle/>
          <a:p>
            <a:r>
              <a:rPr lang="en-US" dirty="0"/>
              <a:t>Uniprocessor are fast but </a:t>
            </a:r>
          </a:p>
          <a:p>
            <a:pPr lvl="1"/>
            <a:r>
              <a:rPr lang="en-US" dirty="0"/>
              <a:t>Some problems require too much computation</a:t>
            </a:r>
          </a:p>
          <a:p>
            <a:pPr lvl="1"/>
            <a:r>
              <a:rPr lang="en-US" dirty="0"/>
              <a:t>Some problems use too much data</a:t>
            </a:r>
          </a:p>
          <a:p>
            <a:pPr lvl="1"/>
            <a:r>
              <a:rPr lang="en-US" dirty="0"/>
              <a:t>Some problems have too many parameters to explore</a:t>
            </a:r>
          </a:p>
          <a:p>
            <a:pPr lvl="1"/>
            <a:endParaRPr lang="en-US" dirty="0"/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Weather simulations, gaming, web Servers, code breaking</a:t>
            </a:r>
          </a:p>
          <a:p>
            <a:pPr marL="6731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3970" name="Picture 2" descr="C:\Users\Faculty\Desktop\blade2-smal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435" y="4005063"/>
            <a:ext cx="3398981" cy="194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971" name="Picture 3" descr="C:\Users\Faculty\Desktop\Typhoon_Mawar_2005_computer_simulation_thumbnail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861048"/>
            <a:ext cx="2593428" cy="232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65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03907-4839-4144-B8F8-1ACC609112B2}" type="slidenum">
              <a:rPr lang="en-US" altLang="ja-JP"/>
              <a:pPr/>
              <a:t>7</a:t>
            </a:fld>
            <a:endParaRPr lang="en-US" altLang="ja-JP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1015" y="1318846"/>
            <a:ext cx="8651631" cy="3938954"/>
          </a:xfrm>
        </p:spPr>
        <p:txBody>
          <a:bodyPr>
            <a:normAutofit lnSpcReduction="10000"/>
          </a:bodyPr>
          <a:lstStyle/>
          <a:p>
            <a:r>
              <a:rPr lang="en-US" altLang="ja-JP" sz="258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ja-JP" sz="2215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Problems with large computing complexity</a:t>
            </a:r>
            <a:endParaRPr lang="en-US" altLang="ja-JP" sz="2215" b="1" dirty="0">
              <a:solidFill>
                <a:srgbClr val="00B050"/>
              </a:solidFill>
              <a:latin typeface="Times New Roman" pitchFamily="18" charset="0"/>
              <a:ea typeface="平成明朝" charset="-128"/>
              <a:cs typeface="Times New Roman" pitchFamily="18" charset="0"/>
            </a:endParaRPr>
          </a:p>
          <a:p>
            <a:pPr marL="668232" lvl="2" indent="-316531">
              <a:buFont typeface="Wingdings" pitchFamily="2" charset="2"/>
              <a:buChar char="§"/>
            </a:pPr>
            <a:r>
              <a:rPr lang="ja-JP" altLang="en-US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Computing hard problems (NP-complete problems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2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exponential computing time.</a:t>
            </a:r>
          </a:p>
          <a:p>
            <a:pPr marL="668232" lvl="2" indent="-316531">
              <a:buFont typeface="Wingdings" pitchFamily="2" charset="2"/>
              <a:buChar char="§"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Problems 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with large scale of input 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size</a:t>
            </a:r>
          </a:p>
          <a:p>
            <a:pPr lvl="2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quantum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chemistry, statistic mechanics,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relative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physics, universal physics, fluid </a:t>
            </a:r>
          </a:p>
          <a:p>
            <a:pPr lvl="2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mechanics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biology, genetics engineering,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endParaRPr lang="en-US" altLang="ja-JP" sz="1846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ja-JP" sz="1846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846" dirty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r>
              <a:rPr lang="en-US" altLang="ja-JP" sz="1846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846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altLang="ja-JP" sz="1846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altLang="ja-JP" sz="1846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altLang="ja-JP" sz="1846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ja-JP" sz="1846" dirty="0">
                <a:latin typeface="Times New Roman" pitchFamily="18" charset="0"/>
                <a:cs typeface="Times New Roman" pitchFamily="18" charset="0"/>
              </a:rPr>
              <a:t>it costs 1 hour using the current computer to simulate the procedure </a:t>
            </a:r>
          </a:p>
          <a:p>
            <a:r>
              <a:rPr lang="en-US" altLang="ja-JP" sz="1846" dirty="0">
                <a:latin typeface="Times New Roman" pitchFamily="18" charset="0"/>
                <a:cs typeface="Times New Roman" pitchFamily="18" charset="0"/>
              </a:rPr>
              <a:t>      of 1 second reaction of protein molecule and water molecule. It costs </a:t>
            </a:r>
            <a:endParaRPr lang="en-US" altLang="ja-JP" sz="1846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ja-JP" sz="1846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39940" name="Object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633046" y="4484077"/>
          <a:ext cx="5627077" cy="351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3657600" imgH="228600" progId="Equation.3">
                  <p:embed/>
                </p:oleObj>
              </mc:Choice>
              <mc:Fallback>
                <p:oleObj name="Equation" r:id="rId4" imgW="3657600" imgH="228600" progId="Equation.3">
                  <p:embed/>
                  <p:pic>
                    <p:nvPicPr>
                      <p:cNvPr id="399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46" y="4484077"/>
                        <a:ext cx="5627077" cy="351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54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Why Parallel Computing</a:t>
            </a:r>
            <a:endParaRPr lang="en-US" sz="2954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2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2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B74B3-585D-4A4F-918F-917857A7D222}" type="slidenum">
              <a:rPr lang="en-US" altLang="ja-JP"/>
              <a:pPr/>
              <a:t>8</a:t>
            </a:fld>
            <a:endParaRPr lang="en-US" altLang="ja-JP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Why parallel </a:t>
            </a:r>
            <a:r>
              <a:rPr lang="en-US" altLang="ja-JP" sz="2954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Computing</a:t>
            </a:r>
            <a:endParaRPr lang="en-US" altLang="ja-JP" sz="2954" b="1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1015" y="1318846"/>
            <a:ext cx="8792308" cy="4994031"/>
          </a:xfrm>
        </p:spPr>
        <p:txBody>
          <a:bodyPr/>
          <a:lstStyle/>
          <a:p>
            <a:r>
              <a:rPr lang="en-US" altLang="ja-JP" sz="2215" u="sng" dirty="0">
                <a:solidFill>
                  <a:srgbClr val="00B050"/>
                </a:solidFill>
                <a:latin typeface="Times New Roman" pitchFamily="18" charset="0"/>
              </a:rPr>
              <a:t>Physical limitation of CPU computational power</a:t>
            </a:r>
          </a:p>
          <a:p>
            <a:r>
              <a:rPr lang="ja-JP" altLang="en-US" sz="2215" dirty="0">
                <a:solidFill>
                  <a:srgbClr val="000000"/>
                </a:solidFill>
                <a:latin typeface="Times New Roman" pitchFamily="18" charset="0"/>
              </a:rPr>
              <a:t>　</a:t>
            </a: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</a:rPr>
              <a:t>In past 50 years, CPU was speeded up double every 2.5 years. But, there are a physical limitation. Light speed is </a:t>
            </a:r>
          </a:p>
          <a:p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</a:rPr>
              <a:t>  Therefore, the limitation of the number of CPU clocks is expected to be about 10GHz.</a:t>
            </a:r>
          </a:p>
          <a:p>
            <a:endParaRPr lang="en-US" altLang="ja-JP" sz="2215" dirty="0">
              <a:solidFill>
                <a:srgbClr val="000000"/>
              </a:solidFill>
              <a:latin typeface="Times New Roman" pitchFamily="18" charset="0"/>
            </a:endParaRPr>
          </a:p>
          <a:p>
            <a:r>
              <a:rPr lang="en-US" altLang="ja-JP" sz="2215" u="sng" dirty="0">
                <a:solidFill>
                  <a:srgbClr val="00B050"/>
                </a:solidFill>
                <a:latin typeface="Times New Roman" pitchFamily="18" charset="0"/>
              </a:rPr>
              <a:t>  To solve computing hard problems </a:t>
            </a:r>
          </a:p>
          <a:p>
            <a:pPr lvl="1"/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</a:rPr>
              <a:t>Parallel processing</a:t>
            </a:r>
          </a:p>
          <a:p>
            <a:pPr lvl="1"/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</a:rPr>
              <a:t>DNA computer </a:t>
            </a:r>
          </a:p>
          <a:p>
            <a:pPr lvl="1"/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</a:rPr>
              <a:t>Quantum computer </a:t>
            </a:r>
          </a:p>
          <a:p>
            <a:pPr lvl="1">
              <a:buFontTx/>
              <a:buNone/>
            </a:pP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</a:rPr>
              <a:t>  …</a:t>
            </a:r>
          </a:p>
        </p:txBody>
      </p:sp>
      <p:graphicFrame>
        <p:nvGraphicFramePr>
          <p:cNvPr id="40966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4783015" y="2099897"/>
          <a:ext cx="1512277" cy="350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4" imgW="876240" imgH="203040" progId="Equation.3">
                  <p:embed/>
                </p:oleObj>
              </mc:Choice>
              <mc:Fallback>
                <p:oleObj name="Equation" r:id="rId4" imgW="876240" imgH="203040" progId="Equation.3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015" y="2099897"/>
                        <a:ext cx="1512277" cy="350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64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Computing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0677" y="1107831"/>
            <a:ext cx="8792308" cy="5345723"/>
          </a:xfrm>
        </p:spPr>
        <p:txBody>
          <a:bodyPr/>
          <a:lstStyle/>
          <a:p>
            <a:pPr marL="316531" indent="-316531">
              <a:buFont typeface="Arial" panose="020B0604020202020204" pitchFamily="34" charset="0"/>
              <a:buChar char="•"/>
            </a:pPr>
            <a:r>
              <a:rPr lang="en-US" sz="2215" b="1" dirty="0">
                <a:latin typeface="Arial" panose="020B0604020202020204" pitchFamily="34" charset="0"/>
                <a:cs typeface="Arial" panose="020B0604020202020204" pitchFamily="34" charset="0"/>
              </a:rPr>
              <a:t>Parallel computing</a:t>
            </a: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 is a computing where the jobs are broken into discrete parts that can be executed concurrently. </a:t>
            </a:r>
            <a:endParaRPr lang="en-US" sz="22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531" indent="-316531">
              <a:buFont typeface="Arial" panose="020B0604020202020204" pitchFamily="34" charset="0"/>
              <a:buChar char="•"/>
            </a:pP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part is further broken down to a series of instructions. Instructions from each part execute simultaneously on different CPUs. </a:t>
            </a:r>
            <a:endParaRPr lang="en-US" sz="22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6531" indent="-316531">
              <a:buFont typeface="Arial" panose="020B0604020202020204" pitchFamily="34" charset="0"/>
              <a:buChar char="•"/>
            </a:pP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Parallel </a:t>
            </a: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systems deal with the simultaneous use of multiple computer resources that can include a single computer with multiple processors, a number of computers connected by a network to form a parallel processing cluster or a combination of both</a:t>
            </a: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16531" indent="-316531">
              <a:buFont typeface="Arial" panose="020B0604020202020204" pitchFamily="34" charset="0"/>
              <a:buChar char="•"/>
            </a:pPr>
            <a:r>
              <a:rPr lang="en-US" sz="2215" dirty="0">
                <a:latin typeface="Arial" panose="020B0604020202020204" pitchFamily="34" charset="0"/>
                <a:cs typeface="Arial" panose="020B0604020202020204" pitchFamily="34" charset="0"/>
              </a:rPr>
              <a:t>Parallel systems are more difficult to program than computers with a single processor because the architecture of parallel computers varies accordingly and the processes of multiple CPUs must be coordinated and synchronized.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54DDC-1277-4666-A320-BFDC8F8203FB}" type="slidenum">
              <a:rPr lang="en-US" altLang="ja-JP" smtClean="0"/>
              <a:pPr/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7737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498733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Developing parallel hardware and software has traditionally been time and effort intensive</a:t>
            </a:r>
            <a:r>
              <a:rPr lang="en-US" altLang="en-US" dirty="0"/>
              <a:t>. </a:t>
            </a:r>
          </a:p>
          <a:p>
            <a:pPr algn="just">
              <a:buNone/>
            </a:pPr>
            <a:endParaRPr lang="en-US" altLang="en-US" sz="1050" dirty="0"/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one is to view this in the context of rapidly improving uniprocessor speeds, one is tempted to question the need for parallel computing. </a:t>
            </a:r>
          </a:p>
          <a:p>
            <a:pPr algn="just">
              <a:buNone/>
            </a:pPr>
            <a:endParaRPr lang="en-US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Latest trends in hardware design indicate that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uni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-processors may not be able to sustain the rate of </a:t>
            </a:r>
            <a:r>
              <a:rPr lang="en-US" alt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realizable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performance increments in the future . </a:t>
            </a:r>
          </a:p>
          <a:p>
            <a:pPr algn="just">
              <a:buNone/>
            </a:pPr>
            <a:endParaRPr lang="en-US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is the result of a number of fundamental physical and computational limitations. </a:t>
            </a:r>
          </a:p>
          <a:p>
            <a:pPr algn="just">
              <a:buNone/>
            </a:pPr>
            <a:endParaRPr lang="en-US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emergence of standardized parallel programming environments, libraries, and hardware have significantly reduced time to develop (parallel) solution.</a:t>
            </a:r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0486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Moore’s Law 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Proposed by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Gorden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E. Moore in 1965 and revised in 1975</a:t>
            </a:r>
            <a:r>
              <a:rPr lang="en-US" altLang="en-US" dirty="0"/>
              <a:t>.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b="1" dirty="0"/>
              <a:t>It states that [Simplified Version]</a:t>
            </a:r>
            <a:r>
              <a:rPr lang="en-US" altLang="en-US" dirty="0"/>
              <a:t> </a:t>
            </a:r>
          </a:p>
          <a:p>
            <a:pPr marL="0" indent="0" algn="just">
              <a:buNone/>
            </a:pPr>
            <a:r>
              <a:rPr lang="en-US" altLang="en-US" dirty="0"/>
              <a:t>	“Processing speeds, or </a:t>
            </a:r>
            <a:r>
              <a:rPr lang="en-US" dirty="0"/>
              <a:t>overall processing power for 	computers will double every18 months.”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b="1" dirty="0"/>
              <a:t> A more technically correct interpretation</a:t>
            </a:r>
            <a:r>
              <a:rPr lang="en-US" altLang="en-US" dirty="0"/>
              <a:t> </a:t>
            </a:r>
          </a:p>
          <a:p>
            <a:pPr marL="0" indent="0" algn="just">
              <a:buNone/>
            </a:pPr>
            <a:r>
              <a:rPr lang="en-US" altLang="en-US" dirty="0"/>
              <a:t>	“T</a:t>
            </a:r>
            <a:r>
              <a:rPr lang="en-US" dirty="0"/>
              <a:t>he number of transistors on an affordable CPU would 	double every two years [18 months].”</a:t>
            </a:r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151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F9BB5-06DB-4127-BED6-717E1FB20D1B}" type="slidenum">
              <a:rPr lang="en-US" altLang="ja-JP"/>
              <a:pPr/>
              <a:t>12</a:t>
            </a:fld>
            <a:endParaRPr lang="en-US" altLang="ja-JP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What is parallel </a:t>
            </a:r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computing</a:t>
            </a:r>
            <a:endParaRPr lang="en-US" altLang="ja-JP" sz="2954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77" y="1107831"/>
            <a:ext cx="8932985" cy="5275385"/>
          </a:xfrm>
        </p:spPr>
        <p:txBody>
          <a:bodyPr/>
          <a:lstStyle/>
          <a:p>
            <a:pPr marL="492382" lvl="1" indent="-316531">
              <a:buFont typeface="Wingdings" pitchFamily="2" charset="2"/>
              <a:buChar char="q"/>
            </a:pP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Using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number of processors to process one </a:t>
            </a: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task</a:t>
            </a:r>
          </a:p>
          <a:p>
            <a:pPr marL="492382" lvl="1" indent="-316531">
              <a:buFont typeface="Wingdings" pitchFamily="2" charset="2"/>
              <a:buChar char="q"/>
            </a:pP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Speeding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up the processing by distributing it to </a:t>
            </a: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processors</a:t>
            </a:r>
            <a:endParaRPr kumimoji="0" lang="en-US" altLang="ja-JP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  <a:p>
            <a:pPr lvl="2"/>
            <a:endParaRPr kumimoji="0" lang="en-US" altLang="ja-JP" dirty="0">
              <a:solidFill>
                <a:srgbClr val="000000"/>
              </a:solidFill>
            </a:endParaRPr>
          </a:p>
        </p:txBody>
      </p:sp>
      <p:grpSp>
        <p:nvGrpSpPr>
          <p:cNvPr id="42035" name="Group 51"/>
          <p:cNvGrpSpPr>
            <a:grpSpLocks/>
          </p:cNvGrpSpPr>
          <p:nvPr/>
        </p:nvGrpSpPr>
        <p:grpSpPr bwMode="auto">
          <a:xfrm>
            <a:off x="2250831" y="2514600"/>
            <a:ext cx="4248150" cy="2299189"/>
            <a:chOff x="1447" y="1687"/>
            <a:chExt cx="2899" cy="1569"/>
          </a:xfrm>
        </p:grpSpPr>
        <p:grpSp>
          <p:nvGrpSpPr>
            <p:cNvPr id="42014" name="Group 30"/>
            <p:cNvGrpSpPr>
              <a:grpSpLocks/>
            </p:cNvGrpSpPr>
            <p:nvPr/>
          </p:nvGrpSpPr>
          <p:grpSpPr bwMode="auto">
            <a:xfrm>
              <a:off x="1898" y="1687"/>
              <a:ext cx="2020" cy="712"/>
              <a:chOff x="1898" y="1687"/>
              <a:chExt cx="2020" cy="712"/>
            </a:xfrm>
          </p:grpSpPr>
          <p:sp>
            <p:nvSpPr>
              <p:cNvPr id="41989" name="AutoShape 5"/>
              <p:cNvSpPr>
                <a:spLocks noChangeArrowheads="1"/>
              </p:cNvSpPr>
              <p:nvPr/>
            </p:nvSpPr>
            <p:spPr bwMode="auto">
              <a:xfrm>
                <a:off x="1898" y="1687"/>
                <a:ext cx="2020" cy="712"/>
              </a:xfrm>
              <a:prstGeom prst="roundRect">
                <a:avLst>
                  <a:gd name="adj" fmla="val 14255"/>
                </a:avLst>
              </a:pr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0" name="Line 6"/>
              <p:cNvSpPr>
                <a:spLocks noChangeShapeType="1"/>
              </p:cNvSpPr>
              <p:nvPr/>
            </p:nvSpPr>
            <p:spPr bwMode="auto">
              <a:xfrm>
                <a:off x="2290" y="1687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1" name="Line 7"/>
              <p:cNvSpPr>
                <a:spLocks noChangeShapeType="1"/>
              </p:cNvSpPr>
              <p:nvPr/>
            </p:nvSpPr>
            <p:spPr bwMode="auto">
              <a:xfrm>
                <a:off x="2290" y="1818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2" name="Line 8"/>
              <p:cNvSpPr>
                <a:spLocks noChangeShapeType="1"/>
              </p:cNvSpPr>
              <p:nvPr/>
            </p:nvSpPr>
            <p:spPr bwMode="auto">
              <a:xfrm>
                <a:off x="2290" y="1949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3" name="Line 9"/>
              <p:cNvSpPr>
                <a:spLocks noChangeShapeType="1"/>
              </p:cNvSpPr>
              <p:nvPr/>
            </p:nvSpPr>
            <p:spPr bwMode="auto">
              <a:xfrm>
                <a:off x="2290" y="208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4" name="Line 10"/>
              <p:cNvSpPr>
                <a:spLocks noChangeShapeType="1"/>
              </p:cNvSpPr>
              <p:nvPr/>
            </p:nvSpPr>
            <p:spPr bwMode="auto">
              <a:xfrm>
                <a:off x="2290" y="221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5" name="Line 11"/>
              <p:cNvSpPr>
                <a:spLocks noChangeShapeType="1"/>
              </p:cNvSpPr>
              <p:nvPr/>
            </p:nvSpPr>
            <p:spPr bwMode="auto">
              <a:xfrm>
                <a:off x="2290" y="2341"/>
                <a:ext cx="1" cy="3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6" name="Line 12"/>
              <p:cNvSpPr>
                <a:spLocks noChangeShapeType="1"/>
              </p:cNvSpPr>
              <p:nvPr/>
            </p:nvSpPr>
            <p:spPr bwMode="auto">
              <a:xfrm>
                <a:off x="2704" y="1687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7" name="Line 13"/>
              <p:cNvSpPr>
                <a:spLocks noChangeShapeType="1"/>
              </p:cNvSpPr>
              <p:nvPr/>
            </p:nvSpPr>
            <p:spPr bwMode="auto">
              <a:xfrm>
                <a:off x="2704" y="1818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8" name="Line 14"/>
              <p:cNvSpPr>
                <a:spLocks noChangeShapeType="1"/>
              </p:cNvSpPr>
              <p:nvPr/>
            </p:nvSpPr>
            <p:spPr bwMode="auto">
              <a:xfrm>
                <a:off x="2704" y="1949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1999" name="Line 15"/>
              <p:cNvSpPr>
                <a:spLocks noChangeShapeType="1"/>
              </p:cNvSpPr>
              <p:nvPr/>
            </p:nvSpPr>
            <p:spPr bwMode="auto">
              <a:xfrm>
                <a:off x="2704" y="208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0" name="Line 16"/>
              <p:cNvSpPr>
                <a:spLocks noChangeShapeType="1"/>
              </p:cNvSpPr>
              <p:nvPr/>
            </p:nvSpPr>
            <p:spPr bwMode="auto">
              <a:xfrm>
                <a:off x="2704" y="221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1" name="Line 17"/>
              <p:cNvSpPr>
                <a:spLocks noChangeShapeType="1"/>
              </p:cNvSpPr>
              <p:nvPr/>
            </p:nvSpPr>
            <p:spPr bwMode="auto">
              <a:xfrm>
                <a:off x="2704" y="2341"/>
                <a:ext cx="1" cy="3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2" name="Line 18"/>
              <p:cNvSpPr>
                <a:spLocks noChangeShapeType="1"/>
              </p:cNvSpPr>
              <p:nvPr/>
            </p:nvSpPr>
            <p:spPr bwMode="auto">
              <a:xfrm>
                <a:off x="3126" y="1687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3" name="Line 19"/>
              <p:cNvSpPr>
                <a:spLocks noChangeShapeType="1"/>
              </p:cNvSpPr>
              <p:nvPr/>
            </p:nvSpPr>
            <p:spPr bwMode="auto">
              <a:xfrm>
                <a:off x="3126" y="1818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4" name="Line 20"/>
              <p:cNvSpPr>
                <a:spLocks noChangeShapeType="1"/>
              </p:cNvSpPr>
              <p:nvPr/>
            </p:nvSpPr>
            <p:spPr bwMode="auto">
              <a:xfrm>
                <a:off x="3126" y="1949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5" name="Line 21"/>
              <p:cNvSpPr>
                <a:spLocks noChangeShapeType="1"/>
              </p:cNvSpPr>
              <p:nvPr/>
            </p:nvSpPr>
            <p:spPr bwMode="auto">
              <a:xfrm>
                <a:off x="3126" y="208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6" name="Line 22"/>
              <p:cNvSpPr>
                <a:spLocks noChangeShapeType="1"/>
              </p:cNvSpPr>
              <p:nvPr/>
            </p:nvSpPr>
            <p:spPr bwMode="auto">
              <a:xfrm>
                <a:off x="3126" y="221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7" name="Line 23"/>
              <p:cNvSpPr>
                <a:spLocks noChangeShapeType="1"/>
              </p:cNvSpPr>
              <p:nvPr/>
            </p:nvSpPr>
            <p:spPr bwMode="auto">
              <a:xfrm>
                <a:off x="3126" y="2341"/>
                <a:ext cx="1" cy="3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8" name="Line 24"/>
              <p:cNvSpPr>
                <a:spLocks noChangeShapeType="1"/>
              </p:cNvSpPr>
              <p:nvPr/>
            </p:nvSpPr>
            <p:spPr bwMode="auto">
              <a:xfrm>
                <a:off x="3540" y="1687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09" name="Line 25"/>
              <p:cNvSpPr>
                <a:spLocks noChangeShapeType="1"/>
              </p:cNvSpPr>
              <p:nvPr/>
            </p:nvSpPr>
            <p:spPr bwMode="auto">
              <a:xfrm>
                <a:off x="3540" y="1818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0" name="Line 26"/>
              <p:cNvSpPr>
                <a:spLocks noChangeShapeType="1"/>
              </p:cNvSpPr>
              <p:nvPr/>
            </p:nvSpPr>
            <p:spPr bwMode="auto">
              <a:xfrm>
                <a:off x="3540" y="1949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1" name="Line 27"/>
              <p:cNvSpPr>
                <a:spLocks noChangeShapeType="1"/>
              </p:cNvSpPr>
              <p:nvPr/>
            </p:nvSpPr>
            <p:spPr bwMode="auto">
              <a:xfrm>
                <a:off x="3540" y="208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2" name="Line 28"/>
              <p:cNvSpPr>
                <a:spLocks noChangeShapeType="1"/>
              </p:cNvSpPr>
              <p:nvPr/>
            </p:nvSpPr>
            <p:spPr bwMode="auto">
              <a:xfrm>
                <a:off x="3540" y="2210"/>
                <a:ext cx="1" cy="58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3" name="Line 29"/>
              <p:cNvSpPr>
                <a:spLocks noChangeShapeType="1"/>
              </p:cNvSpPr>
              <p:nvPr/>
            </p:nvSpPr>
            <p:spPr bwMode="auto">
              <a:xfrm>
                <a:off x="3540" y="2341"/>
                <a:ext cx="1" cy="3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42017" name="Group 33"/>
            <p:cNvGrpSpPr>
              <a:grpSpLocks/>
            </p:cNvGrpSpPr>
            <p:nvPr/>
          </p:nvGrpSpPr>
          <p:grpSpPr bwMode="auto">
            <a:xfrm>
              <a:off x="1687" y="2203"/>
              <a:ext cx="429" cy="516"/>
              <a:chOff x="1687" y="2203"/>
              <a:chExt cx="429" cy="516"/>
            </a:xfrm>
          </p:grpSpPr>
          <p:sp>
            <p:nvSpPr>
              <p:cNvPr id="42015" name="Freeform 31"/>
              <p:cNvSpPr>
                <a:spLocks/>
              </p:cNvSpPr>
              <p:nvPr/>
            </p:nvSpPr>
            <p:spPr bwMode="auto">
              <a:xfrm>
                <a:off x="1687" y="2624"/>
                <a:ext cx="87" cy="95"/>
              </a:xfrm>
              <a:custGeom>
                <a:avLst/>
                <a:gdLst>
                  <a:gd name="T0" fmla="*/ 0 w 87"/>
                  <a:gd name="T1" fmla="*/ 95 h 95"/>
                  <a:gd name="T2" fmla="*/ 29 w 87"/>
                  <a:gd name="T3" fmla="*/ 0 h 95"/>
                  <a:gd name="T4" fmla="*/ 58 w 87"/>
                  <a:gd name="T5" fmla="*/ 22 h 95"/>
                  <a:gd name="T6" fmla="*/ 87 w 87"/>
                  <a:gd name="T7" fmla="*/ 44 h 95"/>
                  <a:gd name="T8" fmla="*/ 0 w 87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7" h="95">
                    <a:moveTo>
                      <a:pt x="0" y="95"/>
                    </a:moveTo>
                    <a:lnTo>
                      <a:pt x="29" y="0"/>
                    </a:lnTo>
                    <a:lnTo>
                      <a:pt x="58" y="22"/>
                    </a:lnTo>
                    <a:lnTo>
                      <a:pt x="87" y="44"/>
                    </a:lnTo>
                    <a:lnTo>
                      <a:pt x="0" y="95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6" name="Line 32"/>
              <p:cNvSpPr>
                <a:spLocks noChangeShapeType="1"/>
              </p:cNvSpPr>
              <p:nvPr/>
            </p:nvSpPr>
            <p:spPr bwMode="auto">
              <a:xfrm flipV="1">
                <a:off x="1745" y="2203"/>
                <a:ext cx="371" cy="44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42020" name="Group 36"/>
            <p:cNvGrpSpPr>
              <a:grpSpLocks/>
            </p:cNvGrpSpPr>
            <p:nvPr/>
          </p:nvGrpSpPr>
          <p:grpSpPr bwMode="auto">
            <a:xfrm>
              <a:off x="2341" y="2174"/>
              <a:ext cx="174" cy="530"/>
              <a:chOff x="2341" y="2174"/>
              <a:chExt cx="174" cy="530"/>
            </a:xfrm>
          </p:grpSpPr>
          <p:sp>
            <p:nvSpPr>
              <p:cNvPr id="42018" name="Freeform 34"/>
              <p:cNvSpPr>
                <a:spLocks/>
              </p:cNvSpPr>
              <p:nvPr/>
            </p:nvSpPr>
            <p:spPr bwMode="auto">
              <a:xfrm>
                <a:off x="2341" y="2603"/>
                <a:ext cx="73" cy="101"/>
              </a:xfrm>
              <a:custGeom>
                <a:avLst/>
                <a:gdLst>
                  <a:gd name="T0" fmla="*/ 7 w 73"/>
                  <a:gd name="T1" fmla="*/ 101 h 101"/>
                  <a:gd name="T2" fmla="*/ 0 w 73"/>
                  <a:gd name="T3" fmla="*/ 0 h 101"/>
                  <a:gd name="T4" fmla="*/ 36 w 73"/>
                  <a:gd name="T5" fmla="*/ 14 h 101"/>
                  <a:gd name="T6" fmla="*/ 73 w 73"/>
                  <a:gd name="T7" fmla="*/ 21 h 101"/>
                  <a:gd name="T8" fmla="*/ 7 w 73"/>
                  <a:gd name="T9" fmla="*/ 10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101">
                    <a:moveTo>
                      <a:pt x="7" y="101"/>
                    </a:moveTo>
                    <a:lnTo>
                      <a:pt x="0" y="0"/>
                    </a:lnTo>
                    <a:lnTo>
                      <a:pt x="36" y="14"/>
                    </a:lnTo>
                    <a:lnTo>
                      <a:pt x="73" y="21"/>
                    </a:lnTo>
                    <a:lnTo>
                      <a:pt x="7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19" name="Line 35"/>
              <p:cNvSpPr>
                <a:spLocks noChangeShapeType="1"/>
              </p:cNvSpPr>
              <p:nvPr/>
            </p:nvSpPr>
            <p:spPr bwMode="auto">
              <a:xfrm flipV="1">
                <a:off x="2377" y="2174"/>
                <a:ext cx="138" cy="443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42023" name="Group 39"/>
            <p:cNvGrpSpPr>
              <a:grpSpLocks/>
            </p:cNvGrpSpPr>
            <p:nvPr/>
          </p:nvGrpSpPr>
          <p:grpSpPr bwMode="auto">
            <a:xfrm>
              <a:off x="2893" y="2167"/>
              <a:ext cx="73" cy="552"/>
              <a:chOff x="2893" y="2167"/>
              <a:chExt cx="73" cy="552"/>
            </a:xfrm>
          </p:grpSpPr>
          <p:sp>
            <p:nvSpPr>
              <p:cNvPr id="42021" name="Freeform 37"/>
              <p:cNvSpPr>
                <a:spLocks/>
              </p:cNvSpPr>
              <p:nvPr/>
            </p:nvSpPr>
            <p:spPr bwMode="auto">
              <a:xfrm>
                <a:off x="2893" y="2624"/>
                <a:ext cx="73" cy="95"/>
              </a:xfrm>
              <a:custGeom>
                <a:avLst/>
                <a:gdLst>
                  <a:gd name="T0" fmla="*/ 36 w 73"/>
                  <a:gd name="T1" fmla="*/ 95 h 95"/>
                  <a:gd name="T2" fmla="*/ 0 w 73"/>
                  <a:gd name="T3" fmla="*/ 0 h 95"/>
                  <a:gd name="T4" fmla="*/ 36 w 73"/>
                  <a:gd name="T5" fmla="*/ 0 h 95"/>
                  <a:gd name="T6" fmla="*/ 73 w 73"/>
                  <a:gd name="T7" fmla="*/ 0 h 95"/>
                  <a:gd name="T8" fmla="*/ 36 w 73"/>
                  <a:gd name="T9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" h="95">
                    <a:moveTo>
                      <a:pt x="36" y="95"/>
                    </a:moveTo>
                    <a:lnTo>
                      <a:pt x="0" y="0"/>
                    </a:lnTo>
                    <a:lnTo>
                      <a:pt x="36" y="0"/>
                    </a:lnTo>
                    <a:lnTo>
                      <a:pt x="73" y="0"/>
                    </a:lnTo>
                    <a:lnTo>
                      <a:pt x="36" y="95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22" name="Line 38"/>
              <p:cNvSpPr>
                <a:spLocks noChangeShapeType="1"/>
              </p:cNvSpPr>
              <p:nvPr/>
            </p:nvSpPr>
            <p:spPr bwMode="auto">
              <a:xfrm>
                <a:off x="2929" y="2167"/>
                <a:ext cx="1" cy="457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42026" name="Group 42"/>
            <p:cNvGrpSpPr>
              <a:grpSpLocks/>
            </p:cNvGrpSpPr>
            <p:nvPr/>
          </p:nvGrpSpPr>
          <p:grpSpPr bwMode="auto">
            <a:xfrm>
              <a:off x="3322" y="2145"/>
              <a:ext cx="210" cy="603"/>
              <a:chOff x="3322" y="2145"/>
              <a:chExt cx="210" cy="603"/>
            </a:xfrm>
          </p:grpSpPr>
          <p:sp>
            <p:nvSpPr>
              <p:cNvPr id="42024" name="Freeform 40"/>
              <p:cNvSpPr>
                <a:spLocks/>
              </p:cNvSpPr>
              <p:nvPr/>
            </p:nvSpPr>
            <p:spPr bwMode="auto">
              <a:xfrm>
                <a:off x="3467" y="2646"/>
                <a:ext cx="65" cy="102"/>
              </a:xfrm>
              <a:custGeom>
                <a:avLst/>
                <a:gdLst>
                  <a:gd name="T0" fmla="*/ 65 w 65"/>
                  <a:gd name="T1" fmla="*/ 102 h 102"/>
                  <a:gd name="T2" fmla="*/ 0 w 65"/>
                  <a:gd name="T3" fmla="*/ 22 h 102"/>
                  <a:gd name="T4" fmla="*/ 36 w 65"/>
                  <a:gd name="T5" fmla="*/ 15 h 102"/>
                  <a:gd name="T6" fmla="*/ 65 w 65"/>
                  <a:gd name="T7" fmla="*/ 0 h 102"/>
                  <a:gd name="T8" fmla="*/ 65 w 65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" h="102">
                    <a:moveTo>
                      <a:pt x="65" y="102"/>
                    </a:moveTo>
                    <a:lnTo>
                      <a:pt x="0" y="22"/>
                    </a:lnTo>
                    <a:lnTo>
                      <a:pt x="36" y="15"/>
                    </a:lnTo>
                    <a:lnTo>
                      <a:pt x="65" y="0"/>
                    </a:lnTo>
                    <a:lnTo>
                      <a:pt x="65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25" name="Line 41"/>
              <p:cNvSpPr>
                <a:spLocks noChangeShapeType="1"/>
              </p:cNvSpPr>
              <p:nvPr/>
            </p:nvSpPr>
            <p:spPr bwMode="auto">
              <a:xfrm>
                <a:off x="3322" y="2145"/>
                <a:ext cx="181" cy="516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grpSp>
          <p:nvGrpSpPr>
            <p:cNvPr id="42029" name="Group 45"/>
            <p:cNvGrpSpPr>
              <a:grpSpLocks/>
            </p:cNvGrpSpPr>
            <p:nvPr/>
          </p:nvGrpSpPr>
          <p:grpSpPr bwMode="auto">
            <a:xfrm>
              <a:off x="3729" y="2145"/>
              <a:ext cx="370" cy="574"/>
              <a:chOff x="3729" y="2145"/>
              <a:chExt cx="370" cy="574"/>
            </a:xfrm>
          </p:grpSpPr>
          <p:sp>
            <p:nvSpPr>
              <p:cNvPr id="42027" name="Freeform 43"/>
              <p:cNvSpPr>
                <a:spLocks/>
              </p:cNvSpPr>
              <p:nvPr/>
            </p:nvSpPr>
            <p:spPr bwMode="auto">
              <a:xfrm>
                <a:off x="4019" y="2617"/>
                <a:ext cx="80" cy="102"/>
              </a:xfrm>
              <a:custGeom>
                <a:avLst/>
                <a:gdLst>
                  <a:gd name="T0" fmla="*/ 80 w 80"/>
                  <a:gd name="T1" fmla="*/ 102 h 102"/>
                  <a:gd name="T2" fmla="*/ 0 w 80"/>
                  <a:gd name="T3" fmla="*/ 44 h 102"/>
                  <a:gd name="T4" fmla="*/ 29 w 80"/>
                  <a:gd name="T5" fmla="*/ 22 h 102"/>
                  <a:gd name="T6" fmla="*/ 58 w 80"/>
                  <a:gd name="T7" fmla="*/ 0 h 102"/>
                  <a:gd name="T8" fmla="*/ 80 w 80"/>
                  <a:gd name="T9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0" h="102">
                    <a:moveTo>
                      <a:pt x="80" y="102"/>
                    </a:moveTo>
                    <a:lnTo>
                      <a:pt x="0" y="44"/>
                    </a:lnTo>
                    <a:lnTo>
                      <a:pt x="29" y="22"/>
                    </a:lnTo>
                    <a:lnTo>
                      <a:pt x="58" y="0"/>
                    </a:lnTo>
                    <a:lnTo>
                      <a:pt x="80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/>
              </a:p>
            </p:txBody>
          </p:sp>
          <p:sp>
            <p:nvSpPr>
              <p:cNvPr id="42028" name="Line 44"/>
              <p:cNvSpPr>
                <a:spLocks noChangeShapeType="1"/>
              </p:cNvSpPr>
              <p:nvPr/>
            </p:nvSpPr>
            <p:spPr bwMode="auto">
              <a:xfrm>
                <a:off x="3729" y="2145"/>
                <a:ext cx="319" cy="494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/>
              </a:p>
            </p:txBody>
          </p:sp>
        </p:grpSp>
        <p:pic>
          <p:nvPicPr>
            <p:cNvPr id="42030" name="Picture 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" y="2821"/>
              <a:ext cx="4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31" name="Picture 47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5" y="2821"/>
              <a:ext cx="4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32" name="Picture 4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" y="2821"/>
              <a:ext cx="436" cy="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33" name="Picture 4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3" y="2813"/>
              <a:ext cx="436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34" name="Picture 5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0" y="2813"/>
              <a:ext cx="436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2036" name="Text Box 52"/>
          <p:cNvSpPr txBox="1">
            <a:spLocks noChangeArrowheads="1"/>
          </p:cNvSpPr>
          <p:nvPr/>
        </p:nvSpPr>
        <p:spPr bwMode="auto">
          <a:xfrm>
            <a:off x="3657600" y="2022231"/>
            <a:ext cx="1574470" cy="348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ja-JP" sz="1662">
                <a:ea typeface="平成明朝" charset="-128"/>
              </a:rPr>
              <a:t>One problem</a:t>
            </a:r>
          </a:p>
        </p:txBody>
      </p:sp>
    </p:spTree>
    <p:extLst>
      <p:ext uri="{BB962C8B-B14F-4D97-AF65-F5344CB8AC3E}">
        <p14:creationId xmlns:p14="http://schemas.microsoft.com/office/powerpoint/2010/main" val="417916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1FF2-50B3-4049-B3EC-8D388641C6F0}" type="slidenum">
              <a:rPr lang="en-US" altLang="ja-JP"/>
              <a:pPr/>
              <a:t>13</a:t>
            </a:fld>
            <a:endParaRPr lang="en-US" altLang="ja-JP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Classification of parallel computers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1846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M.J. Flynn proposed a classification for the organization of a computer system by the number of instructions and data items that are manipulated simultaneously.</a:t>
            </a:r>
          </a:p>
          <a:p>
            <a:pPr algn="just"/>
            <a:r>
              <a:rPr lang="en-US" sz="1662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sequence of instructions read from memory constitutes an </a:t>
            </a:r>
            <a:r>
              <a:rPr lang="en-US" sz="1662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 stream</a:t>
            </a:r>
            <a:r>
              <a:rPr lang="en-US" sz="1662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1662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operations performed on the data in the processor constitute a </a:t>
            </a:r>
            <a:r>
              <a:rPr lang="en-US" sz="1662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stream</a:t>
            </a:r>
            <a:r>
              <a:rPr lang="en-US" sz="1662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spcBef>
                <a:spcPts val="0"/>
              </a:spcBef>
              <a:spcAft>
                <a:spcPts val="554"/>
              </a:spcAft>
              <a:buNone/>
            </a:pPr>
            <a:r>
              <a:rPr lang="en-US" altLang="ja-JP" sz="2585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altLang="ja-JP" sz="2585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kinds of classification</a:t>
            </a:r>
          </a:p>
          <a:p>
            <a:pPr lvl="1">
              <a:spcBef>
                <a:spcPts val="0"/>
              </a:spcBef>
              <a:spcAft>
                <a:spcPts val="554"/>
              </a:spcAft>
              <a:buNone/>
            </a:pPr>
            <a:r>
              <a:rPr lang="ja-JP" alt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１．</a:t>
            </a:r>
            <a:r>
              <a:rPr lang="en-US" altLang="ja-JP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Flann’s</a:t>
            </a:r>
            <a:r>
              <a:rPr lang="en-US" altLang="ja-JP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Classification</a:t>
            </a: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SISD (Single Instruction stream, Single Data stream)</a:t>
            </a: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MISD (Multiple Instruction stream, Single Data stream)</a:t>
            </a: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SIMD (Single Instruction stream, Multiple Data stream)</a:t>
            </a: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MIMD (Multiple Instruction stream, Multiple Data stream)</a:t>
            </a:r>
            <a:endParaRPr lang="en-US" altLang="ja-JP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spcAft>
                <a:spcPts val="554"/>
              </a:spcAft>
            </a:pPr>
            <a:r>
              <a:rPr lang="en-US" altLang="ja-JP" sz="2215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2. Classification by memory status</a:t>
            </a:r>
            <a:endParaRPr lang="en-US" altLang="ja-JP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Share memory</a:t>
            </a:r>
          </a:p>
          <a:p>
            <a:pPr marL="668232" lvl="2" indent="-316531">
              <a:spcBef>
                <a:spcPts val="0"/>
              </a:spcBef>
              <a:spcAft>
                <a:spcPts val="554"/>
              </a:spcAft>
              <a:buFont typeface="Wingdings" pitchFamily="2" charset="2"/>
              <a:buChar char="§"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Distributed memory</a:t>
            </a:r>
            <a:r>
              <a:rPr lang="ja-JP" altLang="en-US" dirty="0">
                <a:latin typeface="Times New Roman" pitchFamily="18" charset="0"/>
                <a:cs typeface="Times New Roman" pitchFamily="18" charset="0"/>
              </a:rPr>
              <a:t>　</a:t>
            </a:r>
          </a:p>
        </p:txBody>
      </p:sp>
    </p:spTree>
    <p:extLst>
      <p:ext uri="{BB962C8B-B14F-4D97-AF65-F5344CB8AC3E}">
        <p14:creationId xmlns:p14="http://schemas.microsoft.com/office/powerpoint/2010/main" val="4175207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430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430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487E3-87B1-4EB4-9DDB-E5D9C1A20890}" type="slidenum">
              <a:rPr lang="en-US" altLang="ja-JP" smtClean="0"/>
              <a:pPr/>
              <a:t>14</a:t>
            </a:fld>
            <a:endParaRPr lang="en-US" altLang="ja-JP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344775"/>
            <a:ext cx="9144000" cy="61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11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64291-0A14-40E8-9D2F-44D1B0011979}" type="slidenum">
              <a:rPr lang="en-US" altLang="ja-JP"/>
              <a:pPr/>
              <a:t>15</a:t>
            </a:fld>
            <a:endParaRPr lang="en-US" altLang="ja-JP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Flynn’s classification(1)</a:t>
            </a:r>
            <a:endParaRPr lang="en-US" altLang="ja-JP" sz="2954" dirty="0">
              <a:solidFill>
                <a:srgbClr val="008000"/>
              </a:solidFill>
              <a:latin typeface="Times New Roman" pitchFamily="18" charset="0"/>
              <a:ea typeface="平成明朝" charset="-128"/>
              <a:cs typeface="Times New Roman" pitchFamily="18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247" y="1318846"/>
            <a:ext cx="8792308" cy="4994031"/>
          </a:xfrm>
        </p:spPr>
        <p:txBody>
          <a:bodyPr/>
          <a:lstStyle/>
          <a:p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SISD (Single Instruction Single Data) computer</a:t>
            </a:r>
            <a:endParaRPr lang="en-US" altLang="ja-JP" sz="2585" u="sng" dirty="0">
              <a:solidFill>
                <a:srgbClr val="00B050"/>
              </a:solidFill>
              <a:latin typeface="Times New Roman" pitchFamily="18" charset="0"/>
              <a:ea typeface="平成明朝" charset="-128"/>
              <a:cs typeface="Times New Roman" pitchFamily="18" charset="0"/>
            </a:endParaRPr>
          </a:p>
          <a:p>
            <a:pPr marL="492382" lvl="1" indent="-316531">
              <a:buFont typeface="Wingdings" pitchFamily="2" charset="2"/>
              <a:buChar char="q"/>
            </a:pP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Von </a:t>
            </a:r>
            <a:r>
              <a:rPr kumimoji="0" lang="en-US" altLang="ja-JP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Neuman’s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one processor computer</a:t>
            </a:r>
          </a:p>
        </p:txBody>
      </p:sp>
      <p:sp>
        <p:nvSpPr>
          <p:cNvPr id="44094" name="AutoShape 62"/>
          <p:cNvSpPr>
            <a:spLocks noChangeArrowheads="1"/>
          </p:cNvSpPr>
          <p:nvPr/>
        </p:nvSpPr>
        <p:spPr bwMode="auto">
          <a:xfrm>
            <a:off x="1647092" y="2579077"/>
            <a:ext cx="890954" cy="422031"/>
          </a:xfrm>
          <a:prstGeom prst="roundRect">
            <a:avLst>
              <a:gd name="adj" fmla="val 35898"/>
            </a:avLst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95" name="Rectangle 63"/>
          <p:cNvSpPr>
            <a:spLocks noChangeArrowheads="1"/>
          </p:cNvSpPr>
          <p:nvPr/>
        </p:nvSpPr>
        <p:spPr bwMode="auto">
          <a:xfrm>
            <a:off x="1688124" y="2655277"/>
            <a:ext cx="649217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Control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96" name="AutoShape 64"/>
          <p:cNvSpPr>
            <a:spLocks noChangeArrowheads="1"/>
          </p:cNvSpPr>
          <p:nvPr/>
        </p:nvSpPr>
        <p:spPr bwMode="auto">
          <a:xfrm>
            <a:off x="3628293" y="2602523"/>
            <a:ext cx="973015" cy="480646"/>
          </a:xfrm>
          <a:prstGeom prst="roundRect">
            <a:avLst>
              <a:gd name="adj" fmla="val 31819"/>
            </a:avLst>
          </a:prstGeom>
          <a:solidFill>
            <a:srgbClr val="808080"/>
          </a:solidFill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97" name="AutoShape 65"/>
          <p:cNvSpPr>
            <a:spLocks noChangeArrowheads="1"/>
          </p:cNvSpPr>
          <p:nvPr/>
        </p:nvSpPr>
        <p:spPr bwMode="auto">
          <a:xfrm>
            <a:off x="3569677" y="2584939"/>
            <a:ext cx="1084385" cy="416169"/>
          </a:xfrm>
          <a:prstGeom prst="roundRect">
            <a:avLst>
              <a:gd name="adj" fmla="val 31819"/>
            </a:avLst>
          </a:prstGeom>
          <a:solidFill>
            <a:srgbClr val="FFFFFF"/>
          </a:solidFill>
          <a:ln w="38100">
            <a:solidFill>
              <a:srgbClr val="3F3F3F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98" name="Rectangle 66"/>
          <p:cNvSpPr>
            <a:spLocks noChangeArrowheads="1"/>
          </p:cNvSpPr>
          <p:nvPr/>
        </p:nvSpPr>
        <p:spPr bwMode="auto">
          <a:xfrm>
            <a:off x="3622431" y="2655277"/>
            <a:ext cx="827150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Processor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99" name="AutoShape 67"/>
          <p:cNvSpPr>
            <a:spLocks noChangeArrowheads="1"/>
          </p:cNvSpPr>
          <p:nvPr/>
        </p:nvSpPr>
        <p:spPr bwMode="auto">
          <a:xfrm>
            <a:off x="5632938" y="2567354"/>
            <a:ext cx="890954" cy="422031"/>
          </a:xfrm>
          <a:prstGeom prst="roundRect">
            <a:avLst>
              <a:gd name="adj" fmla="val 35898"/>
            </a:avLst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100" name="Rectangle 68"/>
          <p:cNvSpPr>
            <a:spLocks noChangeArrowheads="1"/>
          </p:cNvSpPr>
          <p:nvPr/>
        </p:nvSpPr>
        <p:spPr bwMode="auto">
          <a:xfrm>
            <a:off x="5687776" y="2644662"/>
            <a:ext cx="73096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Memory</a:t>
            </a:r>
            <a:endParaRPr lang="en-US" altLang="ja-JP" sz="1662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4103" name="Group 71"/>
          <p:cNvGrpSpPr>
            <a:grpSpLocks/>
          </p:cNvGrpSpPr>
          <p:nvPr/>
        </p:nvGrpSpPr>
        <p:grpSpPr bwMode="auto">
          <a:xfrm>
            <a:off x="2602523" y="2713892"/>
            <a:ext cx="844062" cy="117231"/>
            <a:chOff x="1776" y="1672"/>
            <a:chExt cx="576" cy="80"/>
          </a:xfrm>
        </p:grpSpPr>
        <p:sp>
          <p:nvSpPr>
            <p:cNvPr id="44101" name="Freeform 69"/>
            <p:cNvSpPr>
              <a:spLocks/>
            </p:cNvSpPr>
            <p:nvPr/>
          </p:nvSpPr>
          <p:spPr bwMode="auto">
            <a:xfrm>
              <a:off x="2248" y="1672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02" name="Line 70"/>
            <p:cNvSpPr>
              <a:spLocks noChangeShapeType="1"/>
            </p:cNvSpPr>
            <p:nvPr/>
          </p:nvSpPr>
          <p:spPr bwMode="auto">
            <a:xfrm>
              <a:off x="1776" y="1712"/>
              <a:ext cx="47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4106" name="Group 74"/>
          <p:cNvGrpSpPr>
            <a:grpSpLocks/>
          </p:cNvGrpSpPr>
          <p:nvPr/>
        </p:nvGrpSpPr>
        <p:grpSpPr bwMode="auto">
          <a:xfrm>
            <a:off x="4654061" y="2713892"/>
            <a:ext cx="844062" cy="117231"/>
            <a:chOff x="3176" y="1672"/>
            <a:chExt cx="576" cy="80"/>
          </a:xfrm>
        </p:grpSpPr>
        <p:sp>
          <p:nvSpPr>
            <p:cNvPr id="44104" name="Freeform 72"/>
            <p:cNvSpPr>
              <a:spLocks/>
            </p:cNvSpPr>
            <p:nvPr/>
          </p:nvSpPr>
          <p:spPr bwMode="auto">
            <a:xfrm>
              <a:off x="3176" y="1672"/>
              <a:ext cx="104" cy="80"/>
            </a:xfrm>
            <a:custGeom>
              <a:avLst/>
              <a:gdLst>
                <a:gd name="T0" fmla="*/ 0 w 104"/>
                <a:gd name="T1" fmla="*/ 40 h 80"/>
                <a:gd name="T2" fmla="*/ 104 w 104"/>
                <a:gd name="T3" fmla="*/ 0 h 80"/>
                <a:gd name="T4" fmla="*/ 104 w 104"/>
                <a:gd name="T5" fmla="*/ 40 h 80"/>
                <a:gd name="T6" fmla="*/ 104 w 104"/>
                <a:gd name="T7" fmla="*/ 80 h 80"/>
                <a:gd name="T8" fmla="*/ 0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0" y="40"/>
                  </a:moveTo>
                  <a:lnTo>
                    <a:pt x="104" y="0"/>
                  </a:lnTo>
                  <a:lnTo>
                    <a:pt x="104" y="40"/>
                  </a:lnTo>
                  <a:lnTo>
                    <a:pt x="104" y="8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05" name="Line 73"/>
            <p:cNvSpPr>
              <a:spLocks noChangeShapeType="1"/>
            </p:cNvSpPr>
            <p:nvPr/>
          </p:nvSpPr>
          <p:spPr bwMode="auto">
            <a:xfrm>
              <a:off x="3280" y="1712"/>
              <a:ext cx="47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4107" name="Rectangle 75"/>
          <p:cNvSpPr>
            <a:spLocks noChangeArrowheads="1"/>
          </p:cNvSpPr>
          <p:nvPr/>
        </p:nvSpPr>
        <p:spPr bwMode="auto">
          <a:xfrm>
            <a:off x="2538047" y="2911920"/>
            <a:ext cx="97302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Instruction </a:t>
            </a:r>
            <a:endParaRPr lang="en-US" altLang="ja-JP" sz="1662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108" name="Rectangle 76"/>
          <p:cNvSpPr>
            <a:spLocks noChangeArrowheads="1"/>
          </p:cNvSpPr>
          <p:nvPr/>
        </p:nvSpPr>
        <p:spPr bwMode="auto">
          <a:xfrm>
            <a:off x="2532059" y="3160009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109" name="Rectangle 77"/>
          <p:cNvSpPr>
            <a:spLocks noChangeArrowheads="1"/>
          </p:cNvSpPr>
          <p:nvPr/>
        </p:nvSpPr>
        <p:spPr bwMode="auto">
          <a:xfrm>
            <a:off x="4906583" y="2904318"/>
            <a:ext cx="45525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Data </a:t>
            </a:r>
            <a:endParaRPr lang="en-US" altLang="ja-JP" sz="1662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110" name="Rectangle 78"/>
          <p:cNvSpPr>
            <a:spLocks noChangeArrowheads="1"/>
          </p:cNvSpPr>
          <p:nvPr/>
        </p:nvSpPr>
        <p:spPr bwMode="auto">
          <a:xfrm>
            <a:off x="4901671" y="3159065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66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22098-94C1-46DE-B11C-C4BAF91087FF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Flynn’s classification (2)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MISD (Multi Instructions Single Data) computer</a:t>
            </a:r>
            <a:r>
              <a:rPr lang="ja-JP" altLang="en-US" sz="2585" dirty="0">
                <a:latin typeface="Times New Roman" pitchFamily="18" charset="0"/>
                <a:cs typeface="Times New Roman" pitchFamily="18" charset="0"/>
              </a:rPr>
              <a:t>　</a:t>
            </a:r>
          </a:p>
          <a:p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All processors share a common memory, have their own control devices and execute their own instructions on same data. </a:t>
            </a:r>
          </a:p>
        </p:txBody>
      </p:sp>
      <p:grpSp>
        <p:nvGrpSpPr>
          <p:cNvPr id="45285" name="Group 229"/>
          <p:cNvGrpSpPr>
            <a:grpSpLocks/>
          </p:cNvGrpSpPr>
          <p:nvPr/>
        </p:nvGrpSpPr>
        <p:grpSpPr bwMode="auto">
          <a:xfrm>
            <a:off x="6148754" y="4021015"/>
            <a:ext cx="890954" cy="422031"/>
            <a:chOff x="4196" y="2564"/>
            <a:chExt cx="608" cy="288"/>
          </a:xfrm>
        </p:grpSpPr>
        <p:sp>
          <p:nvSpPr>
            <p:cNvPr id="45283" name="AutoShape 227"/>
            <p:cNvSpPr>
              <a:spLocks noChangeArrowheads="1"/>
            </p:cNvSpPr>
            <p:nvPr/>
          </p:nvSpPr>
          <p:spPr bwMode="auto">
            <a:xfrm>
              <a:off x="4196" y="2564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84" name="Rectangle 228"/>
            <p:cNvSpPr>
              <a:spLocks noChangeArrowheads="1"/>
            </p:cNvSpPr>
            <p:nvPr/>
          </p:nvSpPr>
          <p:spPr bwMode="auto">
            <a:xfrm>
              <a:off x="4233" y="2625"/>
              <a:ext cx="49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 dirty="0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Memory</a:t>
              </a:r>
              <a:endParaRPr lang="en-US" altLang="ja-JP" sz="1662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288" name="Group 232"/>
          <p:cNvGrpSpPr>
            <a:grpSpLocks/>
          </p:cNvGrpSpPr>
          <p:nvPr/>
        </p:nvGrpSpPr>
        <p:grpSpPr bwMode="auto">
          <a:xfrm>
            <a:off x="1858108" y="2653813"/>
            <a:ext cx="955431" cy="452803"/>
            <a:chOff x="1268" y="1652"/>
            <a:chExt cx="608" cy="288"/>
          </a:xfrm>
        </p:grpSpPr>
        <p:sp>
          <p:nvSpPr>
            <p:cNvPr id="45286" name="AutoShape 230"/>
            <p:cNvSpPr>
              <a:spLocks noChangeArrowheads="1"/>
            </p:cNvSpPr>
            <p:nvPr/>
          </p:nvSpPr>
          <p:spPr bwMode="auto">
            <a:xfrm>
              <a:off x="1268" y="1652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87" name="Rectangle 231"/>
            <p:cNvSpPr>
              <a:spLocks noChangeArrowheads="1"/>
            </p:cNvSpPr>
            <p:nvPr/>
          </p:nvSpPr>
          <p:spPr bwMode="auto">
            <a:xfrm>
              <a:off x="1352" y="1728"/>
              <a:ext cx="41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Control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289" name="AutoShape 233"/>
          <p:cNvSpPr>
            <a:spLocks noChangeArrowheads="1"/>
          </p:cNvSpPr>
          <p:nvPr/>
        </p:nvSpPr>
        <p:spPr bwMode="auto">
          <a:xfrm>
            <a:off x="3827585" y="2743200"/>
            <a:ext cx="973015" cy="480646"/>
          </a:xfrm>
          <a:prstGeom prst="roundRect">
            <a:avLst>
              <a:gd name="adj" fmla="val 31819"/>
            </a:avLst>
          </a:prstGeom>
          <a:solidFill>
            <a:srgbClr val="808080"/>
          </a:solidFill>
          <a:ln w="3810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290" name="AutoShape 234"/>
          <p:cNvSpPr>
            <a:spLocks noChangeArrowheads="1"/>
          </p:cNvSpPr>
          <p:nvPr/>
        </p:nvSpPr>
        <p:spPr bwMode="auto">
          <a:xfrm>
            <a:off x="3768969" y="2628900"/>
            <a:ext cx="1084385" cy="536331"/>
          </a:xfrm>
          <a:prstGeom prst="roundRect">
            <a:avLst>
              <a:gd name="adj" fmla="val 31819"/>
            </a:avLst>
          </a:prstGeom>
          <a:solidFill>
            <a:srgbClr val="FFFFFF"/>
          </a:solidFill>
          <a:ln w="38100">
            <a:solidFill>
              <a:srgbClr val="3F3F3F"/>
            </a:solidFill>
            <a:round/>
            <a:headEnd/>
            <a:tailEnd/>
          </a:ln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291" name="Rectangle 235"/>
          <p:cNvSpPr>
            <a:spLocks noChangeArrowheads="1"/>
          </p:cNvSpPr>
          <p:nvPr/>
        </p:nvSpPr>
        <p:spPr bwMode="auto">
          <a:xfrm>
            <a:off x="3833446" y="2819400"/>
            <a:ext cx="827150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Processor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295" name="Group 239"/>
          <p:cNvGrpSpPr>
            <a:grpSpLocks/>
          </p:cNvGrpSpPr>
          <p:nvPr/>
        </p:nvGrpSpPr>
        <p:grpSpPr bwMode="auto">
          <a:xfrm>
            <a:off x="2860431" y="2842846"/>
            <a:ext cx="762000" cy="117231"/>
            <a:chOff x="1952" y="1760"/>
            <a:chExt cx="520" cy="80"/>
          </a:xfrm>
        </p:grpSpPr>
        <p:sp>
          <p:nvSpPr>
            <p:cNvPr id="45293" name="Freeform 237"/>
            <p:cNvSpPr>
              <a:spLocks/>
            </p:cNvSpPr>
            <p:nvPr/>
          </p:nvSpPr>
          <p:spPr bwMode="auto">
            <a:xfrm>
              <a:off x="2368" y="1760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294" name="Line 238"/>
            <p:cNvSpPr>
              <a:spLocks noChangeShapeType="1"/>
            </p:cNvSpPr>
            <p:nvPr/>
          </p:nvSpPr>
          <p:spPr bwMode="auto">
            <a:xfrm>
              <a:off x="1952" y="1800"/>
              <a:ext cx="4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296" name="Rectangle 240"/>
          <p:cNvSpPr>
            <a:spLocks noChangeArrowheads="1"/>
          </p:cNvSpPr>
          <p:nvPr/>
        </p:nvSpPr>
        <p:spPr bwMode="auto">
          <a:xfrm>
            <a:off x="2743201" y="3077308"/>
            <a:ext cx="97302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Instruction 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297" name="Rectangle 241"/>
          <p:cNvSpPr>
            <a:spLocks noChangeArrowheads="1"/>
          </p:cNvSpPr>
          <p:nvPr/>
        </p:nvSpPr>
        <p:spPr bwMode="auto">
          <a:xfrm>
            <a:off x="2977662" y="3241431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299" name="Rectangle 243"/>
          <p:cNvSpPr>
            <a:spLocks noChangeArrowheads="1"/>
          </p:cNvSpPr>
          <p:nvPr/>
        </p:nvSpPr>
        <p:spPr bwMode="auto">
          <a:xfrm>
            <a:off x="5638800" y="4437185"/>
            <a:ext cx="45525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Data 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00" name="Rectangle 244"/>
          <p:cNvSpPr>
            <a:spLocks noChangeArrowheads="1"/>
          </p:cNvSpPr>
          <p:nvPr/>
        </p:nvSpPr>
        <p:spPr bwMode="auto">
          <a:xfrm>
            <a:off x="5556739" y="4624754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303" name="Group 247"/>
          <p:cNvGrpSpPr>
            <a:grpSpLocks/>
          </p:cNvGrpSpPr>
          <p:nvPr/>
        </p:nvGrpSpPr>
        <p:grpSpPr bwMode="auto">
          <a:xfrm>
            <a:off x="1858108" y="3486151"/>
            <a:ext cx="955431" cy="452803"/>
            <a:chOff x="1268" y="2220"/>
            <a:chExt cx="608" cy="288"/>
          </a:xfrm>
        </p:grpSpPr>
        <p:sp>
          <p:nvSpPr>
            <p:cNvPr id="45301" name="AutoShape 245"/>
            <p:cNvSpPr>
              <a:spLocks noChangeArrowheads="1"/>
            </p:cNvSpPr>
            <p:nvPr/>
          </p:nvSpPr>
          <p:spPr bwMode="auto">
            <a:xfrm>
              <a:off x="1268" y="2220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02" name="Rectangle 246"/>
            <p:cNvSpPr>
              <a:spLocks noChangeArrowheads="1"/>
            </p:cNvSpPr>
            <p:nvPr/>
          </p:nvSpPr>
          <p:spPr bwMode="auto">
            <a:xfrm>
              <a:off x="1352" y="2296"/>
              <a:ext cx="41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Control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307" name="Group 251"/>
          <p:cNvGrpSpPr>
            <a:grpSpLocks/>
          </p:cNvGrpSpPr>
          <p:nvPr/>
        </p:nvGrpSpPr>
        <p:grpSpPr bwMode="auto">
          <a:xfrm>
            <a:off x="3768969" y="3442189"/>
            <a:ext cx="1150327" cy="613996"/>
            <a:chOff x="2572" y="2212"/>
            <a:chExt cx="704" cy="376"/>
          </a:xfrm>
        </p:grpSpPr>
        <p:sp>
          <p:nvSpPr>
            <p:cNvPr id="45304" name="AutoShape 248"/>
            <p:cNvSpPr>
              <a:spLocks noChangeArrowheads="1"/>
            </p:cNvSpPr>
            <p:nvPr/>
          </p:nvSpPr>
          <p:spPr bwMode="auto">
            <a:xfrm>
              <a:off x="2612" y="2252"/>
              <a:ext cx="664" cy="336"/>
            </a:xfrm>
            <a:prstGeom prst="roundRect">
              <a:avLst>
                <a:gd name="adj" fmla="val 31111"/>
              </a:avLst>
            </a:prstGeom>
            <a:solidFill>
              <a:srgbClr val="808080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05" name="AutoShape 249"/>
            <p:cNvSpPr>
              <a:spLocks noChangeArrowheads="1"/>
            </p:cNvSpPr>
            <p:nvPr/>
          </p:nvSpPr>
          <p:spPr bwMode="auto">
            <a:xfrm>
              <a:off x="2572" y="2212"/>
              <a:ext cx="664" cy="336"/>
            </a:xfrm>
            <a:prstGeom prst="roundRect">
              <a:avLst>
                <a:gd name="adj" fmla="val 31111"/>
              </a:avLst>
            </a:prstGeom>
            <a:solidFill>
              <a:srgbClr val="FFFFFF"/>
            </a:solidFill>
            <a:ln w="38100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06" name="Rectangle 250"/>
            <p:cNvSpPr>
              <a:spLocks noChangeArrowheads="1"/>
            </p:cNvSpPr>
            <p:nvPr/>
          </p:nvSpPr>
          <p:spPr bwMode="auto">
            <a:xfrm>
              <a:off x="2616" y="2304"/>
              <a:ext cx="506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Processor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310" name="Group 254"/>
          <p:cNvGrpSpPr>
            <a:grpSpLocks/>
          </p:cNvGrpSpPr>
          <p:nvPr/>
        </p:nvGrpSpPr>
        <p:grpSpPr bwMode="auto">
          <a:xfrm>
            <a:off x="2860431" y="3675185"/>
            <a:ext cx="762000" cy="117231"/>
            <a:chOff x="1952" y="2328"/>
            <a:chExt cx="520" cy="80"/>
          </a:xfrm>
        </p:grpSpPr>
        <p:sp>
          <p:nvSpPr>
            <p:cNvPr id="45308" name="Freeform 252"/>
            <p:cNvSpPr>
              <a:spLocks/>
            </p:cNvSpPr>
            <p:nvPr/>
          </p:nvSpPr>
          <p:spPr bwMode="auto">
            <a:xfrm>
              <a:off x="2368" y="2328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09" name="Line 253"/>
            <p:cNvSpPr>
              <a:spLocks noChangeShapeType="1"/>
            </p:cNvSpPr>
            <p:nvPr/>
          </p:nvSpPr>
          <p:spPr bwMode="auto">
            <a:xfrm>
              <a:off x="1952" y="2368"/>
              <a:ext cx="4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311" name="Rectangle 255"/>
          <p:cNvSpPr>
            <a:spLocks noChangeArrowheads="1"/>
          </p:cNvSpPr>
          <p:nvPr/>
        </p:nvSpPr>
        <p:spPr bwMode="auto">
          <a:xfrm>
            <a:off x="2743201" y="3921369"/>
            <a:ext cx="97302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Instruction 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12" name="Rectangle 256"/>
          <p:cNvSpPr>
            <a:spLocks noChangeArrowheads="1"/>
          </p:cNvSpPr>
          <p:nvPr/>
        </p:nvSpPr>
        <p:spPr bwMode="auto">
          <a:xfrm>
            <a:off x="2977662" y="4073769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316" name="Group 260"/>
          <p:cNvGrpSpPr>
            <a:grpSpLocks/>
          </p:cNvGrpSpPr>
          <p:nvPr/>
        </p:nvGrpSpPr>
        <p:grpSpPr bwMode="auto">
          <a:xfrm>
            <a:off x="1858108" y="5103936"/>
            <a:ext cx="955431" cy="452803"/>
            <a:chOff x="1268" y="3324"/>
            <a:chExt cx="608" cy="288"/>
          </a:xfrm>
        </p:grpSpPr>
        <p:sp>
          <p:nvSpPr>
            <p:cNvPr id="45314" name="AutoShape 258"/>
            <p:cNvSpPr>
              <a:spLocks noChangeArrowheads="1"/>
            </p:cNvSpPr>
            <p:nvPr/>
          </p:nvSpPr>
          <p:spPr bwMode="auto">
            <a:xfrm>
              <a:off x="1268" y="3324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15" name="Rectangle 259"/>
            <p:cNvSpPr>
              <a:spLocks noChangeArrowheads="1"/>
            </p:cNvSpPr>
            <p:nvPr/>
          </p:nvSpPr>
          <p:spPr bwMode="auto">
            <a:xfrm>
              <a:off x="1352" y="3400"/>
              <a:ext cx="41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Control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320" name="Group 264"/>
          <p:cNvGrpSpPr>
            <a:grpSpLocks/>
          </p:cNvGrpSpPr>
          <p:nvPr/>
        </p:nvGrpSpPr>
        <p:grpSpPr bwMode="auto">
          <a:xfrm>
            <a:off x="3768969" y="5061439"/>
            <a:ext cx="1150327" cy="600808"/>
            <a:chOff x="2572" y="3316"/>
            <a:chExt cx="704" cy="368"/>
          </a:xfrm>
        </p:grpSpPr>
        <p:sp>
          <p:nvSpPr>
            <p:cNvPr id="45317" name="AutoShape 261"/>
            <p:cNvSpPr>
              <a:spLocks noChangeArrowheads="1"/>
            </p:cNvSpPr>
            <p:nvPr/>
          </p:nvSpPr>
          <p:spPr bwMode="auto">
            <a:xfrm>
              <a:off x="2612" y="3356"/>
              <a:ext cx="664" cy="328"/>
            </a:xfrm>
            <a:prstGeom prst="roundRect">
              <a:avLst>
                <a:gd name="adj" fmla="val 31819"/>
              </a:avLst>
            </a:prstGeom>
            <a:solidFill>
              <a:srgbClr val="808080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18" name="AutoShape 262"/>
            <p:cNvSpPr>
              <a:spLocks noChangeArrowheads="1"/>
            </p:cNvSpPr>
            <p:nvPr/>
          </p:nvSpPr>
          <p:spPr bwMode="auto">
            <a:xfrm>
              <a:off x="2572" y="3316"/>
              <a:ext cx="664" cy="328"/>
            </a:xfrm>
            <a:prstGeom prst="roundRect">
              <a:avLst>
                <a:gd name="adj" fmla="val 31819"/>
              </a:avLst>
            </a:prstGeom>
            <a:solidFill>
              <a:srgbClr val="FFFFFF"/>
            </a:solidFill>
            <a:ln w="38100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19" name="Rectangle 263"/>
            <p:cNvSpPr>
              <a:spLocks noChangeArrowheads="1"/>
            </p:cNvSpPr>
            <p:nvPr/>
          </p:nvSpPr>
          <p:spPr bwMode="auto">
            <a:xfrm>
              <a:off x="2616" y="3408"/>
              <a:ext cx="506" cy="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Processor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5323" name="Group 267"/>
          <p:cNvGrpSpPr>
            <a:grpSpLocks/>
          </p:cNvGrpSpPr>
          <p:nvPr/>
        </p:nvGrpSpPr>
        <p:grpSpPr bwMode="auto">
          <a:xfrm>
            <a:off x="2860431" y="5292969"/>
            <a:ext cx="762000" cy="117231"/>
            <a:chOff x="1952" y="3432"/>
            <a:chExt cx="520" cy="80"/>
          </a:xfrm>
        </p:grpSpPr>
        <p:sp>
          <p:nvSpPr>
            <p:cNvPr id="45321" name="Freeform 265"/>
            <p:cNvSpPr>
              <a:spLocks/>
            </p:cNvSpPr>
            <p:nvPr/>
          </p:nvSpPr>
          <p:spPr bwMode="auto">
            <a:xfrm>
              <a:off x="2368" y="3432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22" name="Line 266"/>
            <p:cNvSpPr>
              <a:spLocks noChangeShapeType="1"/>
            </p:cNvSpPr>
            <p:nvPr/>
          </p:nvSpPr>
          <p:spPr bwMode="auto">
            <a:xfrm>
              <a:off x="1952" y="3472"/>
              <a:ext cx="4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324" name="Rectangle 268"/>
          <p:cNvSpPr>
            <a:spLocks noChangeArrowheads="1"/>
          </p:cNvSpPr>
          <p:nvPr/>
        </p:nvSpPr>
        <p:spPr bwMode="auto">
          <a:xfrm>
            <a:off x="2743201" y="5539154"/>
            <a:ext cx="973023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Instruction 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25" name="Rectangle 269"/>
          <p:cNvSpPr>
            <a:spLocks noChangeArrowheads="1"/>
          </p:cNvSpPr>
          <p:nvPr/>
        </p:nvSpPr>
        <p:spPr bwMode="auto">
          <a:xfrm>
            <a:off x="2977662" y="5691554"/>
            <a:ext cx="602729" cy="255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ＭＳ 明朝" pitchFamily="49" charset="-128"/>
                <a:cs typeface="Times New Roman" pitchFamily="18" charset="0"/>
              </a:rPr>
              <a:t>Stream</a:t>
            </a:r>
            <a:endParaRPr lang="en-US" altLang="ja-JP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27" name="Line 271"/>
          <p:cNvSpPr>
            <a:spLocks noChangeShapeType="1"/>
          </p:cNvSpPr>
          <p:nvPr/>
        </p:nvSpPr>
        <p:spPr bwMode="auto">
          <a:xfrm flipV="1">
            <a:off x="3235569" y="5011616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28" name="Line 272"/>
          <p:cNvSpPr>
            <a:spLocks noChangeShapeType="1"/>
          </p:cNvSpPr>
          <p:nvPr/>
        </p:nvSpPr>
        <p:spPr bwMode="auto">
          <a:xfrm flipV="1">
            <a:off x="3235569" y="4917831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29" name="Line 273"/>
          <p:cNvSpPr>
            <a:spLocks noChangeShapeType="1"/>
          </p:cNvSpPr>
          <p:nvPr/>
        </p:nvSpPr>
        <p:spPr bwMode="auto">
          <a:xfrm flipV="1">
            <a:off x="3235569" y="4824046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30" name="Line 274"/>
          <p:cNvSpPr>
            <a:spLocks noChangeShapeType="1"/>
          </p:cNvSpPr>
          <p:nvPr/>
        </p:nvSpPr>
        <p:spPr bwMode="auto">
          <a:xfrm flipV="1">
            <a:off x="3235569" y="4730262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31" name="Line 275"/>
          <p:cNvSpPr>
            <a:spLocks noChangeShapeType="1"/>
          </p:cNvSpPr>
          <p:nvPr/>
        </p:nvSpPr>
        <p:spPr bwMode="auto">
          <a:xfrm flipV="1">
            <a:off x="3235569" y="4636477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32" name="Line 276"/>
          <p:cNvSpPr>
            <a:spLocks noChangeShapeType="1"/>
          </p:cNvSpPr>
          <p:nvPr/>
        </p:nvSpPr>
        <p:spPr bwMode="auto">
          <a:xfrm flipV="1">
            <a:off x="3235569" y="4542692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33" name="Line 277"/>
          <p:cNvSpPr>
            <a:spLocks noChangeShapeType="1"/>
          </p:cNvSpPr>
          <p:nvPr/>
        </p:nvSpPr>
        <p:spPr bwMode="auto">
          <a:xfrm flipV="1">
            <a:off x="3235569" y="4448908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344" name="Group 288"/>
          <p:cNvGrpSpPr>
            <a:grpSpLocks/>
          </p:cNvGrpSpPr>
          <p:nvPr/>
        </p:nvGrpSpPr>
        <p:grpSpPr bwMode="auto">
          <a:xfrm>
            <a:off x="4841631" y="2889738"/>
            <a:ext cx="552450" cy="2567354"/>
            <a:chOff x="3304" y="1792"/>
            <a:chExt cx="377" cy="1752"/>
          </a:xfrm>
        </p:grpSpPr>
        <p:grpSp>
          <p:nvGrpSpPr>
            <p:cNvPr id="45336" name="Group 280"/>
            <p:cNvGrpSpPr>
              <a:grpSpLocks/>
            </p:cNvGrpSpPr>
            <p:nvPr/>
          </p:nvGrpSpPr>
          <p:grpSpPr bwMode="auto">
            <a:xfrm>
              <a:off x="3304" y="1792"/>
              <a:ext cx="376" cy="80"/>
              <a:chOff x="3304" y="1792"/>
              <a:chExt cx="376" cy="80"/>
            </a:xfrm>
          </p:grpSpPr>
          <p:sp>
            <p:nvSpPr>
              <p:cNvPr id="45334" name="Freeform 278"/>
              <p:cNvSpPr>
                <a:spLocks/>
              </p:cNvSpPr>
              <p:nvPr/>
            </p:nvSpPr>
            <p:spPr bwMode="auto">
              <a:xfrm>
                <a:off x="3304" y="1792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335" name="Line 279"/>
              <p:cNvSpPr>
                <a:spLocks noChangeShapeType="1"/>
              </p:cNvSpPr>
              <p:nvPr/>
            </p:nvSpPr>
            <p:spPr bwMode="auto">
              <a:xfrm>
                <a:off x="3408" y="1832"/>
                <a:ext cx="27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5339" name="Group 283"/>
            <p:cNvGrpSpPr>
              <a:grpSpLocks/>
            </p:cNvGrpSpPr>
            <p:nvPr/>
          </p:nvGrpSpPr>
          <p:grpSpPr bwMode="auto">
            <a:xfrm>
              <a:off x="3304" y="2360"/>
              <a:ext cx="376" cy="80"/>
              <a:chOff x="3304" y="2360"/>
              <a:chExt cx="376" cy="80"/>
            </a:xfrm>
          </p:grpSpPr>
          <p:sp>
            <p:nvSpPr>
              <p:cNvPr id="45337" name="Freeform 281"/>
              <p:cNvSpPr>
                <a:spLocks/>
              </p:cNvSpPr>
              <p:nvPr/>
            </p:nvSpPr>
            <p:spPr bwMode="auto">
              <a:xfrm>
                <a:off x="3304" y="2360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338" name="Line 282"/>
              <p:cNvSpPr>
                <a:spLocks noChangeShapeType="1"/>
              </p:cNvSpPr>
              <p:nvPr/>
            </p:nvSpPr>
            <p:spPr bwMode="auto">
              <a:xfrm>
                <a:off x="3408" y="2400"/>
                <a:ext cx="27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5342" name="Group 286"/>
            <p:cNvGrpSpPr>
              <a:grpSpLocks/>
            </p:cNvGrpSpPr>
            <p:nvPr/>
          </p:nvGrpSpPr>
          <p:grpSpPr bwMode="auto">
            <a:xfrm>
              <a:off x="3304" y="3464"/>
              <a:ext cx="376" cy="80"/>
              <a:chOff x="3304" y="3464"/>
              <a:chExt cx="376" cy="80"/>
            </a:xfrm>
          </p:grpSpPr>
          <p:sp>
            <p:nvSpPr>
              <p:cNvPr id="45340" name="Freeform 284"/>
              <p:cNvSpPr>
                <a:spLocks/>
              </p:cNvSpPr>
              <p:nvPr/>
            </p:nvSpPr>
            <p:spPr bwMode="auto">
              <a:xfrm>
                <a:off x="3304" y="3464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341" name="Line 285"/>
              <p:cNvSpPr>
                <a:spLocks noChangeShapeType="1"/>
              </p:cNvSpPr>
              <p:nvPr/>
            </p:nvSpPr>
            <p:spPr bwMode="auto">
              <a:xfrm>
                <a:off x="3408" y="3504"/>
                <a:ext cx="27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5343" name="Line 287"/>
            <p:cNvSpPr>
              <a:spLocks noChangeShapeType="1"/>
            </p:cNvSpPr>
            <p:nvPr/>
          </p:nvSpPr>
          <p:spPr bwMode="auto">
            <a:xfrm flipV="1">
              <a:off x="3680" y="1832"/>
              <a:ext cx="1" cy="1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345" name="Line 289"/>
          <p:cNvSpPr>
            <a:spLocks noChangeShapeType="1"/>
          </p:cNvSpPr>
          <p:nvPr/>
        </p:nvSpPr>
        <p:spPr bwMode="auto">
          <a:xfrm flipV="1">
            <a:off x="5122985" y="4999892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46" name="Line 290"/>
          <p:cNvSpPr>
            <a:spLocks noChangeShapeType="1"/>
          </p:cNvSpPr>
          <p:nvPr/>
        </p:nvSpPr>
        <p:spPr bwMode="auto">
          <a:xfrm flipV="1">
            <a:off x="5122985" y="4906108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47" name="Line 291"/>
          <p:cNvSpPr>
            <a:spLocks noChangeShapeType="1"/>
          </p:cNvSpPr>
          <p:nvPr/>
        </p:nvSpPr>
        <p:spPr bwMode="auto">
          <a:xfrm flipV="1">
            <a:off x="5122985" y="4812323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48" name="Line 292"/>
          <p:cNvSpPr>
            <a:spLocks noChangeShapeType="1"/>
          </p:cNvSpPr>
          <p:nvPr/>
        </p:nvSpPr>
        <p:spPr bwMode="auto">
          <a:xfrm flipV="1">
            <a:off x="5122985" y="4718539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49" name="Line 293"/>
          <p:cNvSpPr>
            <a:spLocks noChangeShapeType="1"/>
          </p:cNvSpPr>
          <p:nvPr/>
        </p:nvSpPr>
        <p:spPr bwMode="auto">
          <a:xfrm flipV="1">
            <a:off x="5122985" y="4624754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50" name="Line 294"/>
          <p:cNvSpPr>
            <a:spLocks noChangeShapeType="1"/>
          </p:cNvSpPr>
          <p:nvPr/>
        </p:nvSpPr>
        <p:spPr bwMode="auto">
          <a:xfrm flipV="1">
            <a:off x="5122985" y="4530969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351" name="Line 295"/>
          <p:cNvSpPr>
            <a:spLocks noChangeShapeType="1"/>
          </p:cNvSpPr>
          <p:nvPr/>
        </p:nvSpPr>
        <p:spPr bwMode="auto">
          <a:xfrm flipV="1">
            <a:off x="5122985" y="4437185"/>
            <a:ext cx="1466" cy="35169"/>
          </a:xfrm>
          <a:prstGeom prst="line">
            <a:avLst/>
          </a:prstGeom>
          <a:noFill/>
          <a:ln w="508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62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5354" name="Group 298"/>
          <p:cNvGrpSpPr>
            <a:grpSpLocks/>
          </p:cNvGrpSpPr>
          <p:nvPr/>
        </p:nvGrpSpPr>
        <p:grpSpPr bwMode="auto">
          <a:xfrm>
            <a:off x="5416062" y="4179277"/>
            <a:ext cx="633046" cy="117231"/>
            <a:chOff x="3696" y="2672"/>
            <a:chExt cx="432" cy="80"/>
          </a:xfrm>
        </p:grpSpPr>
        <p:sp>
          <p:nvSpPr>
            <p:cNvPr id="45352" name="Freeform 296"/>
            <p:cNvSpPr>
              <a:spLocks/>
            </p:cNvSpPr>
            <p:nvPr/>
          </p:nvSpPr>
          <p:spPr bwMode="auto">
            <a:xfrm>
              <a:off x="3696" y="2672"/>
              <a:ext cx="104" cy="80"/>
            </a:xfrm>
            <a:custGeom>
              <a:avLst/>
              <a:gdLst>
                <a:gd name="T0" fmla="*/ 0 w 104"/>
                <a:gd name="T1" fmla="*/ 40 h 80"/>
                <a:gd name="T2" fmla="*/ 104 w 104"/>
                <a:gd name="T3" fmla="*/ 0 h 80"/>
                <a:gd name="T4" fmla="*/ 104 w 104"/>
                <a:gd name="T5" fmla="*/ 40 h 80"/>
                <a:gd name="T6" fmla="*/ 104 w 104"/>
                <a:gd name="T7" fmla="*/ 80 h 80"/>
                <a:gd name="T8" fmla="*/ 0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0" y="40"/>
                  </a:moveTo>
                  <a:lnTo>
                    <a:pt x="104" y="0"/>
                  </a:lnTo>
                  <a:lnTo>
                    <a:pt x="104" y="40"/>
                  </a:lnTo>
                  <a:lnTo>
                    <a:pt x="104" y="8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353" name="Line 297"/>
            <p:cNvSpPr>
              <a:spLocks noChangeShapeType="1"/>
            </p:cNvSpPr>
            <p:nvPr/>
          </p:nvSpPr>
          <p:spPr bwMode="auto">
            <a:xfrm>
              <a:off x="3800" y="2712"/>
              <a:ext cx="32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031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92607-B583-4E78-ACCC-FE0D04E7A8FA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Flynn’s classification (3)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78169"/>
            <a:ext cx="9073662" cy="4923692"/>
          </a:xfrm>
        </p:spPr>
        <p:txBody>
          <a:bodyPr/>
          <a:lstStyle/>
          <a:p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SIMD (Single Instructions Multi Data) computer</a:t>
            </a:r>
          </a:p>
          <a:p>
            <a:pPr lvl="1"/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Processors execute the same instructions on different data </a:t>
            </a:r>
          </a:p>
          <a:p>
            <a:pPr lvl="1"/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Operations of processors are synchronized by global clock. </a:t>
            </a:r>
          </a:p>
          <a:p>
            <a:pPr lvl="1">
              <a:buFontTx/>
              <a:buNone/>
            </a:pPr>
            <a:endParaRPr lang="en-US" altLang="ja-JP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6162" name="Group 82"/>
          <p:cNvGrpSpPr>
            <a:grpSpLocks/>
          </p:cNvGrpSpPr>
          <p:nvPr/>
        </p:nvGrpSpPr>
        <p:grpSpPr bwMode="auto">
          <a:xfrm>
            <a:off x="1195754" y="2725616"/>
            <a:ext cx="5726723" cy="3081704"/>
            <a:chOff x="1076" y="2112"/>
            <a:chExt cx="3908" cy="2103"/>
          </a:xfrm>
        </p:grpSpPr>
        <p:grpSp>
          <p:nvGrpSpPr>
            <p:cNvPr id="46094" name="Group 14"/>
            <p:cNvGrpSpPr>
              <a:grpSpLocks/>
            </p:cNvGrpSpPr>
            <p:nvPr/>
          </p:nvGrpSpPr>
          <p:grpSpPr bwMode="auto">
            <a:xfrm>
              <a:off x="4147" y="2160"/>
              <a:ext cx="837" cy="1820"/>
              <a:chOff x="4148" y="2172"/>
              <a:chExt cx="776" cy="1808"/>
            </a:xfrm>
          </p:grpSpPr>
          <p:sp>
            <p:nvSpPr>
              <p:cNvPr id="46085" name="AutoShape 5"/>
              <p:cNvSpPr>
                <a:spLocks noChangeArrowheads="1"/>
              </p:cNvSpPr>
              <p:nvPr/>
            </p:nvSpPr>
            <p:spPr bwMode="auto">
              <a:xfrm>
                <a:off x="4148" y="2172"/>
                <a:ext cx="776" cy="1808"/>
              </a:xfrm>
              <a:prstGeom prst="roundRect">
                <a:avLst>
                  <a:gd name="adj" fmla="val 14000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86" name="Rectangle 6"/>
              <p:cNvSpPr>
                <a:spLocks noChangeArrowheads="1"/>
              </p:cNvSpPr>
              <p:nvPr/>
            </p:nvSpPr>
            <p:spPr bwMode="auto">
              <a:xfrm>
                <a:off x="4216" y="2392"/>
                <a:ext cx="40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Shared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87" name="Rectangle 7"/>
              <p:cNvSpPr>
                <a:spLocks noChangeArrowheads="1"/>
              </p:cNvSpPr>
              <p:nvPr/>
            </p:nvSpPr>
            <p:spPr bwMode="auto">
              <a:xfrm>
                <a:off x="4216" y="2568"/>
                <a:ext cx="496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Memory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88" name="Rectangle 8"/>
              <p:cNvSpPr>
                <a:spLocks noChangeArrowheads="1"/>
              </p:cNvSpPr>
              <p:nvPr/>
            </p:nvSpPr>
            <p:spPr bwMode="auto">
              <a:xfrm>
                <a:off x="4216" y="2744"/>
                <a:ext cx="3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89" name="Rectangle 9"/>
              <p:cNvSpPr>
                <a:spLocks noChangeArrowheads="1"/>
              </p:cNvSpPr>
              <p:nvPr/>
            </p:nvSpPr>
            <p:spPr bwMode="auto">
              <a:xfrm>
                <a:off x="4216" y="2920"/>
                <a:ext cx="17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or 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0" name="Rectangle 10"/>
              <p:cNvSpPr>
                <a:spLocks noChangeArrowheads="1"/>
              </p:cNvSpPr>
              <p:nvPr/>
            </p:nvSpPr>
            <p:spPr bwMode="auto">
              <a:xfrm>
                <a:off x="4216" y="3096"/>
                <a:ext cx="3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1" name="Rectangle 11"/>
              <p:cNvSpPr>
                <a:spLocks noChangeArrowheads="1"/>
              </p:cNvSpPr>
              <p:nvPr/>
            </p:nvSpPr>
            <p:spPr bwMode="auto">
              <a:xfrm>
                <a:off x="4216" y="3272"/>
                <a:ext cx="32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Inter-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2" name="Rectangle 12"/>
              <p:cNvSpPr>
                <a:spLocks noChangeArrowheads="1"/>
              </p:cNvSpPr>
              <p:nvPr/>
            </p:nvSpPr>
            <p:spPr bwMode="auto">
              <a:xfrm>
                <a:off x="4216" y="3448"/>
                <a:ext cx="62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connection 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3" name="Rectangle 13"/>
              <p:cNvSpPr>
                <a:spLocks noChangeArrowheads="1"/>
              </p:cNvSpPr>
              <p:nvPr/>
            </p:nvSpPr>
            <p:spPr bwMode="auto">
              <a:xfrm>
                <a:off x="4216" y="3624"/>
                <a:ext cx="47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Nerwork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098" name="Group 18"/>
            <p:cNvGrpSpPr>
              <a:grpSpLocks/>
            </p:cNvGrpSpPr>
            <p:nvPr/>
          </p:nvGrpSpPr>
          <p:grpSpPr bwMode="auto">
            <a:xfrm>
              <a:off x="2688" y="2112"/>
              <a:ext cx="762" cy="403"/>
              <a:chOff x="2668" y="2132"/>
              <a:chExt cx="696" cy="368"/>
            </a:xfrm>
          </p:grpSpPr>
          <p:sp>
            <p:nvSpPr>
              <p:cNvPr id="46095" name="AutoShape 15"/>
              <p:cNvSpPr>
                <a:spLocks noChangeArrowheads="1"/>
              </p:cNvSpPr>
              <p:nvPr/>
            </p:nvSpPr>
            <p:spPr bwMode="auto">
              <a:xfrm>
                <a:off x="2708" y="2172"/>
                <a:ext cx="656" cy="328"/>
              </a:xfrm>
              <a:prstGeom prst="roundRect">
                <a:avLst>
                  <a:gd name="adj" fmla="val 31819"/>
                </a:avLst>
              </a:prstGeom>
              <a:solidFill>
                <a:srgbClr val="808080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6" name="AutoShape 16"/>
              <p:cNvSpPr>
                <a:spLocks noChangeArrowheads="1"/>
              </p:cNvSpPr>
              <p:nvPr/>
            </p:nvSpPr>
            <p:spPr bwMode="auto">
              <a:xfrm>
                <a:off x="2668" y="2132"/>
                <a:ext cx="656" cy="328"/>
              </a:xfrm>
              <a:prstGeom prst="roundRect">
                <a:avLst>
                  <a:gd name="adj" fmla="val 31819"/>
                </a:avLst>
              </a:prstGeom>
              <a:solidFill>
                <a:srgbClr val="FFFFFF"/>
              </a:solidFill>
              <a:ln w="38100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097" name="Rectangle 17"/>
              <p:cNvSpPr>
                <a:spLocks noChangeArrowheads="1"/>
              </p:cNvSpPr>
              <p:nvPr/>
            </p:nvSpPr>
            <p:spPr bwMode="auto">
              <a:xfrm>
                <a:off x="2712" y="2224"/>
                <a:ext cx="516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Processor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6099" name="Rectangle 19"/>
            <p:cNvSpPr>
              <a:spLocks noChangeArrowheads="1"/>
            </p:cNvSpPr>
            <p:nvPr/>
          </p:nvSpPr>
          <p:spPr bwMode="auto">
            <a:xfrm>
              <a:off x="3664" y="2352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00" name="Rectangle 20"/>
            <p:cNvSpPr>
              <a:spLocks noChangeArrowheads="1"/>
            </p:cNvSpPr>
            <p:nvPr/>
          </p:nvSpPr>
          <p:spPr bwMode="auto">
            <a:xfrm>
              <a:off x="3592" y="2528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6103" name="Group 23"/>
            <p:cNvGrpSpPr>
              <a:grpSpLocks/>
            </p:cNvGrpSpPr>
            <p:nvPr/>
          </p:nvGrpSpPr>
          <p:grpSpPr bwMode="auto">
            <a:xfrm>
              <a:off x="1076" y="2764"/>
              <a:ext cx="608" cy="288"/>
              <a:chOff x="1076" y="2764"/>
              <a:chExt cx="608" cy="288"/>
            </a:xfrm>
          </p:grpSpPr>
          <p:sp>
            <p:nvSpPr>
              <p:cNvPr id="46101" name="AutoShape 21"/>
              <p:cNvSpPr>
                <a:spLocks noChangeArrowheads="1"/>
              </p:cNvSpPr>
              <p:nvPr/>
            </p:nvSpPr>
            <p:spPr bwMode="auto">
              <a:xfrm>
                <a:off x="1076" y="2764"/>
                <a:ext cx="608" cy="288"/>
              </a:xfrm>
              <a:prstGeom prst="roundRect">
                <a:avLst>
                  <a:gd name="adj" fmla="val 35898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02" name="Rectangle 22"/>
              <p:cNvSpPr>
                <a:spLocks noChangeArrowheads="1"/>
              </p:cNvSpPr>
              <p:nvPr/>
            </p:nvSpPr>
            <p:spPr bwMode="auto">
              <a:xfrm>
                <a:off x="1160" y="2840"/>
                <a:ext cx="44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Control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107" name="Group 27"/>
            <p:cNvGrpSpPr>
              <a:grpSpLocks/>
            </p:cNvGrpSpPr>
            <p:nvPr/>
          </p:nvGrpSpPr>
          <p:grpSpPr bwMode="auto">
            <a:xfrm>
              <a:off x="2684" y="2568"/>
              <a:ext cx="771" cy="412"/>
              <a:chOff x="2684" y="2604"/>
              <a:chExt cx="704" cy="376"/>
            </a:xfrm>
          </p:grpSpPr>
          <p:sp>
            <p:nvSpPr>
              <p:cNvPr id="46104" name="AutoShape 24"/>
              <p:cNvSpPr>
                <a:spLocks noChangeArrowheads="1"/>
              </p:cNvSpPr>
              <p:nvPr/>
            </p:nvSpPr>
            <p:spPr bwMode="auto">
              <a:xfrm>
                <a:off x="2724" y="2644"/>
                <a:ext cx="664" cy="336"/>
              </a:xfrm>
              <a:prstGeom prst="roundRect">
                <a:avLst>
                  <a:gd name="adj" fmla="val 31111"/>
                </a:avLst>
              </a:prstGeom>
              <a:solidFill>
                <a:srgbClr val="808080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05" name="AutoShape 25"/>
              <p:cNvSpPr>
                <a:spLocks noChangeArrowheads="1"/>
              </p:cNvSpPr>
              <p:nvPr/>
            </p:nvSpPr>
            <p:spPr bwMode="auto">
              <a:xfrm>
                <a:off x="2684" y="2604"/>
                <a:ext cx="664" cy="336"/>
              </a:xfrm>
              <a:prstGeom prst="roundRect">
                <a:avLst>
                  <a:gd name="adj" fmla="val 31111"/>
                </a:avLst>
              </a:prstGeom>
              <a:solidFill>
                <a:srgbClr val="FFFFFF"/>
              </a:solidFill>
              <a:ln w="38100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06" name="Rectangle 26"/>
              <p:cNvSpPr>
                <a:spLocks noChangeArrowheads="1"/>
              </p:cNvSpPr>
              <p:nvPr/>
            </p:nvSpPr>
            <p:spPr bwMode="auto">
              <a:xfrm>
                <a:off x="2736" y="2680"/>
                <a:ext cx="515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Processor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110" name="Group 30"/>
            <p:cNvGrpSpPr>
              <a:grpSpLocks/>
            </p:cNvGrpSpPr>
            <p:nvPr/>
          </p:nvGrpSpPr>
          <p:grpSpPr bwMode="auto">
            <a:xfrm>
              <a:off x="1736" y="2880"/>
              <a:ext cx="464" cy="80"/>
              <a:chOff x="1736" y="2880"/>
              <a:chExt cx="464" cy="80"/>
            </a:xfrm>
          </p:grpSpPr>
          <p:sp>
            <p:nvSpPr>
              <p:cNvPr id="46108" name="Freeform 28"/>
              <p:cNvSpPr>
                <a:spLocks/>
              </p:cNvSpPr>
              <p:nvPr/>
            </p:nvSpPr>
            <p:spPr bwMode="auto">
              <a:xfrm>
                <a:off x="2096" y="2880"/>
                <a:ext cx="104" cy="80"/>
              </a:xfrm>
              <a:custGeom>
                <a:avLst/>
                <a:gdLst>
                  <a:gd name="T0" fmla="*/ 104 w 104"/>
                  <a:gd name="T1" fmla="*/ 40 h 80"/>
                  <a:gd name="T2" fmla="*/ 0 w 104"/>
                  <a:gd name="T3" fmla="*/ 80 h 80"/>
                  <a:gd name="T4" fmla="*/ 0 w 104"/>
                  <a:gd name="T5" fmla="*/ 40 h 80"/>
                  <a:gd name="T6" fmla="*/ 0 w 104"/>
                  <a:gd name="T7" fmla="*/ 0 h 80"/>
                  <a:gd name="T8" fmla="*/ 104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104" y="40"/>
                    </a:moveTo>
                    <a:lnTo>
                      <a:pt x="0" y="80"/>
                    </a:lnTo>
                    <a:lnTo>
                      <a:pt x="0" y="40"/>
                    </a:lnTo>
                    <a:lnTo>
                      <a:pt x="0" y="0"/>
                    </a:lnTo>
                    <a:lnTo>
                      <a:pt x="104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09" name="Line 29"/>
              <p:cNvSpPr>
                <a:spLocks noChangeShapeType="1"/>
              </p:cNvSpPr>
              <p:nvPr/>
            </p:nvSpPr>
            <p:spPr bwMode="auto">
              <a:xfrm>
                <a:off x="1736" y="2920"/>
                <a:ext cx="36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6111" name="Rectangle 31"/>
            <p:cNvSpPr>
              <a:spLocks noChangeArrowheads="1"/>
            </p:cNvSpPr>
            <p:nvPr/>
          </p:nvSpPr>
          <p:spPr bwMode="auto">
            <a:xfrm>
              <a:off x="1584" y="3096"/>
              <a:ext cx="6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 dirty="0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Instruction </a:t>
              </a:r>
              <a:endParaRPr lang="en-US" altLang="ja-JP" sz="1662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12" name="Rectangle 32"/>
            <p:cNvSpPr>
              <a:spLocks noChangeArrowheads="1"/>
            </p:cNvSpPr>
            <p:nvPr/>
          </p:nvSpPr>
          <p:spPr bwMode="auto">
            <a:xfrm>
              <a:off x="1696" y="3272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 dirty="0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6116" name="Group 36"/>
            <p:cNvGrpSpPr>
              <a:grpSpLocks/>
            </p:cNvGrpSpPr>
            <p:nvPr/>
          </p:nvGrpSpPr>
          <p:grpSpPr bwMode="auto">
            <a:xfrm>
              <a:off x="2668" y="3569"/>
              <a:ext cx="763" cy="403"/>
              <a:chOff x="2668" y="3604"/>
              <a:chExt cx="696" cy="368"/>
            </a:xfrm>
          </p:grpSpPr>
          <p:sp>
            <p:nvSpPr>
              <p:cNvPr id="46113" name="AutoShape 33"/>
              <p:cNvSpPr>
                <a:spLocks noChangeArrowheads="1"/>
              </p:cNvSpPr>
              <p:nvPr/>
            </p:nvSpPr>
            <p:spPr bwMode="auto">
              <a:xfrm>
                <a:off x="2708" y="3644"/>
                <a:ext cx="656" cy="328"/>
              </a:xfrm>
              <a:prstGeom prst="roundRect">
                <a:avLst>
                  <a:gd name="adj" fmla="val 31819"/>
                </a:avLst>
              </a:prstGeom>
              <a:solidFill>
                <a:srgbClr val="808080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14" name="AutoShape 34"/>
              <p:cNvSpPr>
                <a:spLocks noChangeArrowheads="1"/>
              </p:cNvSpPr>
              <p:nvPr/>
            </p:nvSpPr>
            <p:spPr bwMode="auto">
              <a:xfrm>
                <a:off x="2668" y="3604"/>
                <a:ext cx="656" cy="328"/>
              </a:xfrm>
              <a:prstGeom prst="roundRect">
                <a:avLst>
                  <a:gd name="adj" fmla="val 31819"/>
                </a:avLst>
              </a:prstGeom>
              <a:solidFill>
                <a:srgbClr val="FFFFFF"/>
              </a:solidFill>
              <a:ln w="38100">
                <a:solidFill>
                  <a:srgbClr val="3F3F3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15" name="Rectangle 35"/>
              <p:cNvSpPr>
                <a:spLocks noChangeArrowheads="1"/>
              </p:cNvSpPr>
              <p:nvPr/>
            </p:nvSpPr>
            <p:spPr bwMode="auto">
              <a:xfrm>
                <a:off x="2712" y="3696"/>
                <a:ext cx="515" cy="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Processor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119" name="Group 39"/>
            <p:cNvGrpSpPr>
              <a:grpSpLocks/>
            </p:cNvGrpSpPr>
            <p:nvPr/>
          </p:nvGrpSpPr>
          <p:grpSpPr bwMode="auto">
            <a:xfrm>
              <a:off x="3416" y="2296"/>
              <a:ext cx="680" cy="80"/>
              <a:chOff x="3416" y="2296"/>
              <a:chExt cx="680" cy="80"/>
            </a:xfrm>
          </p:grpSpPr>
          <p:sp>
            <p:nvSpPr>
              <p:cNvPr id="46117" name="Freeform 37"/>
              <p:cNvSpPr>
                <a:spLocks/>
              </p:cNvSpPr>
              <p:nvPr/>
            </p:nvSpPr>
            <p:spPr bwMode="auto">
              <a:xfrm>
                <a:off x="3416" y="2296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18" name="Line 38"/>
              <p:cNvSpPr>
                <a:spLocks noChangeShapeType="1"/>
              </p:cNvSpPr>
              <p:nvPr/>
            </p:nvSpPr>
            <p:spPr bwMode="auto">
              <a:xfrm>
                <a:off x="3520" y="2336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122" name="Group 42"/>
            <p:cNvGrpSpPr>
              <a:grpSpLocks/>
            </p:cNvGrpSpPr>
            <p:nvPr/>
          </p:nvGrpSpPr>
          <p:grpSpPr bwMode="auto">
            <a:xfrm>
              <a:off x="3416" y="2792"/>
              <a:ext cx="680" cy="80"/>
              <a:chOff x="3416" y="2792"/>
              <a:chExt cx="680" cy="80"/>
            </a:xfrm>
          </p:grpSpPr>
          <p:sp>
            <p:nvSpPr>
              <p:cNvPr id="46120" name="Freeform 40"/>
              <p:cNvSpPr>
                <a:spLocks/>
              </p:cNvSpPr>
              <p:nvPr/>
            </p:nvSpPr>
            <p:spPr bwMode="auto">
              <a:xfrm>
                <a:off x="3416" y="2792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21" name="Line 41"/>
              <p:cNvSpPr>
                <a:spLocks noChangeShapeType="1"/>
              </p:cNvSpPr>
              <p:nvPr/>
            </p:nvSpPr>
            <p:spPr bwMode="auto">
              <a:xfrm>
                <a:off x="3520" y="2832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6125" name="Group 45"/>
            <p:cNvGrpSpPr>
              <a:grpSpLocks/>
            </p:cNvGrpSpPr>
            <p:nvPr/>
          </p:nvGrpSpPr>
          <p:grpSpPr bwMode="auto">
            <a:xfrm>
              <a:off x="3416" y="3768"/>
              <a:ext cx="680" cy="80"/>
              <a:chOff x="3416" y="3768"/>
              <a:chExt cx="680" cy="80"/>
            </a:xfrm>
          </p:grpSpPr>
          <p:sp>
            <p:nvSpPr>
              <p:cNvPr id="46123" name="Freeform 43"/>
              <p:cNvSpPr>
                <a:spLocks/>
              </p:cNvSpPr>
              <p:nvPr/>
            </p:nvSpPr>
            <p:spPr bwMode="auto">
              <a:xfrm>
                <a:off x="3416" y="3768"/>
                <a:ext cx="104" cy="80"/>
              </a:xfrm>
              <a:custGeom>
                <a:avLst/>
                <a:gdLst>
                  <a:gd name="T0" fmla="*/ 0 w 104"/>
                  <a:gd name="T1" fmla="*/ 40 h 80"/>
                  <a:gd name="T2" fmla="*/ 104 w 104"/>
                  <a:gd name="T3" fmla="*/ 0 h 80"/>
                  <a:gd name="T4" fmla="*/ 104 w 104"/>
                  <a:gd name="T5" fmla="*/ 40 h 80"/>
                  <a:gd name="T6" fmla="*/ 104 w 104"/>
                  <a:gd name="T7" fmla="*/ 80 h 80"/>
                  <a:gd name="T8" fmla="*/ 0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0" y="40"/>
                    </a:moveTo>
                    <a:lnTo>
                      <a:pt x="104" y="0"/>
                    </a:lnTo>
                    <a:lnTo>
                      <a:pt x="104" y="40"/>
                    </a:lnTo>
                    <a:lnTo>
                      <a:pt x="104" y="8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124" name="Line 44"/>
              <p:cNvSpPr>
                <a:spLocks noChangeShapeType="1"/>
              </p:cNvSpPr>
              <p:nvPr/>
            </p:nvSpPr>
            <p:spPr bwMode="auto">
              <a:xfrm>
                <a:off x="3520" y="3808"/>
                <a:ext cx="57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6126" name="Line 46"/>
            <p:cNvSpPr>
              <a:spLocks noChangeShapeType="1"/>
            </p:cNvSpPr>
            <p:nvPr/>
          </p:nvSpPr>
          <p:spPr bwMode="auto">
            <a:xfrm flipV="1">
              <a:off x="3008" y="345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27" name="Line 47"/>
            <p:cNvSpPr>
              <a:spLocks noChangeShapeType="1"/>
            </p:cNvSpPr>
            <p:nvPr/>
          </p:nvSpPr>
          <p:spPr bwMode="auto">
            <a:xfrm flipV="1">
              <a:off x="3008" y="339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28" name="Line 48"/>
            <p:cNvSpPr>
              <a:spLocks noChangeShapeType="1"/>
            </p:cNvSpPr>
            <p:nvPr/>
          </p:nvSpPr>
          <p:spPr bwMode="auto">
            <a:xfrm flipV="1">
              <a:off x="3008" y="332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29" name="Line 49"/>
            <p:cNvSpPr>
              <a:spLocks noChangeShapeType="1"/>
            </p:cNvSpPr>
            <p:nvPr/>
          </p:nvSpPr>
          <p:spPr bwMode="auto">
            <a:xfrm flipV="1">
              <a:off x="3008" y="326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30" name="Line 50"/>
            <p:cNvSpPr>
              <a:spLocks noChangeShapeType="1"/>
            </p:cNvSpPr>
            <p:nvPr/>
          </p:nvSpPr>
          <p:spPr bwMode="auto">
            <a:xfrm flipV="1">
              <a:off x="3008" y="320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31" name="Line 51"/>
            <p:cNvSpPr>
              <a:spLocks noChangeShapeType="1"/>
            </p:cNvSpPr>
            <p:nvPr/>
          </p:nvSpPr>
          <p:spPr bwMode="auto">
            <a:xfrm flipV="1">
              <a:off x="3008" y="313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32" name="Line 52"/>
            <p:cNvSpPr>
              <a:spLocks noChangeShapeType="1"/>
            </p:cNvSpPr>
            <p:nvPr/>
          </p:nvSpPr>
          <p:spPr bwMode="auto">
            <a:xfrm flipV="1">
              <a:off x="3008" y="307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6143" name="Group 63"/>
            <p:cNvGrpSpPr>
              <a:grpSpLocks/>
            </p:cNvGrpSpPr>
            <p:nvPr/>
          </p:nvGrpSpPr>
          <p:grpSpPr bwMode="auto">
            <a:xfrm>
              <a:off x="2240" y="2224"/>
              <a:ext cx="376" cy="1616"/>
              <a:chOff x="2240" y="2224"/>
              <a:chExt cx="376" cy="1616"/>
            </a:xfrm>
          </p:grpSpPr>
          <p:grpSp>
            <p:nvGrpSpPr>
              <p:cNvPr id="46135" name="Group 55"/>
              <p:cNvGrpSpPr>
                <a:grpSpLocks/>
              </p:cNvGrpSpPr>
              <p:nvPr/>
            </p:nvGrpSpPr>
            <p:grpSpPr bwMode="auto">
              <a:xfrm>
                <a:off x="2240" y="2224"/>
                <a:ext cx="376" cy="80"/>
                <a:chOff x="2240" y="2224"/>
                <a:chExt cx="376" cy="80"/>
              </a:xfrm>
            </p:grpSpPr>
            <p:sp>
              <p:nvSpPr>
                <p:cNvPr id="46133" name="Freeform 53"/>
                <p:cNvSpPr>
                  <a:spLocks/>
                </p:cNvSpPr>
                <p:nvPr/>
              </p:nvSpPr>
              <p:spPr bwMode="auto">
                <a:xfrm>
                  <a:off x="2512" y="2224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6134" name="Line 54"/>
                <p:cNvSpPr>
                  <a:spLocks noChangeShapeType="1"/>
                </p:cNvSpPr>
                <p:nvPr/>
              </p:nvSpPr>
              <p:spPr bwMode="auto">
                <a:xfrm>
                  <a:off x="2240" y="2264"/>
                  <a:ext cx="272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6138" name="Group 58"/>
              <p:cNvGrpSpPr>
                <a:grpSpLocks/>
              </p:cNvGrpSpPr>
              <p:nvPr/>
            </p:nvGrpSpPr>
            <p:grpSpPr bwMode="auto">
              <a:xfrm>
                <a:off x="2240" y="2744"/>
                <a:ext cx="376" cy="80"/>
                <a:chOff x="2240" y="2744"/>
                <a:chExt cx="376" cy="80"/>
              </a:xfrm>
            </p:grpSpPr>
            <p:sp>
              <p:nvSpPr>
                <p:cNvPr id="46136" name="Freeform 56"/>
                <p:cNvSpPr>
                  <a:spLocks/>
                </p:cNvSpPr>
                <p:nvPr/>
              </p:nvSpPr>
              <p:spPr bwMode="auto">
                <a:xfrm>
                  <a:off x="2512" y="2744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6137" name="Line 57"/>
                <p:cNvSpPr>
                  <a:spLocks noChangeShapeType="1"/>
                </p:cNvSpPr>
                <p:nvPr/>
              </p:nvSpPr>
              <p:spPr bwMode="auto">
                <a:xfrm>
                  <a:off x="2240" y="2784"/>
                  <a:ext cx="272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6141" name="Group 61"/>
              <p:cNvGrpSpPr>
                <a:grpSpLocks/>
              </p:cNvGrpSpPr>
              <p:nvPr/>
            </p:nvGrpSpPr>
            <p:grpSpPr bwMode="auto">
              <a:xfrm>
                <a:off x="2240" y="3760"/>
                <a:ext cx="376" cy="80"/>
                <a:chOff x="2240" y="3760"/>
                <a:chExt cx="376" cy="80"/>
              </a:xfrm>
            </p:grpSpPr>
            <p:sp>
              <p:nvSpPr>
                <p:cNvPr id="46139" name="Freeform 59"/>
                <p:cNvSpPr>
                  <a:spLocks/>
                </p:cNvSpPr>
                <p:nvPr/>
              </p:nvSpPr>
              <p:spPr bwMode="auto">
                <a:xfrm>
                  <a:off x="2512" y="3760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6140" name="Line 60"/>
                <p:cNvSpPr>
                  <a:spLocks noChangeShapeType="1"/>
                </p:cNvSpPr>
                <p:nvPr/>
              </p:nvSpPr>
              <p:spPr bwMode="auto">
                <a:xfrm>
                  <a:off x="2240" y="3800"/>
                  <a:ext cx="272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6142" name="Line 62"/>
              <p:cNvSpPr>
                <a:spLocks noChangeShapeType="1"/>
              </p:cNvSpPr>
              <p:nvPr/>
            </p:nvSpPr>
            <p:spPr bwMode="auto">
              <a:xfrm>
                <a:off x="2240" y="2256"/>
                <a:ext cx="1" cy="154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6144" name="Line 64"/>
            <p:cNvSpPr>
              <a:spLocks noChangeShapeType="1"/>
            </p:cNvSpPr>
            <p:nvPr/>
          </p:nvSpPr>
          <p:spPr bwMode="auto">
            <a:xfrm flipV="1">
              <a:off x="3840" y="364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45" name="Line 65"/>
            <p:cNvSpPr>
              <a:spLocks noChangeShapeType="1"/>
            </p:cNvSpPr>
            <p:nvPr/>
          </p:nvSpPr>
          <p:spPr bwMode="auto">
            <a:xfrm flipV="1">
              <a:off x="3840" y="357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46" name="Line 66"/>
            <p:cNvSpPr>
              <a:spLocks noChangeShapeType="1"/>
            </p:cNvSpPr>
            <p:nvPr/>
          </p:nvSpPr>
          <p:spPr bwMode="auto">
            <a:xfrm flipV="1">
              <a:off x="3840" y="351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47" name="Line 67"/>
            <p:cNvSpPr>
              <a:spLocks noChangeShapeType="1"/>
            </p:cNvSpPr>
            <p:nvPr/>
          </p:nvSpPr>
          <p:spPr bwMode="auto">
            <a:xfrm flipV="1">
              <a:off x="3840" y="344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48" name="Line 68"/>
            <p:cNvSpPr>
              <a:spLocks noChangeShapeType="1"/>
            </p:cNvSpPr>
            <p:nvPr/>
          </p:nvSpPr>
          <p:spPr bwMode="auto">
            <a:xfrm flipV="1">
              <a:off x="3840" y="338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49" name="Line 69"/>
            <p:cNvSpPr>
              <a:spLocks noChangeShapeType="1"/>
            </p:cNvSpPr>
            <p:nvPr/>
          </p:nvSpPr>
          <p:spPr bwMode="auto">
            <a:xfrm flipV="1">
              <a:off x="3840" y="332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0" name="Line 70"/>
            <p:cNvSpPr>
              <a:spLocks noChangeShapeType="1"/>
            </p:cNvSpPr>
            <p:nvPr/>
          </p:nvSpPr>
          <p:spPr bwMode="auto">
            <a:xfrm flipV="1">
              <a:off x="3840" y="325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1" name="Line 71"/>
            <p:cNvSpPr>
              <a:spLocks noChangeShapeType="1"/>
            </p:cNvSpPr>
            <p:nvPr/>
          </p:nvSpPr>
          <p:spPr bwMode="auto">
            <a:xfrm flipV="1">
              <a:off x="2440" y="345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2" name="Line 72"/>
            <p:cNvSpPr>
              <a:spLocks noChangeShapeType="1"/>
            </p:cNvSpPr>
            <p:nvPr/>
          </p:nvSpPr>
          <p:spPr bwMode="auto">
            <a:xfrm flipV="1">
              <a:off x="2440" y="339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3" name="Line 73"/>
            <p:cNvSpPr>
              <a:spLocks noChangeShapeType="1"/>
            </p:cNvSpPr>
            <p:nvPr/>
          </p:nvSpPr>
          <p:spPr bwMode="auto">
            <a:xfrm flipV="1">
              <a:off x="2440" y="332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4" name="Line 74"/>
            <p:cNvSpPr>
              <a:spLocks noChangeShapeType="1"/>
            </p:cNvSpPr>
            <p:nvPr/>
          </p:nvSpPr>
          <p:spPr bwMode="auto">
            <a:xfrm flipV="1">
              <a:off x="2440" y="326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5" name="Line 75"/>
            <p:cNvSpPr>
              <a:spLocks noChangeShapeType="1"/>
            </p:cNvSpPr>
            <p:nvPr/>
          </p:nvSpPr>
          <p:spPr bwMode="auto">
            <a:xfrm flipV="1">
              <a:off x="2440" y="320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6" name="Line 76"/>
            <p:cNvSpPr>
              <a:spLocks noChangeShapeType="1"/>
            </p:cNvSpPr>
            <p:nvPr/>
          </p:nvSpPr>
          <p:spPr bwMode="auto">
            <a:xfrm flipV="1">
              <a:off x="2440" y="313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7" name="Line 77"/>
            <p:cNvSpPr>
              <a:spLocks noChangeShapeType="1"/>
            </p:cNvSpPr>
            <p:nvPr/>
          </p:nvSpPr>
          <p:spPr bwMode="auto">
            <a:xfrm flipV="1">
              <a:off x="2440" y="307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8" name="Rectangle 78"/>
            <p:cNvSpPr>
              <a:spLocks noChangeArrowheads="1"/>
            </p:cNvSpPr>
            <p:nvPr/>
          </p:nvSpPr>
          <p:spPr bwMode="auto">
            <a:xfrm>
              <a:off x="3720" y="2856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59" name="Rectangle 79"/>
            <p:cNvSpPr>
              <a:spLocks noChangeArrowheads="1"/>
            </p:cNvSpPr>
            <p:nvPr/>
          </p:nvSpPr>
          <p:spPr bwMode="auto">
            <a:xfrm>
              <a:off x="3648" y="3032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60" name="Rectangle 80"/>
            <p:cNvSpPr>
              <a:spLocks noChangeArrowheads="1"/>
            </p:cNvSpPr>
            <p:nvPr/>
          </p:nvSpPr>
          <p:spPr bwMode="auto">
            <a:xfrm>
              <a:off x="3712" y="3864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161" name="Rectangle 81"/>
            <p:cNvSpPr>
              <a:spLocks noChangeArrowheads="1"/>
            </p:cNvSpPr>
            <p:nvPr/>
          </p:nvSpPr>
          <p:spPr bwMode="auto">
            <a:xfrm>
              <a:off x="3640" y="4040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417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2F10-B509-4D9B-9AB9-31BF00595D39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Flynn’s classification (4)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62722" indent="-562722"/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MIMD (Multi Instruction Multi Data) Computer</a:t>
            </a:r>
            <a:r>
              <a:rPr lang="en-US" altLang="ja-JP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 marL="597892" lvl="1" indent="-422041"/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Processors have their own control devices, and execute different instructions on different data.</a:t>
            </a:r>
          </a:p>
          <a:p>
            <a:pPr marL="597892" lvl="1" indent="-422041"/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Operations of processors are executed asynchronously in most time. </a:t>
            </a:r>
          </a:p>
          <a:p>
            <a:pPr marL="597892" lvl="1" indent="-422041"/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is also called as distributed computing system.</a:t>
            </a:r>
            <a:endParaRPr lang="en-US" altLang="ja-JP" sz="1292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7192" name="Group 88"/>
          <p:cNvGrpSpPr>
            <a:grpSpLocks/>
          </p:cNvGrpSpPr>
          <p:nvPr/>
        </p:nvGrpSpPr>
        <p:grpSpPr bwMode="auto">
          <a:xfrm>
            <a:off x="1899138" y="3492013"/>
            <a:ext cx="5627077" cy="3105149"/>
            <a:chOff x="1200" y="2064"/>
            <a:chExt cx="3840" cy="2119"/>
          </a:xfrm>
        </p:grpSpPr>
        <p:sp>
          <p:nvSpPr>
            <p:cNvPr id="47109" name="AutoShape 5"/>
            <p:cNvSpPr>
              <a:spLocks noChangeArrowheads="1"/>
            </p:cNvSpPr>
            <p:nvPr/>
          </p:nvSpPr>
          <p:spPr bwMode="auto">
            <a:xfrm>
              <a:off x="4124" y="2160"/>
              <a:ext cx="916" cy="1788"/>
            </a:xfrm>
            <a:prstGeom prst="roundRect">
              <a:avLst>
                <a:gd name="adj" fmla="val 14144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4192" y="2368"/>
              <a:ext cx="4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Shared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1" name="Rectangle 7"/>
            <p:cNvSpPr>
              <a:spLocks noChangeArrowheads="1"/>
            </p:cNvSpPr>
            <p:nvPr/>
          </p:nvSpPr>
          <p:spPr bwMode="auto">
            <a:xfrm>
              <a:off x="4192" y="2544"/>
              <a:ext cx="53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Memory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4192" y="2720"/>
              <a:ext cx="3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4192" y="2896"/>
              <a:ext cx="193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or 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4" name="Rectangle 10"/>
            <p:cNvSpPr>
              <a:spLocks noChangeArrowheads="1"/>
            </p:cNvSpPr>
            <p:nvPr/>
          </p:nvSpPr>
          <p:spPr bwMode="auto">
            <a:xfrm>
              <a:off x="4192" y="3072"/>
              <a:ext cx="36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4192" y="3248"/>
              <a:ext cx="35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Inter-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6" name="Rectangle 12"/>
            <p:cNvSpPr>
              <a:spLocks noChangeArrowheads="1"/>
            </p:cNvSpPr>
            <p:nvPr/>
          </p:nvSpPr>
          <p:spPr bwMode="auto">
            <a:xfrm>
              <a:off x="4192" y="3424"/>
              <a:ext cx="672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connection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7" name="Rectangle 13"/>
            <p:cNvSpPr>
              <a:spLocks noChangeArrowheads="1"/>
            </p:cNvSpPr>
            <p:nvPr/>
          </p:nvSpPr>
          <p:spPr bwMode="auto">
            <a:xfrm>
              <a:off x="4192" y="3600"/>
              <a:ext cx="515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Nerwork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19" name="AutoShape 15"/>
            <p:cNvSpPr>
              <a:spLocks noChangeArrowheads="1"/>
            </p:cNvSpPr>
            <p:nvPr/>
          </p:nvSpPr>
          <p:spPr bwMode="auto">
            <a:xfrm>
              <a:off x="2688" y="2108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808080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0" name="AutoShape 16"/>
            <p:cNvSpPr>
              <a:spLocks noChangeArrowheads="1"/>
            </p:cNvSpPr>
            <p:nvPr/>
          </p:nvSpPr>
          <p:spPr bwMode="auto">
            <a:xfrm>
              <a:off x="2644" y="2064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FFFFFF"/>
            </a:solidFill>
            <a:ln w="38100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1" name="Rectangle 17"/>
            <p:cNvSpPr>
              <a:spLocks noChangeArrowheads="1"/>
            </p:cNvSpPr>
            <p:nvPr/>
          </p:nvSpPr>
          <p:spPr bwMode="auto">
            <a:xfrm>
              <a:off x="2692" y="2165"/>
              <a:ext cx="5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Processor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3640" y="2328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4" name="Rectangle 20"/>
            <p:cNvSpPr>
              <a:spLocks noChangeArrowheads="1"/>
            </p:cNvSpPr>
            <p:nvPr/>
          </p:nvSpPr>
          <p:spPr bwMode="auto">
            <a:xfrm>
              <a:off x="3568" y="2504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5" name="AutoShape 21"/>
            <p:cNvSpPr>
              <a:spLocks noChangeArrowheads="1"/>
            </p:cNvSpPr>
            <p:nvPr/>
          </p:nvSpPr>
          <p:spPr bwMode="auto">
            <a:xfrm>
              <a:off x="2704" y="2588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808080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6" name="AutoShape 22"/>
            <p:cNvSpPr>
              <a:spLocks noChangeArrowheads="1"/>
            </p:cNvSpPr>
            <p:nvPr/>
          </p:nvSpPr>
          <p:spPr bwMode="auto">
            <a:xfrm>
              <a:off x="2660" y="2544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FFFFFF"/>
            </a:solidFill>
            <a:ln w="38100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2717" y="2654"/>
              <a:ext cx="5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Processor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29" name="AutoShape 25"/>
            <p:cNvSpPr>
              <a:spLocks noChangeArrowheads="1"/>
            </p:cNvSpPr>
            <p:nvPr/>
          </p:nvSpPr>
          <p:spPr bwMode="auto">
            <a:xfrm>
              <a:off x="1220" y="2084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0" name="Rectangle 26"/>
            <p:cNvSpPr>
              <a:spLocks noChangeArrowheads="1"/>
            </p:cNvSpPr>
            <p:nvPr/>
          </p:nvSpPr>
          <p:spPr bwMode="auto">
            <a:xfrm>
              <a:off x="1304" y="2160"/>
              <a:ext cx="443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Control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2" name="Freeform 28"/>
            <p:cNvSpPr>
              <a:spLocks/>
            </p:cNvSpPr>
            <p:nvPr/>
          </p:nvSpPr>
          <p:spPr bwMode="auto">
            <a:xfrm>
              <a:off x="2408" y="2176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3" name="Line 29"/>
            <p:cNvSpPr>
              <a:spLocks noChangeShapeType="1"/>
            </p:cNvSpPr>
            <p:nvPr/>
          </p:nvSpPr>
          <p:spPr bwMode="auto">
            <a:xfrm>
              <a:off x="1896" y="2216"/>
              <a:ext cx="51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5" name="Rectangle 31"/>
            <p:cNvSpPr>
              <a:spLocks noChangeArrowheads="1"/>
            </p:cNvSpPr>
            <p:nvPr/>
          </p:nvSpPr>
          <p:spPr bwMode="auto">
            <a:xfrm>
              <a:off x="1872" y="2304"/>
              <a:ext cx="6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Instruction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6" name="Rectangle 32"/>
            <p:cNvSpPr>
              <a:spLocks noChangeArrowheads="1"/>
            </p:cNvSpPr>
            <p:nvPr/>
          </p:nvSpPr>
          <p:spPr bwMode="auto">
            <a:xfrm>
              <a:off x="2024" y="2424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8" name="AutoShape 34"/>
            <p:cNvSpPr>
              <a:spLocks noChangeArrowheads="1"/>
            </p:cNvSpPr>
            <p:nvPr/>
          </p:nvSpPr>
          <p:spPr bwMode="auto">
            <a:xfrm>
              <a:off x="2688" y="3588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808080"/>
            </a:solidFill>
            <a:ln w="38100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39" name="AutoShape 35"/>
            <p:cNvSpPr>
              <a:spLocks noChangeArrowheads="1"/>
            </p:cNvSpPr>
            <p:nvPr/>
          </p:nvSpPr>
          <p:spPr bwMode="auto">
            <a:xfrm>
              <a:off x="2644" y="3544"/>
              <a:ext cx="720" cy="360"/>
            </a:xfrm>
            <a:prstGeom prst="roundRect">
              <a:avLst>
                <a:gd name="adj" fmla="val 31819"/>
              </a:avLst>
            </a:prstGeom>
            <a:solidFill>
              <a:srgbClr val="FFFFFF"/>
            </a:solidFill>
            <a:ln w="38100">
              <a:solidFill>
                <a:srgbClr val="3F3F3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0" name="Rectangle 36"/>
            <p:cNvSpPr>
              <a:spLocks noChangeArrowheads="1"/>
            </p:cNvSpPr>
            <p:nvPr/>
          </p:nvSpPr>
          <p:spPr bwMode="auto">
            <a:xfrm>
              <a:off x="2692" y="3645"/>
              <a:ext cx="5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Processor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2" name="Freeform 38"/>
            <p:cNvSpPr>
              <a:spLocks/>
            </p:cNvSpPr>
            <p:nvPr/>
          </p:nvSpPr>
          <p:spPr bwMode="auto">
            <a:xfrm>
              <a:off x="3384" y="2272"/>
              <a:ext cx="104" cy="80"/>
            </a:xfrm>
            <a:custGeom>
              <a:avLst/>
              <a:gdLst>
                <a:gd name="T0" fmla="*/ 0 w 104"/>
                <a:gd name="T1" fmla="*/ 40 h 80"/>
                <a:gd name="T2" fmla="*/ 104 w 104"/>
                <a:gd name="T3" fmla="*/ 0 h 80"/>
                <a:gd name="T4" fmla="*/ 104 w 104"/>
                <a:gd name="T5" fmla="*/ 40 h 80"/>
                <a:gd name="T6" fmla="*/ 104 w 104"/>
                <a:gd name="T7" fmla="*/ 80 h 80"/>
                <a:gd name="T8" fmla="*/ 0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0" y="40"/>
                  </a:moveTo>
                  <a:lnTo>
                    <a:pt x="104" y="0"/>
                  </a:lnTo>
                  <a:lnTo>
                    <a:pt x="104" y="40"/>
                  </a:lnTo>
                  <a:lnTo>
                    <a:pt x="104" y="8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3" name="Line 39"/>
            <p:cNvSpPr>
              <a:spLocks noChangeShapeType="1"/>
            </p:cNvSpPr>
            <p:nvPr/>
          </p:nvSpPr>
          <p:spPr bwMode="auto">
            <a:xfrm>
              <a:off x="3488" y="2312"/>
              <a:ext cx="57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5" name="Freeform 41"/>
            <p:cNvSpPr>
              <a:spLocks/>
            </p:cNvSpPr>
            <p:nvPr/>
          </p:nvSpPr>
          <p:spPr bwMode="auto">
            <a:xfrm>
              <a:off x="3384" y="2768"/>
              <a:ext cx="104" cy="80"/>
            </a:xfrm>
            <a:custGeom>
              <a:avLst/>
              <a:gdLst>
                <a:gd name="T0" fmla="*/ 0 w 104"/>
                <a:gd name="T1" fmla="*/ 40 h 80"/>
                <a:gd name="T2" fmla="*/ 104 w 104"/>
                <a:gd name="T3" fmla="*/ 0 h 80"/>
                <a:gd name="T4" fmla="*/ 104 w 104"/>
                <a:gd name="T5" fmla="*/ 40 h 80"/>
                <a:gd name="T6" fmla="*/ 104 w 104"/>
                <a:gd name="T7" fmla="*/ 80 h 80"/>
                <a:gd name="T8" fmla="*/ 0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0" y="40"/>
                  </a:moveTo>
                  <a:lnTo>
                    <a:pt x="104" y="0"/>
                  </a:lnTo>
                  <a:lnTo>
                    <a:pt x="104" y="40"/>
                  </a:lnTo>
                  <a:lnTo>
                    <a:pt x="104" y="8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6" name="Line 42"/>
            <p:cNvSpPr>
              <a:spLocks noChangeShapeType="1"/>
            </p:cNvSpPr>
            <p:nvPr/>
          </p:nvSpPr>
          <p:spPr bwMode="auto">
            <a:xfrm>
              <a:off x="3488" y="2808"/>
              <a:ext cx="57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8" name="Freeform 44"/>
            <p:cNvSpPr>
              <a:spLocks/>
            </p:cNvSpPr>
            <p:nvPr/>
          </p:nvSpPr>
          <p:spPr bwMode="auto">
            <a:xfrm>
              <a:off x="3384" y="3736"/>
              <a:ext cx="104" cy="80"/>
            </a:xfrm>
            <a:custGeom>
              <a:avLst/>
              <a:gdLst>
                <a:gd name="T0" fmla="*/ 0 w 104"/>
                <a:gd name="T1" fmla="*/ 40 h 80"/>
                <a:gd name="T2" fmla="*/ 104 w 104"/>
                <a:gd name="T3" fmla="*/ 0 h 80"/>
                <a:gd name="T4" fmla="*/ 104 w 104"/>
                <a:gd name="T5" fmla="*/ 40 h 80"/>
                <a:gd name="T6" fmla="*/ 104 w 104"/>
                <a:gd name="T7" fmla="*/ 80 h 80"/>
                <a:gd name="T8" fmla="*/ 0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0" y="40"/>
                  </a:moveTo>
                  <a:lnTo>
                    <a:pt x="104" y="0"/>
                  </a:lnTo>
                  <a:lnTo>
                    <a:pt x="104" y="40"/>
                  </a:lnTo>
                  <a:lnTo>
                    <a:pt x="104" y="8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49" name="Line 45"/>
            <p:cNvSpPr>
              <a:spLocks noChangeShapeType="1"/>
            </p:cNvSpPr>
            <p:nvPr/>
          </p:nvSpPr>
          <p:spPr bwMode="auto">
            <a:xfrm>
              <a:off x="3488" y="3776"/>
              <a:ext cx="57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1" name="Line 47"/>
            <p:cNvSpPr>
              <a:spLocks noChangeShapeType="1"/>
            </p:cNvSpPr>
            <p:nvPr/>
          </p:nvSpPr>
          <p:spPr bwMode="auto">
            <a:xfrm flipV="1">
              <a:off x="2976" y="342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2" name="Line 48"/>
            <p:cNvSpPr>
              <a:spLocks noChangeShapeType="1"/>
            </p:cNvSpPr>
            <p:nvPr/>
          </p:nvSpPr>
          <p:spPr bwMode="auto">
            <a:xfrm flipV="1">
              <a:off x="2976" y="336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3" name="Line 49"/>
            <p:cNvSpPr>
              <a:spLocks noChangeShapeType="1"/>
            </p:cNvSpPr>
            <p:nvPr/>
          </p:nvSpPr>
          <p:spPr bwMode="auto">
            <a:xfrm flipV="1">
              <a:off x="2976" y="329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4" name="Line 50"/>
            <p:cNvSpPr>
              <a:spLocks noChangeShapeType="1"/>
            </p:cNvSpPr>
            <p:nvPr/>
          </p:nvSpPr>
          <p:spPr bwMode="auto">
            <a:xfrm flipV="1">
              <a:off x="2976" y="323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5" name="Line 51"/>
            <p:cNvSpPr>
              <a:spLocks noChangeShapeType="1"/>
            </p:cNvSpPr>
            <p:nvPr/>
          </p:nvSpPr>
          <p:spPr bwMode="auto">
            <a:xfrm flipV="1">
              <a:off x="2976" y="316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6" name="Line 52"/>
            <p:cNvSpPr>
              <a:spLocks noChangeShapeType="1"/>
            </p:cNvSpPr>
            <p:nvPr/>
          </p:nvSpPr>
          <p:spPr bwMode="auto">
            <a:xfrm flipV="1">
              <a:off x="2976" y="310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7" name="Line 53"/>
            <p:cNvSpPr>
              <a:spLocks noChangeShapeType="1"/>
            </p:cNvSpPr>
            <p:nvPr/>
          </p:nvSpPr>
          <p:spPr bwMode="auto">
            <a:xfrm flipV="1">
              <a:off x="2976" y="304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8" name="Line 54"/>
            <p:cNvSpPr>
              <a:spLocks noChangeShapeType="1"/>
            </p:cNvSpPr>
            <p:nvPr/>
          </p:nvSpPr>
          <p:spPr bwMode="auto">
            <a:xfrm flipV="1">
              <a:off x="3816" y="360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59" name="Line 55"/>
            <p:cNvSpPr>
              <a:spLocks noChangeShapeType="1"/>
            </p:cNvSpPr>
            <p:nvPr/>
          </p:nvSpPr>
          <p:spPr bwMode="auto">
            <a:xfrm flipV="1">
              <a:off x="3816" y="354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0" name="Line 56"/>
            <p:cNvSpPr>
              <a:spLocks noChangeShapeType="1"/>
            </p:cNvSpPr>
            <p:nvPr/>
          </p:nvSpPr>
          <p:spPr bwMode="auto">
            <a:xfrm flipV="1">
              <a:off x="3816" y="3480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1" name="Line 57"/>
            <p:cNvSpPr>
              <a:spLocks noChangeShapeType="1"/>
            </p:cNvSpPr>
            <p:nvPr/>
          </p:nvSpPr>
          <p:spPr bwMode="auto">
            <a:xfrm flipV="1">
              <a:off x="3816" y="341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2" name="Line 58"/>
            <p:cNvSpPr>
              <a:spLocks noChangeShapeType="1"/>
            </p:cNvSpPr>
            <p:nvPr/>
          </p:nvSpPr>
          <p:spPr bwMode="auto">
            <a:xfrm flipV="1">
              <a:off x="3816" y="335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3" name="Line 59"/>
            <p:cNvSpPr>
              <a:spLocks noChangeShapeType="1"/>
            </p:cNvSpPr>
            <p:nvPr/>
          </p:nvSpPr>
          <p:spPr bwMode="auto">
            <a:xfrm flipV="1">
              <a:off x="3816" y="328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4" name="Line 60"/>
            <p:cNvSpPr>
              <a:spLocks noChangeShapeType="1"/>
            </p:cNvSpPr>
            <p:nvPr/>
          </p:nvSpPr>
          <p:spPr bwMode="auto">
            <a:xfrm flipV="1">
              <a:off x="3816" y="322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5" name="Line 61"/>
            <p:cNvSpPr>
              <a:spLocks noChangeShapeType="1"/>
            </p:cNvSpPr>
            <p:nvPr/>
          </p:nvSpPr>
          <p:spPr bwMode="auto">
            <a:xfrm flipV="1">
              <a:off x="2272" y="3376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6" name="Line 62"/>
            <p:cNvSpPr>
              <a:spLocks noChangeShapeType="1"/>
            </p:cNvSpPr>
            <p:nvPr/>
          </p:nvSpPr>
          <p:spPr bwMode="auto">
            <a:xfrm flipV="1">
              <a:off x="2272" y="3312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7" name="Line 63"/>
            <p:cNvSpPr>
              <a:spLocks noChangeShapeType="1"/>
            </p:cNvSpPr>
            <p:nvPr/>
          </p:nvSpPr>
          <p:spPr bwMode="auto">
            <a:xfrm flipV="1">
              <a:off x="2272" y="3248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8" name="Line 64"/>
            <p:cNvSpPr>
              <a:spLocks noChangeShapeType="1"/>
            </p:cNvSpPr>
            <p:nvPr/>
          </p:nvSpPr>
          <p:spPr bwMode="auto">
            <a:xfrm flipV="1">
              <a:off x="2272" y="3184"/>
              <a:ext cx="1" cy="24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69" name="Line 65"/>
            <p:cNvSpPr>
              <a:spLocks noChangeShapeType="1"/>
            </p:cNvSpPr>
            <p:nvPr/>
          </p:nvSpPr>
          <p:spPr bwMode="auto">
            <a:xfrm flipV="1">
              <a:off x="2272" y="3136"/>
              <a:ext cx="1" cy="8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0" name="Rectangle 66"/>
            <p:cNvSpPr>
              <a:spLocks noChangeArrowheads="1"/>
            </p:cNvSpPr>
            <p:nvPr/>
          </p:nvSpPr>
          <p:spPr bwMode="auto">
            <a:xfrm>
              <a:off x="3696" y="2832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1" name="Rectangle 67"/>
            <p:cNvSpPr>
              <a:spLocks noChangeArrowheads="1"/>
            </p:cNvSpPr>
            <p:nvPr/>
          </p:nvSpPr>
          <p:spPr bwMode="auto">
            <a:xfrm>
              <a:off x="3624" y="3008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2" name="Rectangle 68"/>
            <p:cNvSpPr>
              <a:spLocks noChangeArrowheads="1"/>
            </p:cNvSpPr>
            <p:nvPr/>
          </p:nvSpPr>
          <p:spPr bwMode="auto">
            <a:xfrm>
              <a:off x="3688" y="3832"/>
              <a:ext cx="3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Data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3" name="Rectangle 69"/>
            <p:cNvSpPr>
              <a:spLocks noChangeArrowheads="1"/>
            </p:cNvSpPr>
            <p:nvPr/>
          </p:nvSpPr>
          <p:spPr bwMode="auto">
            <a:xfrm>
              <a:off x="3616" y="4008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4" name="AutoShape 70"/>
            <p:cNvSpPr>
              <a:spLocks noChangeArrowheads="1"/>
            </p:cNvSpPr>
            <p:nvPr/>
          </p:nvSpPr>
          <p:spPr bwMode="auto">
            <a:xfrm>
              <a:off x="1220" y="2588"/>
              <a:ext cx="608" cy="288"/>
            </a:xfrm>
            <a:prstGeom prst="roundRect">
              <a:avLst>
                <a:gd name="adj" fmla="val 35898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5" name="Rectangle 71"/>
            <p:cNvSpPr>
              <a:spLocks noChangeArrowheads="1"/>
            </p:cNvSpPr>
            <p:nvPr/>
          </p:nvSpPr>
          <p:spPr bwMode="auto">
            <a:xfrm>
              <a:off x="1304" y="2664"/>
              <a:ext cx="443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Control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7" name="Freeform 73"/>
            <p:cNvSpPr>
              <a:spLocks/>
            </p:cNvSpPr>
            <p:nvPr/>
          </p:nvSpPr>
          <p:spPr bwMode="auto">
            <a:xfrm>
              <a:off x="2408" y="2688"/>
              <a:ext cx="104" cy="80"/>
            </a:xfrm>
            <a:custGeom>
              <a:avLst/>
              <a:gdLst>
                <a:gd name="T0" fmla="*/ 104 w 104"/>
                <a:gd name="T1" fmla="*/ 40 h 80"/>
                <a:gd name="T2" fmla="*/ 0 w 104"/>
                <a:gd name="T3" fmla="*/ 80 h 80"/>
                <a:gd name="T4" fmla="*/ 0 w 104"/>
                <a:gd name="T5" fmla="*/ 40 h 80"/>
                <a:gd name="T6" fmla="*/ 0 w 104"/>
                <a:gd name="T7" fmla="*/ 0 h 80"/>
                <a:gd name="T8" fmla="*/ 104 w 104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" h="80">
                  <a:moveTo>
                    <a:pt x="104" y="40"/>
                  </a:moveTo>
                  <a:lnTo>
                    <a:pt x="0" y="8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104" y="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78" name="Line 74"/>
            <p:cNvSpPr>
              <a:spLocks noChangeShapeType="1"/>
            </p:cNvSpPr>
            <p:nvPr/>
          </p:nvSpPr>
          <p:spPr bwMode="auto">
            <a:xfrm>
              <a:off x="1896" y="2728"/>
              <a:ext cx="51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80" name="Rectangle 76"/>
            <p:cNvSpPr>
              <a:spLocks noChangeArrowheads="1"/>
            </p:cNvSpPr>
            <p:nvPr/>
          </p:nvSpPr>
          <p:spPr bwMode="auto">
            <a:xfrm>
              <a:off x="1824" y="2784"/>
              <a:ext cx="6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Instruction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81" name="Rectangle 77"/>
            <p:cNvSpPr>
              <a:spLocks noChangeArrowheads="1"/>
            </p:cNvSpPr>
            <p:nvPr/>
          </p:nvSpPr>
          <p:spPr bwMode="auto">
            <a:xfrm>
              <a:off x="2024" y="2936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7185" name="Group 81"/>
            <p:cNvGrpSpPr>
              <a:grpSpLocks/>
            </p:cNvGrpSpPr>
            <p:nvPr/>
          </p:nvGrpSpPr>
          <p:grpSpPr bwMode="auto">
            <a:xfrm>
              <a:off x="1200" y="3600"/>
              <a:ext cx="608" cy="288"/>
              <a:chOff x="1220" y="3588"/>
              <a:chExt cx="608" cy="288"/>
            </a:xfrm>
          </p:grpSpPr>
          <p:sp>
            <p:nvSpPr>
              <p:cNvPr id="47183" name="AutoShape 79"/>
              <p:cNvSpPr>
                <a:spLocks noChangeArrowheads="1"/>
              </p:cNvSpPr>
              <p:nvPr/>
            </p:nvSpPr>
            <p:spPr bwMode="auto">
              <a:xfrm>
                <a:off x="1220" y="3588"/>
                <a:ext cx="608" cy="288"/>
              </a:xfrm>
              <a:prstGeom prst="roundRect">
                <a:avLst>
                  <a:gd name="adj" fmla="val 35898"/>
                </a:avLst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184" name="Rectangle 80"/>
              <p:cNvSpPr>
                <a:spLocks noChangeArrowheads="1"/>
              </p:cNvSpPr>
              <p:nvPr/>
            </p:nvSpPr>
            <p:spPr bwMode="auto">
              <a:xfrm>
                <a:off x="1304" y="3664"/>
                <a:ext cx="443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ja-JP" sz="1662">
                    <a:solidFill>
                      <a:srgbClr val="000000"/>
                    </a:solidFill>
                    <a:latin typeface="Times New Roman" pitchFamily="18" charset="0"/>
                    <a:ea typeface="ＭＳ 明朝" pitchFamily="49" charset="-128"/>
                    <a:cs typeface="Times New Roman" pitchFamily="18" charset="0"/>
                  </a:rPr>
                  <a:t>Control</a:t>
                </a:r>
                <a:endParaRPr lang="en-US" altLang="ja-JP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7188" name="Group 84"/>
            <p:cNvGrpSpPr>
              <a:grpSpLocks/>
            </p:cNvGrpSpPr>
            <p:nvPr/>
          </p:nvGrpSpPr>
          <p:grpSpPr bwMode="auto">
            <a:xfrm>
              <a:off x="1876" y="3700"/>
              <a:ext cx="616" cy="80"/>
              <a:chOff x="1896" y="3688"/>
              <a:chExt cx="616" cy="80"/>
            </a:xfrm>
          </p:grpSpPr>
          <p:sp>
            <p:nvSpPr>
              <p:cNvPr id="47186" name="Freeform 82"/>
              <p:cNvSpPr>
                <a:spLocks/>
              </p:cNvSpPr>
              <p:nvPr/>
            </p:nvSpPr>
            <p:spPr bwMode="auto">
              <a:xfrm>
                <a:off x="2408" y="3688"/>
                <a:ext cx="104" cy="80"/>
              </a:xfrm>
              <a:custGeom>
                <a:avLst/>
                <a:gdLst>
                  <a:gd name="T0" fmla="*/ 104 w 104"/>
                  <a:gd name="T1" fmla="*/ 40 h 80"/>
                  <a:gd name="T2" fmla="*/ 0 w 104"/>
                  <a:gd name="T3" fmla="*/ 80 h 80"/>
                  <a:gd name="T4" fmla="*/ 0 w 104"/>
                  <a:gd name="T5" fmla="*/ 40 h 80"/>
                  <a:gd name="T6" fmla="*/ 0 w 104"/>
                  <a:gd name="T7" fmla="*/ 0 h 80"/>
                  <a:gd name="T8" fmla="*/ 104 w 104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4" h="80">
                    <a:moveTo>
                      <a:pt x="104" y="40"/>
                    </a:moveTo>
                    <a:lnTo>
                      <a:pt x="0" y="80"/>
                    </a:lnTo>
                    <a:lnTo>
                      <a:pt x="0" y="40"/>
                    </a:lnTo>
                    <a:lnTo>
                      <a:pt x="0" y="0"/>
                    </a:lnTo>
                    <a:lnTo>
                      <a:pt x="104" y="4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187" name="Line 83"/>
              <p:cNvSpPr>
                <a:spLocks noChangeShapeType="1"/>
              </p:cNvSpPr>
              <p:nvPr/>
            </p:nvSpPr>
            <p:spPr bwMode="auto">
              <a:xfrm>
                <a:off x="1896" y="3728"/>
                <a:ext cx="512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47189" name="Rectangle 85"/>
            <p:cNvSpPr>
              <a:spLocks noChangeArrowheads="1"/>
            </p:cNvSpPr>
            <p:nvPr/>
          </p:nvSpPr>
          <p:spPr bwMode="auto">
            <a:xfrm>
              <a:off x="1824" y="3792"/>
              <a:ext cx="664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Instruction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190" name="Rectangle 86"/>
            <p:cNvSpPr>
              <a:spLocks noChangeArrowheads="1"/>
            </p:cNvSpPr>
            <p:nvPr/>
          </p:nvSpPr>
          <p:spPr bwMode="auto">
            <a:xfrm>
              <a:off x="2004" y="3940"/>
              <a:ext cx="411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Stream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53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EF4-DA41-4198-8C2D-4DBEC354B155}" type="slidenum">
              <a:rPr lang="en-US" altLang="ja-JP"/>
              <a:pPr/>
              <a:t>19</a:t>
            </a:fld>
            <a:endParaRPr lang="en-US" altLang="ja-JP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Classification by memory types (1)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Parallel computer with a shared common memory</a:t>
            </a:r>
            <a:r>
              <a:rPr lang="en-US" altLang="ja-JP" sz="2585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ja-JP" altLang="en-US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Communication based on shared memory</a:t>
            </a:r>
          </a:p>
          <a:p>
            <a:pPr lvl="1">
              <a:buFontTx/>
              <a:buNone/>
            </a:pP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For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example, consider the case that processor </a:t>
            </a:r>
            <a:r>
              <a:rPr kumimoji="0" lang="en-US" altLang="ja-JP" i="1" dirty="0" err="1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i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sends some data to processor 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j.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First, processor </a:t>
            </a:r>
            <a:r>
              <a:rPr kumimoji="0" lang="en-US" altLang="ja-JP" i="1" dirty="0" err="1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i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writes the data to the share memory, then processor 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j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reads the data from the same address of the share memory. </a:t>
            </a:r>
          </a:p>
        </p:txBody>
      </p:sp>
      <p:grpSp>
        <p:nvGrpSpPr>
          <p:cNvPr id="48177" name="Group 49"/>
          <p:cNvGrpSpPr>
            <a:grpSpLocks/>
          </p:cNvGrpSpPr>
          <p:nvPr/>
        </p:nvGrpSpPr>
        <p:grpSpPr bwMode="auto">
          <a:xfrm>
            <a:off x="2661138" y="3349869"/>
            <a:ext cx="3358662" cy="2491154"/>
            <a:chOff x="1796" y="2256"/>
            <a:chExt cx="2292" cy="1700"/>
          </a:xfrm>
        </p:grpSpPr>
        <p:sp>
          <p:nvSpPr>
            <p:cNvPr id="48133" name="AutoShape 5"/>
            <p:cNvSpPr>
              <a:spLocks noChangeArrowheads="1"/>
            </p:cNvSpPr>
            <p:nvPr/>
          </p:nvSpPr>
          <p:spPr bwMode="auto">
            <a:xfrm>
              <a:off x="3360" y="2256"/>
              <a:ext cx="728" cy="1608"/>
            </a:xfrm>
            <a:prstGeom prst="roundRect">
              <a:avLst>
                <a:gd name="adj" fmla="val 14894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134" name="Rectangle 6"/>
            <p:cNvSpPr>
              <a:spLocks noChangeArrowheads="1"/>
            </p:cNvSpPr>
            <p:nvPr/>
          </p:nvSpPr>
          <p:spPr bwMode="auto">
            <a:xfrm>
              <a:off x="3408" y="2880"/>
              <a:ext cx="632" cy="3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135" name="Rectangle 7"/>
            <p:cNvSpPr>
              <a:spLocks noChangeArrowheads="1"/>
            </p:cNvSpPr>
            <p:nvPr/>
          </p:nvSpPr>
          <p:spPr bwMode="auto">
            <a:xfrm>
              <a:off x="3528" y="2896"/>
              <a:ext cx="4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Shared 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136" name="Rectangle 8"/>
            <p:cNvSpPr>
              <a:spLocks noChangeArrowheads="1"/>
            </p:cNvSpPr>
            <p:nvPr/>
          </p:nvSpPr>
          <p:spPr bwMode="auto">
            <a:xfrm>
              <a:off x="3480" y="3072"/>
              <a:ext cx="49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ja-JP" sz="1662">
                  <a:solidFill>
                    <a:srgbClr val="000000"/>
                  </a:solidFill>
                  <a:latin typeface="Times New Roman" pitchFamily="18" charset="0"/>
                  <a:ea typeface="ＭＳ 明朝" pitchFamily="49" charset="-128"/>
                  <a:cs typeface="Times New Roman" pitchFamily="18" charset="0"/>
                </a:rPr>
                <a:t>Memory</a:t>
              </a:r>
              <a:endParaRPr lang="en-US" altLang="ja-JP" sz="1662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8156" name="Group 28"/>
            <p:cNvGrpSpPr>
              <a:grpSpLocks/>
            </p:cNvGrpSpPr>
            <p:nvPr/>
          </p:nvGrpSpPr>
          <p:grpSpPr bwMode="auto">
            <a:xfrm>
              <a:off x="2568" y="2392"/>
              <a:ext cx="688" cy="1448"/>
              <a:chOff x="2568" y="2392"/>
              <a:chExt cx="688" cy="1448"/>
            </a:xfrm>
          </p:grpSpPr>
          <p:grpSp>
            <p:nvGrpSpPr>
              <p:cNvPr id="48140" name="Group 12"/>
              <p:cNvGrpSpPr>
                <a:grpSpLocks/>
              </p:cNvGrpSpPr>
              <p:nvPr/>
            </p:nvGrpSpPr>
            <p:grpSpPr bwMode="auto">
              <a:xfrm>
                <a:off x="2568" y="2392"/>
                <a:ext cx="688" cy="80"/>
                <a:chOff x="2568" y="2392"/>
                <a:chExt cx="688" cy="80"/>
              </a:xfrm>
            </p:grpSpPr>
            <p:sp>
              <p:nvSpPr>
                <p:cNvPr id="48137" name="Freeform 9"/>
                <p:cNvSpPr>
                  <a:spLocks/>
                </p:cNvSpPr>
                <p:nvPr/>
              </p:nvSpPr>
              <p:spPr bwMode="auto">
                <a:xfrm>
                  <a:off x="2568" y="2392"/>
                  <a:ext cx="104" cy="80"/>
                </a:xfrm>
                <a:custGeom>
                  <a:avLst/>
                  <a:gdLst>
                    <a:gd name="T0" fmla="*/ 0 w 104"/>
                    <a:gd name="T1" fmla="*/ 40 h 80"/>
                    <a:gd name="T2" fmla="*/ 104 w 104"/>
                    <a:gd name="T3" fmla="*/ 0 h 80"/>
                    <a:gd name="T4" fmla="*/ 104 w 104"/>
                    <a:gd name="T5" fmla="*/ 40 h 80"/>
                    <a:gd name="T6" fmla="*/ 104 w 104"/>
                    <a:gd name="T7" fmla="*/ 80 h 80"/>
                    <a:gd name="T8" fmla="*/ 0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0" y="40"/>
                      </a:moveTo>
                      <a:lnTo>
                        <a:pt x="104" y="0"/>
                      </a:lnTo>
                      <a:lnTo>
                        <a:pt x="104" y="40"/>
                      </a:lnTo>
                      <a:lnTo>
                        <a:pt x="104" y="8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38" name="Freeform 10"/>
                <p:cNvSpPr>
                  <a:spLocks/>
                </p:cNvSpPr>
                <p:nvPr/>
              </p:nvSpPr>
              <p:spPr bwMode="auto">
                <a:xfrm>
                  <a:off x="3152" y="2392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39" name="Line 11"/>
                <p:cNvSpPr>
                  <a:spLocks noChangeShapeType="1"/>
                </p:cNvSpPr>
                <p:nvPr/>
              </p:nvSpPr>
              <p:spPr bwMode="auto">
                <a:xfrm>
                  <a:off x="2672" y="2432"/>
                  <a:ext cx="48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8144" name="Group 16"/>
              <p:cNvGrpSpPr>
                <a:grpSpLocks/>
              </p:cNvGrpSpPr>
              <p:nvPr/>
            </p:nvGrpSpPr>
            <p:grpSpPr bwMode="auto">
              <a:xfrm>
                <a:off x="2568" y="2768"/>
                <a:ext cx="688" cy="80"/>
                <a:chOff x="2568" y="2768"/>
                <a:chExt cx="688" cy="80"/>
              </a:xfrm>
            </p:grpSpPr>
            <p:sp>
              <p:nvSpPr>
                <p:cNvPr id="48141" name="Freeform 13"/>
                <p:cNvSpPr>
                  <a:spLocks/>
                </p:cNvSpPr>
                <p:nvPr/>
              </p:nvSpPr>
              <p:spPr bwMode="auto">
                <a:xfrm>
                  <a:off x="2568" y="2768"/>
                  <a:ext cx="104" cy="80"/>
                </a:xfrm>
                <a:custGeom>
                  <a:avLst/>
                  <a:gdLst>
                    <a:gd name="T0" fmla="*/ 0 w 104"/>
                    <a:gd name="T1" fmla="*/ 40 h 80"/>
                    <a:gd name="T2" fmla="*/ 104 w 104"/>
                    <a:gd name="T3" fmla="*/ 0 h 80"/>
                    <a:gd name="T4" fmla="*/ 104 w 104"/>
                    <a:gd name="T5" fmla="*/ 40 h 80"/>
                    <a:gd name="T6" fmla="*/ 104 w 104"/>
                    <a:gd name="T7" fmla="*/ 80 h 80"/>
                    <a:gd name="T8" fmla="*/ 0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0" y="40"/>
                      </a:moveTo>
                      <a:lnTo>
                        <a:pt x="104" y="0"/>
                      </a:lnTo>
                      <a:lnTo>
                        <a:pt x="104" y="40"/>
                      </a:lnTo>
                      <a:lnTo>
                        <a:pt x="104" y="8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42" name="Freeform 14"/>
                <p:cNvSpPr>
                  <a:spLocks/>
                </p:cNvSpPr>
                <p:nvPr/>
              </p:nvSpPr>
              <p:spPr bwMode="auto">
                <a:xfrm>
                  <a:off x="3152" y="2768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43" name="Line 15"/>
                <p:cNvSpPr>
                  <a:spLocks noChangeShapeType="1"/>
                </p:cNvSpPr>
                <p:nvPr/>
              </p:nvSpPr>
              <p:spPr bwMode="auto">
                <a:xfrm>
                  <a:off x="2672" y="2808"/>
                  <a:ext cx="48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8148" name="Group 20"/>
              <p:cNvGrpSpPr>
                <a:grpSpLocks/>
              </p:cNvGrpSpPr>
              <p:nvPr/>
            </p:nvGrpSpPr>
            <p:grpSpPr bwMode="auto">
              <a:xfrm>
                <a:off x="2568" y="3760"/>
                <a:ext cx="688" cy="80"/>
                <a:chOff x="2568" y="3760"/>
                <a:chExt cx="688" cy="80"/>
              </a:xfrm>
            </p:grpSpPr>
            <p:sp>
              <p:nvSpPr>
                <p:cNvPr id="48145" name="Freeform 17"/>
                <p:cNvSpPr>
                  <a:spLocks/>
                </p:cNvSpPr>
                <p:nvPr/>
              </p:nvSpPr>
              <p:spPr bwMode="auto">
                <a:xfrm>
                  <a:off x="2568" y="3760"/>
                  <a:ext cx="104" cy="80"/>
                </a:xfrm>
                <a:custGeom>
                  <a:avLst/>
                  <a:gdLst>
                    <a:gd name="T0" fmla="*/ 0 w 104"/>
                    <a:gd name="T1" fmla="*/ 40 h 80"/>
                    <a:gd name="T2" fmla="*/ 104 w 104"/>
                    <a:gd name="T3" fmla="*/ 0 h 80"/>
                    <a:gd name="T4" fmla="*/ 104 w 104"/>
                    <a:gd name="T5" fmla="*/ 40 h 80"/>
                    <a:gd name="T6" fmla="*/ 104 w 104"/>
                    <a:gd name="T7" fmla="*/ 80 h 80"/>
                    <a:gd name="T8" fmla="*/ 0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0" y="40"/>
                      </a:moveTo>
                      <a:lnTo>
                        <a:pt x="104" y="0"/>
                      </a:lnTo>
                      <a:lnTo>
                        <a:pt x="104" y="40"/>
                      </a:lnTo>
                      <a:lnTo>
                        <a:pt x="104" y="80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46" name="Freeform 18"/>
                <p:cNvSpPr>
                  <a:spLocks/>
                </p:cNvSpPr>
                <p:nvPr/>
              </p:nvSpPr>
              <p:spPr bwMode="auto">
                <a:xfrm>
                  <a:off x="3152" y="3760"/>
                  <a:ext cx="104" cy="80"/>
                </a:xfrm>
                <a:custGeom>
                  <a:avLst/>
                  <a:gdLst>
                    <a:gd name="T0" fmla="*/ 104 w 104"/>
                    <a:gd name="T1" fmla="*/ 40 h 80"/>
                    <a:gd name="T2" fmla="*/ 0 w 104"/>
                    <a:gd name="T3" fmla="*/ 80 h 80"/>
                    <a:gd name="T4" fmla="*/ 0 w 104"/>
                    <a:gd name="T5" fmla="*/ 40 h 80"/>
                    <a:gd name="T6" fmla="*/ 0 w 104"/>
                    <a:gd name="T7" fmla="*/ 0 h 80"/>
                    <a:gd name="T8" fmla="*/ 104 w 104"/>
                    <a:gd name="T9" fmla="*/ 40 h 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80">
                      <a:moveTo>
                        <a:pt x="104" y="40"/>
                      </a:moveTo>
                      <a:lnTo>
                        <a:pt x="0" y="80"/>
                      </a:lnTo>
                      <a:lnTo>
                        <a:pt x="0" y="40"/>
                      </a:lnTo>
                      <a:lnTo>
                        <a:pt x="0" y="0"/>
                      </a:lnTo>
                      <a:lnTo>
                        <a:pt x="104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47" name="Line 19"/>
                <p:cNvSpPr>
                  <a:spLocks noChangeShapeType="1"/>
                </p:cNvSpPr>
                <p:nvPr/>
              </p:nvSpPr>
              <p:spPr bwMode="auto">
                <a:xfrm>
                  <a:off x="2672" y="3800"/>
                  <a:ext cx="48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8149" name="Line 21"/>
              <p:cNvSpPr>
                <a:spLocks noChangeShapeType="1"/>
              </p:cNvSpPr>
              <p:nvPr/>
            </p:nvSpPr>
            <p:spPr bwMode="auto">
              <a:xfrm flipV="1">
                <a:off x="2920" y="3552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0" name="Line 22"/>
              <p:cNvSpPr>
                <a:spLocks noChangeShapeType="1"/>
              </p:cNvSpPr>
              <p:nvPr/>
            </p:nvSpPr>
            <p:spPr bwMode="auto">
              <a:xfrm flipV="1">
                <a:off x="2920" y="3488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1" name="Line 23"/>
              <p:cNvSpPr>
                <a:spLocks noChangeShapeType="1"/>
              </p:cNvSpPr>
              <p:nvPr/>
            </p:nvSpPr>
            <p:spPr bwMode="auto">
              <a:xfrm flipV="1">
                <a:off x="2920" y="3424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2" name="Line 24"/>
              <p:cNvSpPr>
                <a:spLocks noChangeShapeType="1"/>
              </p:cNvSpPr>
              <p:nvPr/>
            </p:nvSpPr>
            <p:spPr bwMode="auto">
              <a:xfrm flipV="1">
                <a:off x="2920" y="3360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3" name="Line 25"/>
              <p:cNvSpPr>
                <a:spLocks noChangeShapeType="1"/>
              </p:cNvSpPr>
              <p:nvPr/>
            </p:nvSpPr>
            <p:spPr bwMode="auto">
              <a:xfrm flipV="1">
                <a:off x="2920" y="3296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4" name="Line 26"/>
              <p:cNvSpPr>
                <a:spLocks noChangeShapeType="1"/>
              </p:cNvSpPr>
              <p:nvPr/>
            </p:nvSpPr>
            <p:spPr bwMode="auto">
              <a:xfrm flipV="1">
                <a:off x="2920" y="3232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55" name="Line 27"/>
              <p:cNvSpPr>
                <a:spLocks noChangeShapeType="1"/>
              </p:cNvSpPr>
              <p:nvPr/>
            </p:nvSpPr>
            <p:spPr bwMode="auto">
              <a:xfrm flipV="1">
                <a:off x="2920" y="3168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grpSp>
          <p:nvGrpSpPr>
            <p:cNvPr id="48176" name="Group 48"/>
            <p:cNvGrpSpPr>
              <a:grpSpLocks/>
            </p:cNvGrpSpPr>
            <p:nvPr/>
          </p:nvGrpSpPr>
          <p:grpSpPr bwMode="auto">
            <a:xfrm>
              <a:off x="1796" y="2332"/>
              <a:ext cx="720" cy="1624"/>
              <a:chOff x="1796" y="2332"/>
              <a:chExt cx="720" cy="1624"/>
            </a:xfrm>
          </p:grpSpPr>
          <p:grpSp>
            <p:nvGrpSpPr>
              <p:cNvPr id="48160" name="Group 32"/>
              <p:cNvGrpSpPr>
                <a:grpSpLocks/>
              </p:cNvGrpSpPr>
              <p:nvPr/>
            </p:nvGrpSpPr>
            <p:grpSpPr bwMode="auto">
              <a:xfrm>
                <a:off x="1796" y="3660"/>
                <a:ext cx="720" cy="296"/>
                <a:chOff x="1796" y="3660"/>
                <a:chExt cx="720" cy="296"/>
              </a:xfrm>
            </p:grpSpPr>
            <p:sp>
              <p:nvSpPr>
                <p:cNvPr id="48157" name="AutoShape 29"/>
                <p:cNvSpPr>
                  <a:spLocks noChangeArrowheads="1"/>
                </p:cNvSpPr>
                <p:nvPr/>
              </p:nvSpPr>
              <p:spPr bwMode="auto">
                <a:xfrm>
                  <a:off x="1836" y="3700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808080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58" name="AutoShape 30"/>
                <p:cNvSpPr>
                  <a:spLocks noChangeArrowheads="1"/>
                </p:cNvSpPr>
                <p:nvPr/>
              </p:nvSpPr>
              <p:spPr bwMode="auto">
                <a:xfrm>
                  <a:off x="1796" y="3660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FFFFFF"/>
                </a:solidFill>
                <a:ln w="38100">
                  <a:solidFill>
                    <a:srgbClr val="3F3F3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59" name="Rectangle 31"/>
                <p:cNvSpPr>
                  <a:spLocks noChangeArrowheads="1"/>
                </p:cNvSpPr>
                <p:nvPr/>
              </p:nvSpPr>
              <p:spPr bwMode="auto">
                <a:xfrm>
                  <a:off x="1832" y="3704"/>
                  <a:ext cx="564" cy="1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ja-JP" sz="1662">
                      <a:solidFill>
                        <a:srgbClr val="000000"/>
                      </a:solidFill>
                      <a:latin typeface="Times New Roman" pitchFamily="18" charset="0"/>
                      <a:ea typeface="ＭＳ 明朝" pitchFamily="49" charset="-128"/>
                      <a:cs typeface="Times New Roman" pitchFamily="18" charset="0"/>
                    </a:rPr>
                    <a:t>Processor</a:t>
                  </a:r>
                  <a:endParaRPr lang="en-US" altLang="ja-JP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8161" name="Line 33"/>
              <p:cNvSpPr>
                <a:spLocks noChangeShapeType="1"/>
              </p:cNvSpPr>
              <p:nvPr/>
            </p:nvSpPr>
            <p:spPr bwMode="auto">
              <a:xfrm flipV="1">
                <a:off x="2136" y="3552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2" name="Line 34"/>
              <p:cNvSpPr>
                <a:spLocks noChangeShapeType="1"/>
              </p:cNvSpPr>
              <p:nvPr/>
            </p:nvSpPr>
            <p:spPr bwMode="auto">
              <a:xfrm flipV="1">
                <a:off x="2136" y="3488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3" name="Line 35"/>
              <p:cNvSpPr>
                <a:spLocks noChangeShapeType="1"/>
              </p:cNvSpPr>
              <p:nvPr/>
            </p:nvSpPr>
            <p:spPr bwMode="auto">
              <a:xfrm flipV="1">
                <a:off x="2136" y="3424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4" name="Line 36"/>
              <p:cNvSpPr>
                <a:spLocks noChangeShapeType="1"/>
              </p:cNvSpPr>
              <p:nvPr/>
            </p:nvSpPr>
            <p:spPr bwMode="auto">
              <a:xfrm flipV="1">
                <a:off x="2136" y="3360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5" name="Line 37"/>
              <p:cNvSpPr>
                <a:spLocks noChangeShapeType="1"/>
              </p:cNvSpPr>
              <p:nvPr/>
            </p:nvSpPr>
            <p:spPr bwMode="auto">
              <a:xfrm flipV="1">
                <a:off x="2136" y="3296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6" name="Line 38"/>
              <p:cNvSpPr>
                <a:spLocks noChangeShapeType="1"/>
              </p:cNvSpPr>
              <p:nvPr/>
            </p:nvSpPr>
            <p:spPr bwMode="auto">
              <a:xfrm flipV="1">
                <a:off x="2136" y="3232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167" name="Line 39"/>
              <p:cNvSpPr>
                <a:spLocks noChangeShapeType="1"/>
              </p:cNvSpPr>
              <p:nvPr/>
            </p:nvSpPr>
            <p:spPr bwMode="auto">
              <a:xfrm flipV="1">
                <a:off x="2136" y="3168"/>
                <a:ext cx="1" cy="24"/>
              </a:xfrm>
              <a:prstGeom prst="line">
                <a:avLst/>
              </a:prstGeom>
              <a:noFill/>
              <a:ln w="508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662"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48171" name="Group 43"/>
              <p:cNvGrpSpPr>
                <a:grpSpLocks/>
              </p:cNvGrpSpPr>
              <p:nvPr/>
            </p:nvGrpSpPr>
            <p:grpSpPr bwMode="auto">
              <a:xfrm>
                <a:off x="1796" y="2332"/>
                <a:ext cx="720" cy="296"/>
                <a:chOff x="1796" y="2332"/>
                <a:chExt cx="720" cy="296"/>
              </a:xfrm>
            </p:grpSpPr>
            <p:sp>
              <p:nvSpPr>
                <p:cNvPr id="48168" name="AutoShape 40"/>
                <p:cNvSpPr>
                  <a:spLocks noChangeArrowheads="1"/>
                </p:cNvSpPr>
                <p:nvPr/>
              </p:nvSpPr>
              <p:spPr bwMode="auto">
                <a:xfrm>
                  <a:off x="1836" y="2372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808080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69" name="AutoShape 41"/>
                <p:cNvSpPr>
                  <a:spLocks noChangeArrowheads="1"/>
                </p:cNvSpPr>
                <p:nvPr/>
              </p:nvSpPr>
              <p:spPr bwMode="auto">
                <a:xfrm>
                  <a:off x="1796" y="2332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FFFFFF"/>
                </a:solidFill>
                <a:ln w="38100">
                  <a:solidFill>
                    <a:srgbClr val="3F3F3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70" name="Rectangle 42"/>
                <p:cNvSpPr>
                  <a:spLocks noChangeArrowheads="1"/>
                </p:cNvSpPr>
                <p:nvPr/>
              </p:nvSpPr>
              <p:spPr bwMode="auto">
                <a:xfrm>
                  <a:off x="1832" y="2376"/>
                  <a:ext cx="564" cy="1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ja-JP" sz="1662">
                      <a:solidFill>
                        <a:srgbClr val="000000"/>
                      </a:solidFill>
                      <a:latin typeface="Times New Roman" pitchFamily="18" charset="0"/>
                      <a:ea typeface="ＭＳ 明朝" pitchFamily="49" charset="-128"/>
                      <a:cs typeface="Times New Roman" pitchFamily="18" charset="0"/>
                    </a:rPr>
                    <a:t>Processor</a:t>
                  </a:r>
                  <a:endParaRPr lang="en-US" altLang="ja-JP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48175" name="Group 47"/>
              <p:cNvGrpSpPr>
                <a:grpSpLocks/>
              </p:cNvGrpSpPr>
              <p:nvPr/>
            </p:nvGrpSpPr>
            <p:grpSpPr bwMode="auto">
              <a:xfrm>
                <a:off x="1796" y="2692"/>
                <a:ext cx="720" cy="296"/>
                <a:chOff x="1796" y="2692"/>
                <a:chExt cx="720" cy="296"/>
              </a:xfrm>
            </p:grpSpPr>
            <p:sp>
              <p:nvSpPr>
                <p:cNvPr id="48172" name="AutoShape 44"/>
                <p:cNvSpPr>
                  <a:spLocks noChangeArrowheads="1"/>
                </p:cNvSpPr>
                <p:nvPr/>
              </p:nvSpPr>
              <p:spPr bwMode="auto">
                <a:xfrm>
                  <a:off x="1836" y="2732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808080"/>
                </a:solidFill>
                <a:ln w="38100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73" name="AutoShape 45"/>
                <p:cNvSpPr>
                  <a:spLocks noChangeArrowheads="1"/>
                </p:cNvSpPr>
                <p:nvPr/>
              </p:nvSpPr>
              <p:spPr bwMode="auto">
                <a:xfrm>
                  <a:off x="1796" y="2692"/>
                  <a:ext cx="680" cy="256"/>
                </a:xfrm>
                <a:prstGeom prst="roundRect">
                  <a:avLst>
                    <a:gd name="adj" fmla="val 40000"/>
                  </a:avLst>
                </a:prstGeom>
                <a:solidFill>
                  <a:srgbClr val="FFFFFF"/>
                </a:solidFill>
                <a:ln w="38100">
                  <a:solidFill>
                    <a:srgbClr val="3F3F3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8174" name="Rectangle 46"/>
                <p:cNvSpPr>
                  <a:spLocks noChangeArrowheads="1"/>
                </p:cNvSpPr>
                <p:nvPr/>
              </p:nvSpPr>
              <p:spPr bwMode="auto">
                <a:xfrm>
                  <a:off x="1832" y="2736"/>
                  <a:ext cx="564" cy="1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ja-JP" sz="1662">
                      <a:solidFill>
                        <a:srgbClr val="000000"/>
                      </a:solidFill>
                      <a:latin typeface="Times New Roman" pitchFamily="18" charset="0"/>
                      <a:ea typeface="ＭＳ 明朝" pitchFamily="49" charset="-128"/>
                      <a:cs typeface="Times New Roman" pitchFamily="18" charset="0"/>
                    </a:rPr>
                    <a:t>Processor</a:t>
                  </a:r>
                  <a:endParaRPr lang="en-US" altLang="ja-JP" sz="1662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7497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A05FC-408B-477D-8B9D-9D26EF95A970}" type="slidenum">
              <a:rPr lang="en-US" altLang="ja-JP"/>
              <a:pPr/>
              <a:t>20</a:t>
            </a:fld>
            <a:endParaRPr lang="en-US" altLang="ja-JP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Classification by memory types (2)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Features of parallel computers with shared common memory</a:t>
            </a:r>
            <a:r>
              <a:rPr lang="ja-JP" altLang="en-US" sz="2215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</a:p>
          <a:p>
            <a:pPr marL="492382" lvl="1" indent="-316531">
              <a:lnSpc>
                <a:spcPct val="140000"/>
              </a:lnSpc>
              <a:buFont typeface="Wingdings" pitchFamily="2" charset="2"/>
              <a:buChar char="§"/>
            </a:pP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Programming </a:t>
            </a: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is easy. </a:t>
            </a:r>
            <a:endParaRPr lang="en-US" altLang="ja-JP" dirty="0" smtClean="0">
              <a:latin typeface="Times New Roman" pitchFamily="18" charset="0"/>
              <a:cs typeface="Times New Roman" pitchFamily="18" charset="0"/>
            </a:endParaRPr>
          </a:p>
          <a:p>
            <a:pPr marL="492382" lvl="1" indent="-316531">
              <a:lnSpc>
                <a:spcPct val="140000"/>
              </a:lnSpc>
              <a:buFont typeface="Wingdings" pitchFamily="2" charset="2"/>
              <a:buChar char="§"/>
            </a:pPr>
            <a:r>
              <a:rPr kumimoji="0" lang="en-US" altLang="ja-JP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Exclusive control is necessary for the access to the same memory cell. </a:t>
            </a: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</a:p>
          <a:p>
            <a:pPr marL="492382" lvl="1" indent="-316531">
              <a:lnSpc>
                <a:spcPct val="140000"/>
              </a:lnSpc>
              <a:buFont typeface="Wingdings" pitchFamily="2" charset="2"/>
              <a:buChar char="§"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Realization is difficult when the number of processors is large.</a:t>
            </a:r>
          </a:p>
          <a:p>
            <a:pPr lvl="3">
              <a:lnSpc>
                <a:spcPct val="140000"/>
              </a:lnSpc>
              <a:buNone/>
            </a:pPr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（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Reason)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number of processors connected to shared memory is limited by the physical factors such as the size and voltage of units, and the latency caused in memory accessing. </a:t>
            </a:r>
          </a:p>
        </p:txBody>
      </p:sp>
    </p:spTree>
    <p:extLst>
      <p:ext uri="{BB962C8B-B14F-4D97-AF65-F5344CB8AC3E}">
        <p14:creationId xmlns:p14="http://schemas.microsoft.com/office/powerpoint/2010/main" val="415089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2E821-F832-49AF-8058-5D6C3AB02F6E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Classification by memory tapes (3)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sz="2585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2. Parallel computers with distributed memory</a:t>
            </a:r>
          </a:p>
          <a:p>
            <a:pPr lvl="2"/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Communication style is one to one based on interconnection network. </a:t>
            </a:r>
          </a:p>
          <a:p>
            <a:pPr lvl="2"/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For example, consider the case that processor </a:t>
            </a:r>
            <a:r>
              <a:rPr kumimoji="0" lang="en-US" altLang="ja-JP" i="1" dirty="0" err="1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i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sends data to processor 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j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. 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First, processor </a:t>
            </a:r>
            <a:r>
              <a:rPr kumimoji="0" lang="en-US" altLang="ja-JP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issues a send command such as “processor 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sends xxx to process </a:t>
            </a:r>
            <a:r>
              <a:rPr kumimoji="0" lang="en-US" altLang="ja-JP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”, then processor </a:t>
            </a:r>
            <a:r>
              <a:rPr kumimoji="0" lang="en-US" altLang="ja-JP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gets the data by a receiving command. </a:t>
            </a:r>
            <a:endParaRPr lang="en-US" altLang="ja-JP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904" y="3569677"/>
            <a:ext cx="5087815" cy="255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410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5A42C-2539-4BEB-B3DF-B01F34D37550}" type="slidenum">
              <a:rPr lang="en-US" altLang="ja-JP"/>
              <a:pPr/>
              <a:t>22</a:t>
            </a:fld>
            <a:endParaRPr lang="en-US" altLang="ja-JP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Classification by memory types (4)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77" y="1459523"/>
            <a:ext cx="8792308" cy="2743200"/>
          </a:xfrm>
        </p:spPr>
        <p:txBody>
          <a:bodyPr/>
          <a:lstStyle/>
          <a:p>
            <a:pPr marL="562722" indent="-562722"/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Features </a:t>
            </a:r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of parallel computers using distributed </a:t>
            </a:r>
            <a:r>
              <a:rPr lang="en-US" altLang="ja-JP" sz="258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memory</a:t>
            </a:r>
            <a:r>
              <a:rPr lang="en-US" altLang="ja-JP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ja-JP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16531" indent="-316531">
              <a:buFont typeface="Wingdings" pitchFamily="2" charset="2"/>
              <a:buChar char="§"/>
            </a:pP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There are various architectures of interconnection </a:t>
            </a: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networks </a:t>
            </a: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(Generally, the degree of connectivity is not large.) </a:t>
            </a:r>
          </a:p>
          <a:p>
            <a:pPr marL="316531" indent="-316531">
              <a:buFont typeface="Wingdings" pitchFamily="2" charset="2"/>
              <a:buChar char="§"/>
            </a:pP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Programming is difficult since comparing with shared common memory the communication style is one to one. </a:t>
            </a:r>
          </a:p>
          <a:p>
            <a:pPr marL="316531" indent="-316531">
              <a:buFont typeface="Wingdings" pitchFamily="2" charset="2"/>
              <a:buChar char="§"/>
            </a:pPr>
            <a:r>
              <a:rPr lang="en-US" altLang="ja-JP" sz="2215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is easy to increase the number of processors. </a:t>
            </a:r>
            <a:endParaRPr lang="en-US" altLang="ja-JP" sz="2215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51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86257-C211-4DAA-9C08-D04EF6DFEA30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81354" y="404446"/>
            <a:ext cx="8862646" cy="562708"/>
          </a:xfrm>
        </p:spPr>
        <p:txBody>
          <a:bodyPr/>
          <a:lstStyle/>
          <a:p>
            <a:r>
              <a:rPr lang="en-US" altLang="ja-JP" sz="2585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Types of parallel computers with distributed memory 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0677" y="1389185"/>
            <a:ext cx="6611815" cy="4712677"/>
          </a:xfrm>
        </p:spPr>
        <p:txBody>
          <a:bodyPr>
            <a:normAutofit lnSpcReduction="10000"/>
          </a:bodyPr>
          <a:lstStyle/>
          <a:p>
            <a:pPr marL="492382" indent="-492382"/>
            <a:r>
              <a:rPr lang="en-US" altLang="ja-JP" sz="2215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ja-JP" sz="221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Complete connection type</a:t>
            </a:r>
          </a:p>
          <a:p>
            <a:pPr marL="527552" lvl="1" indent="-351701">
              <a:buNone/>
            </a:pPr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Any two processors are connected </a:t>
            </a:r>
          </a:p>
          <a:p>
            <a:pPr marL="527552" lvl="1" indent="-351701">
              <a:buNone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 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Features</a:t>
            </a:r>
          </a:p>
          <a:p>
            <a:pPr marL="703402" lvl="2" indent="-351701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Strong communication ability, but not practical </a:t>
            </a:r>
          </a:p>
          <a:p>
            <a:pPr marL="703402" lvl="2" indent="-351701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(each processor has to be connected to many processors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lvl="1">
              <a:buNone/>
            </a:pPr>
            <a:r>
              <a:rPr lang="en-US" altLang="ja-JP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Mash </a:t>
            </a:r>
            <a:r>
              <a:rPr lang="en-US" altLang="ja-JP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connection type</a:t>
            </a:r>
          </a:p>
          <a:p>
            <a:pPr marL="527552" lvl="1" indent="-351701">
              <a:buNone/>
            </a:pPr>
            <a:r>
              <a:rPr lang="en-US" altLang="ja-JP" sz="1662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Processors are connected as a two-dimension lattice. </a:t>
            </a:r>
          </a:p>
          <a:p>
            <a:pPr marL="527552" lvl="1" indent="-351701">
              <a:buNone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  </a:t>
            </a:r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ea typeface="平成角ゴシック" charset="-128"/>
                <a:cs typeface="Times New Roman" pitchFamily="18" charset="0"/>
              </a:rPr>
              <a:t>Features </a:t>
            </a:r>
            <a:endParaRPr lang="en-US" altLang="ja-JP" sz="1846" u="sng" dirty="0">
              <a:solidFill>
                <a:srgbClr val="000000"/>
              </a:solidFill>
              <a:latin typeface="Times New Roman" pitchFamily="18" charset="0"/>
              <a:ea typeface="平成角ゴシック" charset="-128"/>
              <a:cs typeface="Times New Roman" pitchFamily="18" charset="0"/>
            </a:endParaRPr>
          </a:p>
          <a:p>
            <a:pPr marL="527552" lvl="1" indent="-351701">
              <a:buNone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-   Connected to few processors. Easily to increase </a:t>
            </a:r>
          </a:p>
          <a:p>
            <a:pPr marL="879253" lvl="3" indent="-351701">
              <a:buNone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the number of processors.</a:t>
            </a:r>
          </a:p>
          <a:p>
            <a:pPr marL="879253" lvl="3" indent="-351701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Large distance between processors:</a:t>
            </a:r>
            <a:r>
              <a:rPr lang="ja-JP" altLang="en-US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</a:p>
          <a:p>
            <a:pPr marL="879253" lvl="3" indent="-351701"/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Existence of processor communication bottleneck.</a:t>
            </a:r>
            <a:endParaRPr lang="en-US" altLang="ja-JP" sz="1846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831" y="1389184"/>
            <a:ext cx="1758462" cy="175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2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816" y="4062046"/>
            <a:ext cx="2180492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2230" name="Object 6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4501662" y="4933217"/>
          <a:ext cx="351692" cy="334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6" imgW="241200" imgH="228600" progId="Equation.3">
                  <p:embed/>
                </p:oleObj>
              </mc:Choice>
              <mc:Fallback>
                <p:oleObj name="Equation" r:id="rId6" imgW="241200" imgH="228600" progId="Equation.3">
                  <p:embed/>
                  <p:pic>
                    <p:nvPicPr>
                      <p:cNvPr id="522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662" y="4933217"/>
                        <a:ext cx="351692" cy="334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3892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52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52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52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1" dur="2000"/>
                                        <p:tgtEl>
                                          <p:spTgt spid="52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2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522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B073A-3CD3-4EDE-9A78-C24B3DC0903B}" type="slidenum">
              <a:rPr lang="en-US" altLang="ja-JP"/>
              <a:pPr/>
              <a:t>24</a:t>
            </a:fld>
            <a:endParaRPr lang="en-US" altLang="ja-JP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/>
              <a:t>　</a:t>
            </a:r>
            <a:endParaRPr lang="ja-JP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2838" y="1107831"/>
            <a:ext cx="8792308" cy="4994031"/>
          </a:xfrm>
        </p:spPr>
        <p:txBody>
          <a:bodyPr/>
          <a:lstStyle/>
          <a:p>
            <a:r>
              <a:rPr lang="en-US" altLang="ja-JP" sz="2215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Hypercube connection type</a:t>
            </a:r>
          </a:p>
          <a:p>
            <a:pPr lvl="1">
              <a:buFontTx/>
              <a:buNone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Processors connected as a hypercube (each processor has a binary number. (Processors are connected if only if one bit of their number are different.</a:t>
            </a:r>
            <a:r>
              <a:rPr lang="ja-JP" altLang="en-US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lvl="2"/>
            <a:r>
              <a:rPr lang="en-US" altLang="ja-JP" sz="1846" u="sng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lvl="2">
              <a:buFontTx/>
              <a:buChar char="•"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Small distance between processors: log </a:t>
            </a:r>
            <a:r>
              <a:rPr lang="en-US" altLang="ja-JP" sz="1846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buFontTx/>
              <a:buChar char="•"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Balanced communication load because of its symmetric structure.</a:t>
            </a:r>
          </a:p>
          <a:p>
            <a:pPr lvl="2">
              <a:buFontTx/>
              <a:buChar char="•"/>
            </a:pPr>
            <a:r>
              <a:rPr lang="en-US" altLang="ja-JP" sz="1846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Easy to increase the number of processors. </a:t>
            </a:r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7938" y="4343400"/>
            <a:ext cx="4103077" cy="1852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1354" y="404446"/>
            <a:ext cx="8862646" cy="562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平成角ゴシック" charset="-128"/>
                <a:ea typeface="平成角ゴシック" charset="-128"/>
              </a:defRPr>
            </a:lvl9pPr>
          </a:lstStyle>
          <a:p>
            <a:r>
              <a:rPr lang="en-US" altLang="ja-JP" sz="2585" b="1" kern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Types of parallel computers with distributed memory </a:t>
            </a:r>
            <a:endParaRPr lang="en-US" altLang="ja-JP" sz="2585" b="1" kern="0" dirty="0">
              <a:solidFill>
                <a:srgbClr val="008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41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4D287-5B90-4B48-9E86-160F1B71575C}" type="slidenum">
              <a:rPr lang="en-US" altLang="ja-JP"/>
              <a:pPr/>
              <a:t>25</a:t>
            </a:fld>
            <a:endParaRPr lang="en-US" altLang="ja-JP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ja-JP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Other connected type</a:t>
            </a:r>
          </a:p>
          <a:p>
            <a:pPr lvl="1">
              <a:buFontTx/>
              <a:buNone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   Tree connection type, butterfly connection type, bus </a:t>
            </a:r>
          </a:p>
          <a:p>
            <a:pPr lvl="1">
              <a:buFontTx/>
              <a:buNone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   connection type. </a:t>
            </a:r>
          </a:p>
          <a:p>
            <a:pPr lvl="1">
              <a:buFontTx/>
              <a:buNone/>
            </a:pPr>
            <a:r>
              <a:rPr lang="en-US" altLang="ja-JP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Criterion for selecting an inter-connection network </a:t>
            </a:r>
          </a:p>
          <a:p>
            <a:pPr lvl="1"/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Small diameter (the largest distance between processors) </a:t>
            </a:r>
          </a:p>
          <a:p>
            <a:pPr lvl="1">
              <a:buFontTx/>
              <a:buNone/>
            </a:pP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for small communication delay. </a:t>
            </a:r>
          </a:p>
          <a:p>
            <a:pPr lvl="1"/>
            <a:r>
              <a:rPr kumimoji="0" lang="ja-JP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　</a:t>
            </a: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Symmetric structure for easily increasing the number of </a:t>
            </a:r>
          </a:p>
          <a:p>
            <a:pPr lvl="1">
              <a:buFontTx/>
              <a:buNone/>
            </a:pPr>
            <a:r>
              <a:rPr kumimoji="0" lang="en-US" altLang="ja-JP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processors. </a:t>
            </a:r>
            <a:endParaRPr lang="en-US" altLang="ja-JP" sz="1292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ja-JP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4281" name="AutoShape 9"/>
          <p:cNvSpPr>
            <a:spLocks noChangeArrowheads="1"/>
          </p:cNvSpPr>
          <p:nvPr/>
        </p:nvSpPr>
        <p:spPr bwMode="auto">
          <a:xfrm>
            <a:off x="684374" y="4556316"/>
            <a:ext cx="6260123" cy="140676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008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The type of inter-connection network depends on </a:t>
            </a:r>
          </a:p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application, ability of processors, upper bound of </a:t>
            </a:r>
          </a:p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the number of processors and other factors. </a:t>
            </a:r>
          </a:p>
          <a:p>
            <a:endParaRPr lang="en-US" altLang="ja-JP" sz="1662">
              <a:solidFill>
                <a:srgbClr val="000000"/>
              </a:solidFill>
              <a:latin typeface="Times New Roman" pitchFamily="18" charset="0"/>
              <a:ea typeface="平成明朝" charset="-128"/>
              <a:cs typeface="Times New Roman" pitchFamily="18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281354" y="404446"/>
            <a:ext cx="8862646" cy="562708"/>
          </a:xfrm>
        </p:spPr>
        <p:txBody>
          <a:bodyPr/>
          <a:lstStyle/>
          <a:p>
            <a:r>
              <a:rPr lang="en-US" altLang="ja-JP" sz="2585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Types of parallel computers with distributed memory </a:t>
            </a:r>
          </a:p>
        </p:txBody>
      </p:sp>
    </p:spTree>
    <p:extLst>
      <p:ext uri="{BB962C8B-B14F-4D97-AF65-F5344CB8AC3E}">
        <p14:creationId xmlns:p14="http://schemas.microsoft.com/office/powerpoint/2010/main" val="84245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762CB-293D-4EDD-9345-21B3C8DDFF3D}" type="slidenum">
              <a:rPr lang="en-US" altLang="ja-JP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 altLang="ja-JP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2954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Real parallel processing system (1)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677" y="1178169"/>
            <a:ext cx="8792308" cy="4994031"/>
          </a:xfrm>
        </p:spPr>
        <p:txBody>
          <a:bodyPr/>
          <a:lstStyle/>
          <a:p>
            <a:r>
              <a:rPr lang="en-US" altLang="ja-JP" sz="2585" dirty="0"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US" altLang="ja-JP" sz="2585" dirty="0">
                <a:latin typeface="Times New Roman" pitchFamily="18" charset="0"/>
                <a:cs typeface="Times New Roman" pitchFamily="18" charset="0"/>
              </a:rPr>
              <a:t>days parallel computer (ILLIAC IV)</a:t>
            </a:r>
          </a:p>
          <a:p>
            <a:pPr lvl="1"/>
            <a:r>
              <a:rPr lang="ja-JP" altLang="en-US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Built in 1972</a:t>
            </a:r>
          </a:p>
          <a:p>
            <a:pPr lvl="1"/>
            <a:r>
              <a:rPr lang="ja-JP" altLang="en-US" dirty="0">
                <a:latin typeface="Times New Roman" pitchFamily="18" charset="0"/>
                <a:cs typeface="Times New Roman" pitchFamily="18" charset="0"/>
              </a:rPr>
              <a:t>　</a:t>
            </a: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SIMD type with distributed memory, consisting of </a:t>
            </a:r>
          </a:p>
          <a:p>
            <a:pPr lvl="1">
              <a:buFontTx/>
              <a:buNone/>
            </a:pP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    64 processors</a:t>
            </a:r>
          </a:p>
        </p:txBody>
      </p:sp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21" y="3136913"/>
            <a:ext cx="2813538" cy="2630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3" name="AutoShape 7"/>
          <p:cNvSpPr>
            <a:spLocks noChangeArrowheads="1"/>
          </p:cNvSpPr>
          <p:nvPr/>
        </p:nvSpPr>
        <p:spPr bwMode="auto">
          <a:xfrm>
            <a:off x="3556845" y="3991708"/>
            <a:ext cx="5345723" cy="16177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rgbClr val="008000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Transformed mash connection type, </a:t>
            </a:r>
          </a:p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equipped with common data bus, </a:t>
            </a:r>
          </a:p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common control bus, and one control</a:t>
            </a:r>
          </a:p>
          <a:p>
            <a:r>
              <a:rPr lang="en-US" altLang="ja-JP" sz="1662">
                <a:solidFill>
                  <a:srgbClr val="000000"/>
                </a:solidFill>
                <a:latin typeface="Times New Roman" pitchFamily="18" charset="0"/>
                <a:ea typeface="平成明朝" charset="-128"/>
                <a:cs typeface="Times New Roman" pitchFamily="18" charset="0"/>
              </a:rPr>
              <a:t>Unit. </a:t>
            </a:r>
          </a:p>
        </p:txBody>
      </p:sp>
    </p:spTree>
    <p:extLst>
      <p:ext uri="{BB962C8B-B14F-4D97-AF65-F5344CB8AC3E}">
        <p14:creationId xmlns:p14="http://schemas.microsoft.com/office/powerpoint/2010/main" val="82402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egnaposto contenuto 2"/>
          <p:cNvSpPr>
            <a:spLocks noGrp="1"/>
          </p:cNvSpPr>
          <p:nvPr>
            <p:ph idx="1"/>
          </p:nvPr>
        </p:nvSpPr>
        <p:spPr>
          <a:xfrm>
            <a:off x="611560" y="990600"/>
            <a:ext cx="8151440" cy="5029200"/>
          </a:xfrm>
        </p:spPr>
        <p:txBody>
          <a:bodyPr/>
          <a:lstStyle/>
          <a:p>
            <a:r>
              <a:rPr lang="en-US" dirty="0"/>
              <a:t>Number of transistors incorporated in a chip will approximately double every two years.</a:t>
            </a:r>
          </a:p>
          <a:p>
            <a:endParaRPr lang="en-US" sz="2400" b="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Moore’s law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18" y="1772816"/>
            <a:ext cx="7338273" cy="49327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295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49873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Moore’s Law 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More computational power implicitly means more transistors.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Then why need second interpretation?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Let’s have a look on empirical data from 1970 to 2009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1970’s (i.e., from 1970 to 1979), processor speeds ranged from 740 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KHz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to 8 Mhz. Difference shows that both the interpretations are correct.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2000 to 2009, Speeds ranged from 1.3 GHz to 2.8 GHz. 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Speed difference is too low but, number of integrated transistors ranged from 37.5 million to </a:t>
            </a:r>
            <a:r>
              <a:rPr lang="en-US" dirty="0"/>
              <a:t>904 million.</a:t>
            </a:r>
          </a:p>
          <a:p>
            <a:pPr lvl="1" algn="just"/>
            <a:r>
              <a:rPr lang="en-US" dirty="0"/>
              <a:t>So, second interpretation is more accurate. </a:t>
            </a:r>
          </a:p>
          <a:p>
            <a:pPr marL="457200" lvl="1" indent="0" algn="just">
              <a:buNone/>
            </a:pPr>
            <a:endParaRPr lang="en-US" dirty="0"/>
          </a:p>
          <a:p>
            <a:pPr lvl="1" algn="just"/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76164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Moore’s Law 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Why doubling the transistors does not doubles the speed? 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answer is increase in number of transistor per processor is due to multi-core CPU’s.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means, to follow Moore’s law,  companies had to:</a:t>
            </a:r>
          </a:p>
          <a:p>
            <a:pPr lvl="2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Introduce ULSI( ultra  large-scale integrations) </a:t>
            </a:r>
          </a:p>
          <a:p>
            <a:pPr lvl="2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multi-core processing era.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Will Moore’s law hold forever?</a:t>
            </a:r>
          </a:p>
          <a:p>
            <a:pPr lvl="1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Adding multiple cores on single chip causes heat issues.</a:t>
            </a:r>
          </a:p>
          <a:p>
            <a:pPr lvl="1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Furthermore, increasing the number of cores, may not be able to increase speeds [Due to inter-process interactions].</a:t>
            </a:r>
          </a:p>
          <a:p>
            <a:pPr lvl="1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Moreover, transistors would eventually reach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limits of miniaturization at atomic levels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just">
              <a:buNone/>
            </a:pPr>
            <a:endParaRPr lang="en-US" dirty="0"/>
          </a:p>
          <a:p>
            <a:pPr lvl="1" algn="just"/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0017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Moore’s Law 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So, we must look for efficient parallel software solutions to fulfill our future computational needs.</a:t>
            </a: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As stated earlier, number of cores on a single chip also have some restrictions.</a:t>
            </a: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Solution[s]?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Need to find more scalable distributed and hybrid solutions</a:t>
            </a: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just">
              <a:buNone/>
            </a:pPr>
            <a:endParaRPr lang="en-US" dirty="0"/>
          </a:p>
          <a:p>
            <a:pPr lvl="1" algn="just"/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0010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altLang="en-US" b="1" dirty="0"/>
              <a:t>The Memory/Disk Speed Argument </a:t>
            </a: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/>
              <a:t>While clock rates of high-end processors have increased at roughly 40% per year over the past decade, DRAM access times have only improved at the rate of roughly 10% per year over this interval. </a:t>
            </a:r>
          </a:p>
          <a:p>
            <a:pPr algn="just"/>
            <a:r>
              <a:rPr lang="en-US" altLang="en-US" dirty="0"/>
              <a:t>This mismatch in speeds causes significant performance bottlenecks.</a:t>
            </a:r>
          </a:p>
          <a:p>
            <a:pPr algn="just"/>
            <a:r>
              <a:rPr lang="en-US" altLang="en-US" dirty="0"/>
              <a:t>Parallel platforms provide increased bandwidth to the memory system. </a:t>
            </a:r>
          </a:p>
          <a:p>
            <a:pPr algn="just"/>
            <a:r>
              <a:rPr lang="en-US" altLang="en-US" dirty="0"/>
              <a:t>Parallel platforms also provide higher aggregate caches. </a:t>
            </a:r>
          </a:p>
          <a:p>
            <a:pPr algn="just"/>
            <a:r>
              <a:rPr lang="en-US" altLang="en-US" dirty="0"/>
              <a:t>Some of the fastest growing applications of parallel computing utilize not their raw computational speed, rather their ability to pump data to memory and disk faster. </a:t>
            </a: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just">
              <a:buNone/>
            </a:pPr>
            <a:endParaRPr lang="en-US" dirty="0"/>
          </a:p>
          <a:p>
            <a:pPr lvl="1" algn="just"/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8399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Motivating Parallelism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/>
              <a:t>The Data Communication Argument </a:t>
            </a: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en-US" altLang="en-US" dirty="0"/>
              <a:t>As the network evolves, the vision of the Internet as one large computing platform has emerged.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In many applications like databases and data mining problems, the volume of data is such that they cannot be moved. 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Any analyses on this data must be performed over the network using parallel techniques</a:t>
            </a: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just">
              <a:buNone/>
            </a:pPr>
            <a:endParaRPr lang="en-US" dirty="0"/>
          </a:p>
          <a:p>
            <a:pPr lvl="1" algn="just"/>
            <a:endParaRPr lang="en-US" altLang="en-US" dirty="0"/>
          </a:p>
          <a:p>
            <a:pPr algn="just">
              <a:buNone/>
            </a:pPr>
            <a:endParaRPr lang="en-US" altLang="en-US" sz="10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91699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</a:rPr>
              <a:t>Computing vs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Distributed Systems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collection of autonomous computers, connected through a network and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distribution middleware.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enables computers to coordinate their activities and to share the resources of the system.</a:t>
            </a: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is usually perceived as a single, integrated computing facility.</a:t>
            </a:r>
          </a:p>
          <a:p>
            <a:pPr lvl="1"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Mostly concerned with the hardware-based accelerations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Distributed Computing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specific use of distributed systems, to split a large and complex processing into subparts and execute them in parallel, to increase the productivity.</a:t>
            </a:r>
          </a:p>
          <a:p>
            <a:pPr lvl="1"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Computing mainly concerned with software-based accelerations (i.e., designing and implementing algorithms)</a:t>
            </a:r>
          </a:p>
          <a:p>
            <a:pPr marL="0" indent="0" algn="just">
              <a:buNone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lvl="1" indent="0"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None/>
            </a:pPr>
            <a:endParaRPr lang="en-US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7094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0070C0"/>
                </a:solidFill>
              </a:rPr>
              <a:t>Parallel vs Distributed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Parallel (shared-memory) Computing </a:t>
            </a:r>
          </a:p>
          <a:p>
            <a:pPr algn="just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term is usually used for developing concurrent solutions for following two types of the systems: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Multi-core Architecture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Many core architectures (i.e., GPU’s)</a:t>
            </a:r>
          </a:p>
          <a:p>
            <a:pPr marL="0" indent="0" algn="just">
              <a:buNone/>
            </a:pPr>
            <a:endParaRPr lang="en-US" alt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Distributed Computing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type of computing is mainly concerned with developing algorithms for the distributed cluster systems.</a:t>
            </a:r>
          </a:p>
          <a:p>
            <a:pPr algn="just"/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Here distributed means a geographical distance between the computers without any shared-Memory.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/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buNone/>
            </a:pPr>
            <a:endParaRPr lang="en-US" alt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64750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>
                <a:solidFill>
                  <a:srgbClr val="0070C0"/>
                </a:solidFill>
              </a:rPr>
              <a:t>Practical Applications of P&amp;D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/>
              <a:t>Scientific Applications </a:t>
            </a:r>
            <a:endParaRPr lang="en-US" altLang="en-US" dirty="0"/>
          </a:p>
          <a:p>
            <a:pPr algn="just"/>
            <a:r>
              <a:rPr lang="en-US" altLang="en-US" dirty="0"/>
              <a:t>Functional and structural characterization of genes and proteins</a:t>
            </a:r>
          </a:p>
          <a:p>
            <a:pPr algn="just"/>
            <a:r>
              <a:rPr lang="en-US" altLang="en-US" dirty="0"/>
              <a:t>Applications in astrophysics have explored the evolution of galaxies, thermonuclear processes, and the analysis of extremely large datasets from telescope.</a:t>
            </a:r>
          </a:p>
          <a:p>
            <a:pPr algn="just"/>
            <a:r>
              <a:rPr lang="en-US" altLang="en-US" dirty="0"/>
              <a:t>Advances in computational physics and chemistry have explored new materials, understanding of chemical pathways, and more efficient processes </a:t>
            </a:r>
          </a:p>
          <a:p>
            <a:pPr lvl="1" algn="just"/>
            <a:r>
              <a:rPr lang="en-US" altLang="en-US" dirty="0"/>
              <a:t>e.g., Large Hydron Collider (LHC) at </a:t>
            </a:r>
            <a:r>
              <a:rPr lang="en-US" dirty="0"/>
              <a:t>European Organization for Nuclear Research (CERN)</a:t>
            </a:r>
            <a:r>
              <a:rPr lang="en-US" altLang="en-US" dirty="0"/>
              <a:t> generates petabytes of data for a single collision.  </a:t>
            </a:r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07039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>
                <a:solidFill>
                  <a:srgbClr val="0070C0"/>
                </a:solidFill>
              </a:rPr>
              <a:t>Practical Applications of P&amp;D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/>
              <a:t>Scientific Applications </a:t>
            </a:r>
            <a:endParaRPr lang="en-US" altLang="en-US" dirty="0"/>
          </a:p>
          <a:p>
            <a:pPr algn="just"/>
            <a:r>
              <a:rPr lang="en-US" altLang="en-US" dirty="0"/>
              <a:t>Bioinformatics and astrophysics also present some of the most challenging problems with respect to analyzing extremely large datasets.</a:t>
            </a:r>
          </a:p>
          <a:p>
            <a:pPr marL="0" indent="0" algn="just">
              <a:buNone/>
            </a:pPr>
            <a:r>
              <a:rPr lang="en-US" altLang="en-US" dirty="0"/>
              <a:t> </a:t>
            </a:r>
          </a:p>
          <a:p>
            <a:pPr algn="just"/>
            <a:r>
              <a:rPr lang="en-US" altLang="en-US" dirty="0"/>
              <a:t>Weather modeling </a:t>
            </a:r>
            <a:r>
              <a:rPr lang="en-US" dirty="0"/>
              <a:t>for simulating the track of a natural hazards like the extreme cyclones (storms).</a:t>
            </a: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Flood prediction 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0445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>
                <a:solidFill>
                  <a:srgbClr val="0070C0"/>
                </a:solidFill>
              </a:rPr>
              <a:t>Practical Applications of P&amp;D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/>
              <a:t>Commercial Applications </a:t>
            </a:r>
          </a:p>
          <a:p>
            <a:r>
              <a:rPr lang="en-US" altLang="en-US" dirty="0"/>
              <a:t>Some of the largest parallel computers power the wall street! </a:t>
            </a:r>
          </a:p>
          <a:p>
            <a:endParaRPr lang="en-US" altLang="en-US" sz="1200" dirty="0"/>
          </a:p>
          <a:p>
            <a:r>
              <a:rPr lang="en-US" altLang="en-US" dirty="0"/>
              <a:t>Data mining-analysis for optimizing business and marketing decisions. </a:t>
            </a:r>
          </a:p>
          <a:p>
            <a:endParaRPr lang="en-US" altLang="en-US" sz="1200" dirty="0"/>
          </a:p>
          <a:p>
            <a:r>
              <a:rPr lang="en-US" altLang="en-US" dirty="0"/>
              <a:t>Large scale servers (mail and web servers) are often implemented using parallel platforms. </a:t>
            </a:r>
          </a:p>
          <a:p>
            <a:endParaRPr lang="en-US" altLang="en-US" sz="1200" dirty="0"/>
          </a:p>
          <a:p>
            <a:r>
              <a:rPr lang="en-US" altLang="en-US" dirty="0"/>
              <a:t>Applications such as information retrieval and search are typically powered by large clusters. </a:t>
            </a:r>
          </a:p>
          <a:p>
            <a:pPr marL="0" indent="0" algn="just">
              <a:buNone/>
            </a:pP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8139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altLang="en-US" dirty="0">
                <a:solidFill>
                  <a:srgbClr val="0070C0"/>
                </a:solidFill>
              </a:rPr>
              <a:t>Practical Applications of P&amp;D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12" y="1280277"/>
            <a:ext cx="9025858" cy="52322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b="1" dirty="0"/>
              <a:t>Computer Systems Applications</a:t>
            </a:r>
          </a:p>
          <a:p>
            <a:r>
              <a:rPr lang="en-US" altLang="en-US" dirty="0"/>
              <a:t>Network intrusion detection: A large amount of data needs to be analyzed and processed </a:t>
            </a:r>
          </a:p>
          <a:p>
            <a:endParaRPr lang="en-US" altLang="en-US" dirty="0"/>
          </a:p>
          <a:p>
            <a:r>
              <a:rPr lang="en-US" altLang="en-US" dirty="0"/>
              <a:t>Cryptography (</a:t>
            </a:r>
            <a:r>
              <a:rPr lang="en-US" dirty="0"/>
              <a:t>the art of writing or solving codes) employs parallel infrastructures and algorithms to solve complex codes. </a:t>
            </a:r>
          </a:p>
          <a:p>
            <a:endParaRPr lang="en-US" altLang="en-US" dirty="0"/>
          </a:p>
          <a:p>
            <a:r>
              <a:rPr lang="en-US" altLang="en-US" dirty="0"/>
              <a:t>Graphics processing</a:t>
            </a:r>
            <a:endParaRPr lang="en-US" altLang="en-US" sz="1200" dirty="0"/>
          </a:p>
          <a:p>
            <a:endParaRPr lang="en-US" altLang="en-US" dirty="0"/>
          </a:p>
          <a:p>
            <a:r>
              <a:rPr lang="en-US" altLang="en-US" dirty="0"/>
              <a:t>Embedded systems increasingly rely on distributed control algorithms. E.g. modern automobiles </a:t>
            </a:r>
            <a:endParaRPr lang="en-US" altLang="en-US" sz="1200" dirty="0"/>
          </a:p>
          <a:p>
            <a:endParaRPr lang="en-US" altLang="en-US" dirty="0"/>
          </a:p>
          <a:p>
            <a:pPr algn="just"/>
            <a:endParaRPr lang="en-US" altLang="en-US" dirty="0"/>
          </a:p>
          <a:p>
            <a:pPr marL="0" indent="0" algn="just">
              <a:buNone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33073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D3C0-A7D1-40FF-BEB6-4A40E35F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Limitations of Parallel Computing: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F9EE-744F-4706-A286-2A69A922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It requires designing the proper communication and synchronization mechanisms between the processes and sub-tasks.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Exploring the proper parallelism from a problem is a hectic process.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program must have low coupling and high cohesion. But it’s difficult to create such programs.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It needs relatively more technical skills to code a parallel program.</a:t>
            </a:r>
          </a:p>
          <a:p>
            <a:pPr fontAlgn="base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04FB3-75BC-4983-A008-B2882102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AD498-1756-4FAA-884D-721A5EF92E83}" type="slidenum">
              <a:rPr lang="en-US" altLang="en-US" smtClean="0"/>
              <a:pPr/>
              <a:t>39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671173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EFFFF"/>
                </a:solidFill>
              </a:rPr>
              <a:t>Questions</a:t>
            </a:r>
          </a:p>
        </p:txBody>
      </p:sp>
      <p:sp>
        <p:nvSpPr>
          <p:cNvPr id="4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81864" y="5202719"/>
            <a:ext cx="487883" cy="517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0AD498-1756-4FAA-884D-721A5EF92E83}" type="slidenum">
              <a:rPr lang="en-US" altLang="en-US" smtClean="0"/>
              <a:pPr>
                <a:spcAft>
                  <a:spcPts val="600"/>
                </a:spcAft>
              </a:pPr>
              <a:t>40</a:t>
            </a:fld>
            <a:endParaRPr lang="en-US" altLang="en-US"/>
          </a:p>
        </p:txBody>
      </p:sp>
      <p:pic>
        <p:nvPicPr>
          <p:cNvPr id="10" name="Graphic 9" descr="Help">
            <a:extLst>
              <a:ext uri="{FF2B5EF4-FFF2-40B4-BE49-F238E27FC236}">
                <a16:creationId xmlns:a16="http://schemas.microsoft.com/office/drawing/2014/main" id="{1545BE9E-711D-438E-B83C-21C83592E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190995" y="1317462"/>
            <a:ext cx="4230377" cy="423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68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1|24.9"/>
</p:tagLst>
</file>

<file path=ppt/theme/theme1.xml><?xml version="1.0" encoding="utf-8"?>
<a:theme xmlns:a="http://schemas.openxmlformats.org/drawingml/2006/main" name="1_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864</TotalTime>
  <Words>2016</Words>
  <Application>Microsoft Office PowerPoint</Application>
  <PresentationFormat>On-screen Show (4:3)</PresentationFormat>
  <Paragraphs>463</Paragraphs>
  <Slides>40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5" baseType="lpstr">
      <vt:lpstr>MS PGothic</vt:lpstr>
      <vt:lpstr>Arial</vt:lpstr>
      <vt:lpstr>Arial</vt:lpstr>
      <vt:lpstr>Calibri</vt:lpstr>
      <vt:lpstr>Century Gothic</vt:lpstr>
      <vt:lpstr>メイリオ</vt:lpstr>
      <vt:lpstr>Monotype Sorts</vt:lpstr>
      <vt:lpstr>ＭＳ 明朝</vt:lpstr>
      <vt:lpstr>Times New Roman</vt:lpstr>
      <vt:lpstr>Wingdings</vt:lpstr>
      <vt:lpstr>Wingdings 3</vt:lpstr>
      <vt:lpstr>平成明朝</vt:lpstr>
      <vt:lpstr>平成角ゴシック</vt:lpstr>
      <vt:lpstr>1_Wisp</vt:lpstr>
      <vt:lpstr>Equation</vt:lpstr>
      <vt:lpstr>PowerPoint Presentation</vt:lpstr>
      <vt:lpstr>Aim of the course</vt:lpstr>
      <vt:lpstr>Outline</vt:lpstr>
      <vt:lpstr>Lecture1: Introduction to Parallel Computing</vt:lpstr>
      <vt:lpstr>Motivating Parallelism</vt:lpstr>
      <vt:lpstr>Motivation for Parallel and Distributed Computing</vt:lpstr>
      <vt:lpstr>Why Parallel Computing</vt:lpstr>
      <vt:lpstr>Why parallel Computing</vt:lpstr>
      <vt:lpstr>Parallel Computing</vt:lpstr>
      <vt:lpstr>Motivating Parallelism</vt:lpstr>
      <vt:lpstr>Motivating Parallelism</vt:lpstr>
      <vt:lpstr>What is parallel computing</vt:lpstr>
      <vt:lpstr>Classification of parallel computers</vt:lpstr>
      <vt:lpstr>PowerPoint Presentation</vt:lpstr>
      <vt:lpstr>Flynn’s classification(1)</vt:lpstr>
      <vt:lpstr>Flynn’s classification (2)</vt:lpstr>
      <vt:lpstr>Flynn’s classification (3)</vt:lpstr>
      <vt:lpstr>Flynn’s classification (4)</vt:lpstr>
      <vt:lpstr>Classification by memory types (1)</vt:lpstr>
      <vt:lpstr>Classification by memory types (2)</vt:lpstr>
      <vt:lpstr>Classification by memory tapes (3)</vt:lpstr>
      <vt:lpstr>Classification by memory types (4)</vt:lpstr>
      <vt:lpstr>Types of parallel computers with distributed memory </vt:lpstr>
      <vt:lpstr>　</vt:lpstr>
      <vt:lpstr>Types of parallel computers with distributed memory </vt:lpstr>
      <vt:lpstr>Real parallel processing system (1)</vt:lpstr>
      <vt:lpstr>Moore’s law</vt:lpstr>
      <vt:lpstr>Motivating Parallelism</vt:lpstr>
      <vt:lpstr>Motivating Parallelism</vt:lpstr>
      <vt:lpstr>Motivating Parallelism</vt:lpstr>
      <vt:lpstr>Motivating Parallelism</vt:lpstr>
      <vt:lpstr>Motivating Parallelism</vt:lpstr>
      <vt:lpstr>Computing vs Systems</vt:lpstr>
      <vt:lpstr>Parallel vs Distributed Computing</vt:lpstr>
      <vt:lpstr>Practical Applications of P&amp;D Computing</vt:lpstr>
      <vt:lpstr>Practical Applications of P&amp;D Computing</vt:lpstr>
      <vt:lpstr>Practical Applications of P&amp;D Computing</vt:lpstr>
      <vt:lpstr>Practical Applications of P&amp;D Computing</vt:lpstr>
      <vt:lpstr>Limitations of Parallel Computing: 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CS118 – Programming Fundamentals</dc:title>
  <dc:creator>Muhammad Husnain</dc:creator>
  <cp:lastModifiedBy>Umar</cp:lastModifiedBy>
  <cp:revision>73</cp:revision>
  <dcterms:created xsi:type="dcterms:W3CDTF">2020-01-29T06:33:20Z</dcterms:created>
  <dcterms:modified xsi:type="dcterms:W3CDTF">2023-10-19T09:49:15Z</dcterms:modified>
</cp:coreProperties>
</file>