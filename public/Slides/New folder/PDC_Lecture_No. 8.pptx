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6858000"/>
  <p:notesSz cx="7315200" cy="9601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1EA1F47-C23B-4E38-AA98-BE7310C6E59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32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611696-9C5A-4F09-BB24-9B9526A2340C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Permute the matrix</a:t>
            </a:r>
            <a:r>
              <a:rPr b="0" lang="en-US" sz="2000" spc="-1" strike="noStrike">
                <a:latin typeface="Wingdings"/>
              </a:rPr>
              <a:t></a:t>
            </a:r>
            <a:r>
              <a:rPr b="0" lang="en-US" sz="2000" spc="-1" strike="noStrike">
                <a:latin typeface="Times New Roman"/>
              </a:rPr>
              <a:t> use 2d block distribution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33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106D3A-DBD8-4095-82A7-DC3EED58AD0E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Some interconnections are only for </a:t>
            </a:r>
            <a:r>
              <a:rPr b="1" lang="en-US" sz="2000" spc="-1" strike="noStrike">
                <a:latin typeface="Arial"/>
              </a:rPr>
              <a:t>pedagogical(teaching)</a:t>
            </a:r>
            <a:r>
              <a:rPr b="0" lang="en-US" sz="2000" spc="-1" strike="noStrike">
                <a:latin typeface="Arial"/>
              </a:rPr>
              <a:t> reasons. Because learning linear arrays make it easy to understand communication patterns in other interconnections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34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EF585DE-DCC6-4908-808F-09190BFAA40D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35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A437603-722E-48F4-B50A-E6F4E636D56E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Permute the matrix</a:t>
            </a:r>
            <a:r>
              <a:rPr b="0" lang="en-US" sz="2000" spc="-1" strike="noStrike">
                <a:latin typeface="Wingdings"/>
              </a:rPr>
              <a:t></a:t>
            </a:r>
            <a:r>
              <a:rPr b="0" lang="en-US" sz="2000" spc="-1" strike="noStrike">
                <a:latin typeface="Times New Roman"/>
              </a:rPr>
              <a:t> use 2d block distribution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36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178D2C4-3B89-46BC-A05F-ED0DC4C7333F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Applications: vector-matrix multiplication, shortest paths calculation, and inner vector product.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37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30E55A6-5C5C-4D36-BDF7-C67F021FF797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Applications: vector-matrix multiplication, shortest paths calculation, and inner vector product.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38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554BC18-AA45-4274-ADD3-D5421615B754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39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CF56D46-A80C-44A3-B509-2913832E36BE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Select destination such that no congestions occur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40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A78C535-6320-49E3-9792-CE91B04441E3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000" spc="-1" strike="noStrike">
                <a:latin typeface="Arial"/>
              </a:rPr>
              <a:t>Odd will send message to even and associative operator will combine the results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41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665CCCA-3D0F-418F-B65A-F3FBC7BD543A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000" spc="-1" strike="noStrike">
                <a:latin typeface="Arial"/>
              </a:rPr>
              <a:t>Odd will send message to even and associative operator will combine the results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42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D69214A-8F7F-451D-ADBB-410B447B0275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43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F3E3655-644D-44CB-A8D7-AC6645610001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What about three dimensional mesh?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44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8490630-D1C4-409C-964B-A82990C17ACF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Hypercube algorithm without any changes.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45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60C96BF-305D-4945-97CA-EF9637F577D8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46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17CDA1F-E85F-4816-B33B-8D094B2A1340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47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6270619-ECE4-4CF5-AD8B-11908EECA325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6) id AND mask==0 </a:t>
            </a:r>
            <a:r>
              <a:rPr b="0" lang="en-US" sz="2000" spc="-1" strike="noStrike">
                <a:latin typeface="Wingdings"/>
              </a:rPr>
              <a:t></a:t>
            </a:r>
            <a:r>
              <a:rPr b="0" lang="en-US" sz="2000" spc="-1" strike="noStrike">
                <a:latin typeface="Times New Roman"/>
              </a:rPr>
              <a:t> if I will be in communication in this step (if my i bits are zero)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Times New Roman"/>
              </a:rPr>
              <a:t>7) Id AND 2i ==0  </a:t>
            </a:r>
            <a:r>
              <a:rPr b="0" lang="en-US" sz="2000" spc="-1" strike="noStrike">
                <a:latin typeface="Wingdings"/>
              </a:rPr>
              <a:t></a:t>
            </a:r>
            <a:r>
              <a:rPr b="0" lang="en-US" sz="2000" spc="-1" strike="noStrike">
                <a:latin typeface="Times New Roman"/>
              </a:rPr>
              <a:t> if I’m the sender of message (if my i+1th bit is 0)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Times New Roman"/>
              </a:rPr>
              <a:t>8) Xoring id with 2i gives my partner in ith phase of the algorithm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48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8369B3D-A323-4FEB-8238-0CDBD5CEEE66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source XOR source makes source</a:t>
            </a:r>
            <a:r>
              <a:rPr b="0" lang="en-US" sz="2000" spc="-1" strike="noStrike">
                <a:latin typeface="Wingdings"/>
              </a:rPr>
              <a:t></a:t>
            </a:r>
            <a:r>
              <a:rPr b="0" lang="en-US" sz="2000" spc="-1" strike="noStrike">
                <a:latin typeface="Times New Roman"/>
              </a:rPr>
              <a:t> zero and similarly maps other according to the source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49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5186588-FFA5-450A-9701-725D97673BD1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22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Assigned reading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50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222FC15-6ADF-44EF-BB44-CB296F491AA0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Assignment#2: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51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A6B4AFE-B4F3-4DD2-A9B6-6B0B99A1EFAA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52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314D10-2E2D-4D1C-ABB5-77B4054FE255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AD13AA-5583-45FD-B1F2-ADAB4C0237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711360" y="1280160"/>
            <a:ext cx="832320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3BFB27-8EDB-4404-BE79-C7A7E1F0BE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832320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A07452-6EDD-4235-8140-00F0E31ED9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8F19DF-1BB7-4AA3-9095-A8AE4025FE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AA55DB-B6CD-4E06-9734-41AC21D04D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711360" y="142200"/>
            <a:ext cx="8323200" cy="378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8F0920-2AB5-4868-8D61-94EF98A2E7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71136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FBDFB4-6114-47D4-89FA-10F826E6DA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97628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0620E3-D092-46E0-AC8E-A8516DD239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711360" y="3885120"/>
            <a:ext cx="832320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39E784-4431-4DC3-B4A0-C8EFB68D1C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832320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711360" y="3885120"/>
            <a:ext cx="832320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E89D62-CD34-4EDD-96FF-140132CA76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71136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497628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55F17D-3C97-450B-AC47-DB43E5CBD3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3525480" y="128016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339960" y="128016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/>
          </p:nvPr>
        </p:nvSpPr>
        <p:spPr>
          <a:xfrm>
            <a:off x="711360" y="388512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/>
          </p:nvPr>
        </p:nvSpPr>
        <p:spPr>
          <a:xfrm>
            <a:off x="3525480" y="388512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/>
          </p:nvPr>
        </p:nvSpPr>
        <p:spPr>
          <a:xfrm>
            <a:off x="6339960" y="388512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087767-5011-499E-AB2F-6CC49ED665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92034F-30C0-4CC6-A18E-22CECAA05B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711360" y="1280160"/>
            <a:ext cx="832320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322537-3266-46C8-B715-5F7DD5BA4A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832320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D4C46A-360C-4378-B9F9-2D0EF775F3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B160A2-025B-4231-9135-5494991FD0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9B8E7E-4866-40FA-8F94-76B82C0CE4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711360" y="142200"/>
            <a:ext cx="8323200" cy="378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279525-5078-43D5-A74F-1D1C6DD00E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1136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58A084-B22D-4121-B8CA-28B812EDA2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498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497628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2F7AE8-B841-44A6-819D-2F60DC6F4F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711360" y="3885120"/>
            <a:ext cx="832320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EFE6FB-C9B0-4940-AA72-04E508E90F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832320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711360" y="3885120"/>
            <a:ext cx="832320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FF5ACE-EE33-4BB2-A5FB-94BA8FA045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976280" y="128016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1136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4976280" y="3885120"/>
            <a:ext cx="406152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DEA041-BECF-4FBC-B1D7-F4FDC0142C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3525480" y="128016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6339960" y="128016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711360" y="388512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3525480" y="388512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6339960" y="3885120"/>
            <a:ext cx="2679840" cy="23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61672E-018F-42C1-90C0-F1298663BD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7f7f7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35"/>
          <p:cNvGrpSpPr/>
          <p:nvPr/>
        </p:nvGrpSpPr>
        <p:grpSpPr>
          <a:xfrm>
            <a:off x="0" y="228600"/>
            <a:ext cx="1980720" cy="6638400"/>
            <a:chOff x="0" y="228600"/>
            <a:chExt cx="1980720" cy="6638400"/>
          </a:xfrm>
        </p:grpSpPr>
        <p:sp>
          <p:nvSpPr>
            <p:cNvPr id="1" name="Freeform 11"/>
            <p:cNvSpPr/>
            <p:nvPr/>
          </p:nvSpPr>
          <p:spPr>
            <a:xfrm>
              <a:off x="0" y="2575080"/>
              <a:ext cx="6948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Freeform 12"/>
            <p:cNvSpPr/>
            <p:nvPr/>
          </p:nvSpPr>
          <p:spPr>
            <a:xfrm>
              <a:off x="89280" y="3156480"/>
              <a:ext cx="44892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Freeform 13"/>
            <p:cNvSpPr/>
            <p:nvPr/>
          </p:nvSpPr>
          <p:spPr>
            <a:xfrm>
              <a:off x="560520" y="5447160"/>
              <a:ext cx="42300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14"/>
            <p:cNvSpPr/>
            <p:nvPr/>
          </p:nvSpPr>
          <p:spPr>
            <a:xfrm>
              <a:off x="666720" y="6503760"/>
              <a:ext cx="11880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15"/>
            <p:cNvSpPr/>
            <p:nvPr/>
          </p:nvSpPr>
          <p:spPr>
            <a:xfrm>
              <a:off x="69840" y="3201120"/>
              <a:ext cx="57060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16"/>
            <p:cNvSpPr/>
            <p:nvPr/>
          </p:nvSpPr>
          <p:spPr>
            <a:xfrm>
              <a:off x="15480" y="228600"/>
              <a:ext cx="7344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17"/>
            <p:cNvSpPr/>
            <p:nvPr/>
          </p:nvSpPr>
          <p:spPr>
            <a:xfrm>
              <a:off x="54360" y="2944080"/>
              <a:ext cx="5400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8"/>
            <p:cNvSpPr/>
            <p:nvPr/>
          </p:nvSpPr>
          <p:spPr>
            <a:xfrm>
              <a:off x="534960" y="5478840"/>
              <a:ext cx="13176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9"/>
            <p:cNvSpPr/>
            <p:nvPr/>
          </p:nvSpPr>
          <p:spPr>
            <a:xfrm>
              <a:off x="538560" y="1398960"/>
              <a:ext cx="144216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20"/>
            <p:cNvSpPr/>
            <p:nvPr/>
          </p:nvSpPr>
          <p:spPr>
            <a:xfrm>
              <a:off x="640800" y="6530040"/>
              <a:ext cx="11232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21"/>
            <p:cNvSpPr/>
            <p:nvPr/>
          </p:nvSpPr>
          <p:spPr>
            <a:xfrm>
              <a:off x="534960" y="5359320"/>
              <a:ext cx="2556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22"/>
            <p:cNvSpPr/>
            <p:nvPr/>
          </p:nvSpPr>
          <p:spPr>
            <a:xfrm>
              <a:off x="590400" y="6244560"/>
              <a:ext cx="16524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" name="Group 48"/>
          <p:cNvGrpSpPr/>
          <p:nvPr/>
        </p:nvGrpSpPr>
        <p:grpSpPr>
          <a:xfrm>
            <a:off x="20520" y="360"/>
            <a:ext cx="1951920" cy="6852600"/>
            <a:chOff x="20520" y="360"/>
            <a:chExt cx="1951920" cy="6852600"/>
          </a:xfrm>
        </p:grpSpPr>
        <p:sp>
          <p:nvSpPr>
            <p:cNvPr id="14" name="Freeform 27"/>
            <p:cNvSpPr/>
            <p:nvPr/>
          </p:nvSpPr>
          <p:spPr>
            <a:xfrm>
              <a:off x="20520" y="360"/>
              <a:ext cx="40932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28"/>
            <p:cNvSpPr/>
            <p:nvPr/>
          </p:nvSpPr>
          <p:spPr>
            <a:xfrm>
              <a:off x="453600" y="4316400"/>
              <a:ext cx="35028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29"/>
            <p:cNvSpPr/>
            <p:nvPr/>
          </p:nvSpPr>
          <p:spPr>
            <a:xfrm>
              <a:off x="831600" y="5862600"/>
              <a:ext cx="35676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Freeform 30"/>
            <p:cNvSpPr/>
            <p:nvPr/>
          </p:nvSpPr>
          <p:spPr>
            <a:xfrm>
              <a:off x="429840" y="4364280"/>
              <a:ext cx="45684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Freeform 31"/>
            <p:cNvSpPr/>
            <p:nvPr/>
          </p:nvSpPr>
          <p:spPr>
            <a:xfrm>
              <a:off x="385560" y="1289160"/>
              <a:ext cx="14400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Freeform 32"/>
            <p:cNvSpPr/>
            <p:nvPr/>
          </p:nvSpPr>
          <p:spPr>
            <a:xfrm>
              <a:off x="918720" y="6571440"/>
              <a:ext cx="11088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Freeform 33"/>
            <p:cNvSpPr/>
            <p:nvPr/>
          </p:nvSpPr>
          <p:spPr>
            <a:xfrm>
              <a:off x="414000" y="4107600"/>
              <a:ext cx="6804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Freeform 34"/>
            <p:cNvSpPr/>
            <p:nvPr/>
          </p:nvSpPr>
          <p:spPr>
            <a:xfrm>
              <a:off x="804600" y="3145680"/>
              <a:ext cx="116784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" name="Freeform 35"/>
            <p:cNvSpPr/>
            <p:nvPr/>
          </p:nvSpPr>
          <p:spPr>
            <a:xfrm>
              <a:off x="887040" y="6600240"/>
              <a:ext cx="9972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" name="Freeform 36"/>
            <p:cNvSpPr/>
            <p:nvPr/>
          </p:nvSpPr>
          <p:spPr>
            <a:xfrm>
              <a:off x="804600" y="5897160"/>
              <a:ext cx="11376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37"/>
            <p:cNvSpPr/>
            <p:nvPr/>
          </p:nvSpPr>
          <p:spPr>
            <a:xfrm>
              <a:off x="804600" y="5772600"/>
              <a:ext cx="3132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38"/>
            <p:cNvSpPr/>
            <p:nvPr/>
          </p:nvSpPr>
          <p:spPr>
            <a:xfrm>
              <a:off x="831600" y="6322680"/>
              <a:ext cx="17424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" name="Rectangle 6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" name="PlaceHolder 1"/>
          <p:cNvSpPr>
            <a:spLocks noGrp="1"/>
          </p:cNvSpPr>
          <p:nvPr>
            <p:ph type="dt" idx="1"/>
          </p:nvPr>
        </p:nvSpPr>
        <p:spPr>
          <a:xfrm>
            <a:off x="7248960" y="6135120"/>
            <a:ext cx="1289520" cy="369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 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2"/>
          </p:nvPr>
        </p:nvSpPr>
        <p:spPr>
          <a:xfrm>
            <a:off x="1942560" y="6135840"/>
            <a:ext cx="510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 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9" name="Freeform 11"/>
          <p:cNvSpPr/>
          <p:nvPr/>
        </p:nvSpPr>
        <p:spPr>
          <a:xfrm flipV="1">
            <a:off x="0" y="711000"/>
            <a:ext cx="1357920" cy="507600"/>
          </a:xfrm>
          <a:custGeom>
            <a:avLst/>
            <a:gdLst/>
            <a:ah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" name="PlaceHolder 3"/>
          <p:cNvSpPr>
            <a:spLocks noGrp="1"/>
          </p:cNvSpPr>
          <p:nvPr>
            <p:ph type="sldNum" idx="3"/>
          </p:nvPr>
        </p:nvSpPr>
        <p:spPr>
          <a:xfrm>
            <a:off x="511200" y="787680"/>
            <a:ext cx="5846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0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8C35D5-6A1C-4CD5-9E3F-F06BF86FD389}" type="slidenum"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13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7f7f7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35"/>
          <p:cNvGrpSpPr/>
          <p:nvPr/>
        </p:nvGrpSpPr>
        <p:grpSpPr>
          <a:xfrm>
            <a:off x="0" y="228600"/>
            <a:ext cx="1980720" cy="6638400"/>
            <a:chOff x="0" y="228600"/>
            <a:chExt cx="1980720" cy="6638400"/>
          </a:xfrm>
        </p:grpSpPr>
        <p:sp>
          <p:nvSpPr>
            <p:cNvPr id="70" name="Freeform 11"/>
            <p:cNvSpPr/>
            <p:nvPr/>
          </p:nvSpPr>
          <p:spPr>
            <a:xfrm>
              <a:off x="0" y="2575080"/>
              <a:ext cx="6948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Freeform 12"/>
            <p:cNvSpPr/>
            <p:nvPr/>
          </p:nvSpPr>
          <p:spPr>
            <a:xfrm>
              <a:off x="89280" y="3156480"/>
              <a:ext cx="44892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Freeform 13"/>
            <p:cNvSpPr/>
            <p:nvPr/>
          </p:nvSpPr>
          <p:spPr>
            <a:xfrm>
              <a:off x="560520" y="5447160"/>
              <a:ext cx="42300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Freeform 14"/>
            <p:cNvSpPr/>
            <p:nvPr/>
          </p:nvSpPr>
          <p:spPr>
            <a:xfrm>
              <a:off x="666720" y="6503760"/>
              <a:ext cx="11880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Freeform 15"/>
            <p:cNvSpPr/>
            <p:nvPr/>
          </p:nvSpPr>
          <p:spPr>
            <a:xfrm>
              <a:off x="69840" y="3201120"/>
              <a:ext cx="57060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Freeform 16"/>
            <p:cNvSpPr/>
            <p:nvPr/>
          </p:nvSpPr>
          <p:spPr>
            <a:xfrm>
              <a:off x="15480" y="228600"/>
              <a:ext cx="7344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Freeform 17"/>
            <p:cNvSpPr/>
            <p:nvPr/>
          </p:nvSpPr>
          <p:spPr>
            <a:xfrm>
              <a:off x="54360" y="2944080"/>
              <a:ext cx="5400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Freeform 18"/>
            <p:cNvSpPr/>
            <p:nvPr/>
          </p:nvSpPr>
          <p:spPr>
            <a:xfrm>
              <a:off x="534960" y="5478840"/>
              <a:ext cx="13176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Freeform 19"/>
            <p:cNvSpPr/>
            <p:nvPr/>
          </p:nvSpPr>
          <p:spPr>
            <a:xfrm>
              <a:off x="538560" y="1398960"/>
              <a:ext cx="144216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Freeform 20"/>
            <p:cNvSpPr/>
            <p:nvPr/>
          </p:nvSpPr>
          <p:spPr>
            <a:xfrm>
              <a:off x="640800" y="6530040"/>
              <a:ext cx="11232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Freeform 21"/>
            <p:cNvSpPr/>
            <p:nvPr/>
          </p:nvSpPr>
          <p:spPr>
            <a:xfrm>
              <a:off x="534960" y="5359320"/>
              <a:ext cx="2556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Freeform 22"/>
            <p:cNvSpPr/>
            <p:nvPr/>
          </p:nvSpPr>
          <p:spPr>
            <a:xfrm>
              <a:off x="590400" y="6244560"/>
              <a:ext cx="16524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" name="Group 48"/>
          <p:cNvGrpSpPr/>
          <p:nvPr/>
        </p:nvGrpSpPr>
        <p:grpSpPr>
          <a:xfrm>
            <a:off x="20520" y="360"/>
            <a:ext cx="1951920" cy="6852600"/>
            <a:chOff x="20520" y="360"/>
            <a:chExt cx="1951920" cy="6852600"/>
          </a:xfrm>
        </p:grpSpPr>
        <p:sp>
          <p:nvSpPr>
            <p:cNvPr id="83" name="Freeform 27"/>
            <p:cNvSpPr/>
            <p:nvPr/>
          </p:nvSpPr>
          <p:spPr>
            <a:xfrm>
              <a:off x="20520" y="360"/>
              <a:ext cx="40932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Freeform 28"/>
            <p:cNvSpPr/>
            <p:nvPr/>
          </p:nvSpPr>
          <p:spPr>
            <a:xfrm>
              <a:off x="453600" y="4316400"/>
              <a:ext cx="35028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Freeform 29"/>
            <p:cNvSpPr/>
            <p:nvPr/>
          </p:nvSpPr>
          <p:spPr>
            <a:xfrm>
              <a:off x="831600" y="5862600"/>
              <a:ext cx="35676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Freeform 30"/>
            <p:cNvSpPr/>
            <p:nvPr/>
          </p:nvSpPr>
          <p:spPr>
            <a:xfrm>
              <a:off x="429840" y="4364280"/>
              <a:ext cx="45684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Freeform 31"/>
            <p:cNvSpPr/>
            <p:nvPr/>
          </p:nvSpPr>
          <p:spPr>
            <a:xfrm>
              <a:off x="385560" y="1289160"/>
              <a:ext cx="14400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Freeform 32"/>
            <p:cNvSpPr/>
            <p:nvPr/>
          </p:nvSpPr>
          <p:spPr>
            <a:xfrm>
              <a:off x="918720" y="6571440"/>
              <a:ext cx="11088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Freeform 33"/>
            <p:cNvSpPr/>
            <p:nvPr/>
          </p:nvSpPr>
          <p:spPr>
            <a:xfrm>
              <a:off x="414000" y="4107600"/>
              <a:ext cx="6804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Freeform 34"/>
            <p:cNvSpPr/>
            <p:nvPr/>
          </p:nvSpPr>
          <p:spPr>
            <a:xfrm>
              <a:off x="804600" y="3145680"/>
              <a:ext cx="116784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Freeform 35"/>
            <p:cNvSpPr/>
            <p:nvPr/>
          </p:nvSpPr>
          <p:spPr>
            <a:xfrm>
              <a:off x="887040" y="6600240"/>
              <a:ext cx="9972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Freeform 36"/>
            <p:cNvSpPr/>
            <p:nvPr/>
          </p:nvSpPr>
          <p:spPr>
            <a:xfrm>
              <a:off x="804600" y="5897160"/>
              <a:ext cx="11376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Freeform 37"/>
            <p:cNvSpPr/>
            <p:nvPr/>
          </p:nvSpPr>
          <p:spPr>
            <a:xfrm>
              <a:off x="804600" y="5772600"/>
              <a:ext cx="3132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Freeform 38"/>
            <p:cNvSpPr/>
            <p:nvPr/>
          </p:nvSpPr>
          <p:spPr>
            <a:xfrm>
              <a:off x="831600" y="6322680"/>
              <a:ext cx="17424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" name="Rectangle 61" hidden="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262626"/>
                </a:solidFill>
                <a:latin typeface="Century Gothic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11360" y="1280160"/>
            <a:ext cx="832320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Click to edit Master text styles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Second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Third level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3" marL="1600200" indent="-22860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Fourth level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4" marL="2057400" indent="-22860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Fifth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4"/>
          </p:nvPr>
        </p:nvSpPr>
        <p:spPr>
          <a:xfrm>
            <a:off x="7686360" y="6322680"/>
            <a:ext cx="1348200" cy="369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ftr" idx="5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&lt;footer&gt;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0" name="Freeform 11"/>
          <p:cNvSpPr/>
          <p:nvPr/>
        </p:nvSpPr>
        <p:spPr>
          <a:xfrm flipV="1">
            <a:off x="0" y="711000"/>
            <a:ext cx="702000" cy="507600"/>
          </a:xfrm>
          <a:custGeom>
            <a:avLst/>
            <a:gdLst/>
            <a:ah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PlaceHolder 5"/>
          <p:cNvSpPr>
            <a:spLocks noGrp="1"/>
          </p:cNvSpPr>
          <p:nvPr>
            <p:ph type="sldNum" idx="6"/>
          </p:nvPr>
        </p:nvSpPr>
        <p:spPr>
          <a:xfrm>
            <a:off x="9000" y="782640"/>
            <a:ext cx="5846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958596-F4D6-45C5-8487-B03CD167E702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803880" y="1320840"/>
            <a:ext cx="8229240" cy="4997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000"/>
          </a:bodyPr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4400" spc="-1" strike="noStrike">
                <a:solidFill>
                  <a:srgbClr val="0070c0"/>
                </a:solidFill>
                <a:latin typeface="Century Gothic"/>
              </a:rPr>
              <a:t>Parallel and Distributed Computing</a:t>
            </a:r>
            <a:endParaRPr b="0" lang="en-US" sz="4400" spc="-1" strike="noStrike">
              <a:solidFill>
                <a:srgbClr val="404040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4400" spc="-1" strike="noStrike">
              <a:solidFill>
                <a:srgbClr val="404040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404040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3200" spc="-1" strike="noStrike">
                <a:solidFill>
                  <a:srgbClr val="404040"/>
                </a:solidFill>
                <a:latin typeface="Century Gothic"/>
              </a:rPr>
              <a:t>Lecture 8</a:t>
            </a:r>
            <a:endParaRPr b="0" lang="en-US" sz="3200" spc="-1" strike="noStrike">
              <a:solidFill>
                <a:srgbClr val="404040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3200" spc="-1" strike="noStrike">
                <a:solidFill>
                  <a:srgbClr val="ff0000"/>
                </a:solidFill>
                <a:latin typeface="Century Gothic"/>
              </a:rPr>
              <a:t>Basic Communication Operations</a:t>
            </a:r>
            <a:endParaRPr b="0" lang="en-US" sz="3200" spc="-1" strike="noStrike">
              <a:solidFill>
                <a:srgbClr val="404040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404040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404040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404040"/>
              </a:solidFill>
              <a:latin typeface="Century Gothic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ftr" idx="10"/>
          </p:nvPr>
        </p:nvSpPr>
        <p:spPr>
          <a:xfrm>
            <a:off x="1942560" y="6135840"/>
            <a:ext cx="510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0"/>
          <p:cNvGrpSpPr/>
          <p:nvPr/>
        </p:nvGrpSpPr>
        <p:grpSpPr>
          <a:xfrm>
            <a:off x="0" y="228600"/>
            <a:ext cx="2138040" cy="6638400"/>
            <a:chOff x="0" y="228600"/>
            <a:chExt cx="2138040" cy="6638400"/>
          </a:xfrm>
        </p:grpSpPr>
        <p:sp>
          <p:nvSpPr>
            <p:cNvPr id="147" name="Freeform 11"/>
            <p:cNvSpPr/>
            <p:nvPr/>
          </p:nvSpPr>
          <p:spPr>
            <a:xfrm>
              <a:off x="0" y="2575080"/>
              <a:ext cx="7524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Freeform 12"/>
            <p:cNvSpPr/>
            <p:nvPr/>
          </p:nvSpPr>
          <p:spPr>
            <a:xfrm>
              <a:off x="96480" y="3156480"/>
              <a:ext cx="48456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Freeform 13"/>
            <p:cNvSpPr/>
            <p:nvPr/>
          </p:nvSpPr>
          <p:spPr>
            <a:xfrm>
              <a:off x="605160" y="5447160"/>
              <a:ext cx="45684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Freeform 14"/>
            <p:cNvSpPr/>
            <p:nvPr/>
          </p:nvSpPr>
          <p:spPr>
            <a:xfrm>
              <a:off x="720000" y="6503760"/>
              <a:ext cx="12816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Freeform 15"/>
            <p:cNvSpPr/>
            <p:nvPr/>
          </p:nvSpPr>
          <p:spPr>
            <a:xfrm>
              <a:off x="75600" y="3201120"/>
              <a:ext cx="61596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Freeform 16"/>
            <p:cNvSpPr/>
            <p:nvPr/>
          </p:nvSpPr>
          <p:spPr>
            <a:xfrm>
              <a:off x="16920" y="228600"/>
              <a:ext cx="7920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Freeform 17"/>
            <p:cNvSpPr/>
            <p:nvPr/>
          </p:nvSpPr>
          <p:spPr>
            <a:xfrm>
              <a:off x="58680" y="2944080"/>
              <a:ext cx="5832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Freeform 18"/>
            <p:cNvSpPr/>
            <p:nvPr/>
          </p:nvSpPr>
          <p:spPr>
            <a:xfrm>
              <a:off x="577440" y="5478840"/>
              <a:ext cx="14220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Freeform 19"/>
            <p:cNvSpPr/>
            <p:nvPr/>
          </p:nvSpPr>
          <p:spPr>
            <a:xfrm>
              <a:off x="581400" y="1398960"/>
              <a:ext cx="155664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Freeform 20"/>
            <p:cNvSpPr/>
            <p:nvPr/>
          </p:nvSpPr>
          <p:spPr>
            <a:xfrm>
              <a:off x="691920" y="6530040"/>
              <a:ext cx="12132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Freeform 21"/>
            <p:cNvSpPr/>
            <p:nvPr/>
          </p:nvSpPr>
          <p:spPr>
            <a:xfrm>
              <a:off x="577440" y="5359320"/>
              <a:ext cx="2772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Freeform 22"/>
            <p:cNvSpPr/>
            <p:nvPr/>
          </p:nvSpPr>
          <p:spPr>
            <a:xfrm>
              <a:off x="637560" y="6244560"/>
              <a:ext cx="17856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9" name="Group 24"/>
          <p:cNvGrpSpPr/>
          <p:nvPr/>
        </p:nvGrpSpPr>
        <p:grpSpPr>
          <a:xfrm>
            <a:off x="20520" y="-720"/>
            <a:ext cx="1767240" cy="6853680"/>
            <a:chOff x="20520" y="-720"/>
            <a:chExt cx="1767240" cy="6853680"/>
          </a:xfrm>
        </p:grpSpPr>
        <p:sp>
          <p:nvSpPr>
            <p:cNvPr id="160" name="Freeform 27"/>
            <p:cNvSpPr/>
            <p:nvPr/>
          </p:nvSpPr>
          <p:spPr>
            <a:xfrm>
              <a:off x="20520" y="-720"/>
              <a:ext cx="37044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Freeform 28"/>
            <p:cNvSpPr/>
            <p:nvPr/>
          </p:nvSpPr>
          <p:spPr>
            <a:xfrm>
              <a:off x="412560" y="4316400"/>
              <a:ext cx="31716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Freeform 29"/>
            <p:cNvSpPr/>
            <p:nvPr/>
          </p:nvSpPr>
          <p:spPr>
            <a:xfrm>
              <a:off x="754560" y="5862600"/>
              <a:ext cx="32292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Freeform 30"/>
            <p:cNvSpPr/>
            <p:nvPr/>
          </p:nvSpPr>
          <p:spPr>
            <a:xfrm>
              <a:off x="391320" y="4364280"/>
              <a:ext cx="41364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Freeform 31"/>
            <p:cNvSpPr/>
            <p:nvPr/>
          </p:nvSpPr>
          <p:spPr>
            <a:xfrm>
              <a:off x="351000" y="1289160"/>
              <a:ext cx="13032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Freeform 32"/>
            <p:cNvSpPr/>
            <p:nvPr/>
          </p:nvSpPr>
          <p:spPr>
            <a:xfrm>
              <a:off x="833760" y="6571440"/>
              <a:ext cx="10008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Freeform 33"/>
            <p:cNvSpPr/>
            <p:nvPr/>
          </p:nvSpPr>
          <p:spPr>
            <a:xfrm>
              <a:off x="376920" y="4107600"/>
              <a:ext cx="6156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Freeform 34"/>
            <p:cNvSpPr/>
            <p:nvPr/>
          </p:nvSpPr>
          <p:spPr>
            <a:xfrm>
              <a:off x="730440" y="3145680"/>
              <a:ext cx="105732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Freeform 35"/>
            <p:cNvSpPr/>
            <p:nvPr/>
          </p:nvSpPr>
          <p:spPr>
            <a:xfrm>
              <a:off x="804960" y="6600240"/>
              <a:ext cx="9000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Freeform 36"/>
            <p:cNvSpPr/>
            <p:nvPr/>
          </p:nvSpPr>
          <p:spPr>
            <a:xfrm>
              <a:off x="730440" y="5897160"/>
              <a:ext cx="10296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Freeform 37"/>
            <p:cNvSpPr/>
            <p:nvPr/>
          </p:nvSpPr>
          <p:spPr>
            <a:xfrm>
              <a:off x="730440" y="5772600"/>
              <a:ext cx="2844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Freeform 38"/>
            <p:cNvSpPr/>
            <p:nvPr/>
          </p:nvSpPr>
          <p:spPr>
            <a:xfrm>
              <a:off x="754560" y="6322680"/>
              <a:ext cx="15768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2" name="Rectangle 38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Freeform 6"/>
          <p:cNvSpPr/>
          <p:nvPr/>
        </p:nvSpPr>
        <p:spPr>
          <a:xfrm>
            <a:off x="0" y="4323960"/>
            <a:ext cx="1308240" cy="778320"/>
          </a:xfrm>
          <a:custGeom>
            <a:avLst/>
            <a:gdLst/>
            <a:ahLst/>
            <a:rect l="l" t="t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Rectangle 42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fe7c4"/>
              </a:gs>
            </a:gsLst>
            <a:path path="circle">
              <a:fillToRect l="25000" t="25000" r="75000" b="75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529720" y="1864800"/>
            <a:ext cx="6098400" cy="2262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1000"/>
          </a:bodyPr>
          <a:p>
            <a:pPr algn="ctr">
              <a:lnSpc>
                <a:spcPct val="90000"/>
              </a:lnSpc>
              <a:buNone/>
            </a:pPr>
            <a:r>
              <a:rPr b="1" lang="en-US" sz="42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4200"/>
            </a:br>
            <a:endParaRPr b="0" lang="en-US" sz="4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6" name="Rectangle 44"/>
          <p:cNvSpPr/>
          <p:nvPr/>
        </p:nvSpPr>
        <p:spPr>
          <a:xfrm>
            <a:off x="0" y="0"/>
            <a:ext cx="21384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77" name="Group 46"/>
          <p:cNvGrpSpPr/>
          <p:nvPr/>
        </p:nvGrpSpPr>
        <p:grpSpPr>
          <a:xfrm>
            <a:off x="0" y="228600"/>
            <a:ext cx="2138040" cy="6638400"/>
            <a:chOff x="0" y="228600"/>
            <a:chExt cx="2138040" cy="6638400"/>
          </a:xfrm>
        </p:grpSpPr>
        <p:sp>
          <p:nvSpPr>
            <p:cNvPr id="178" name="Freeform 11"/>
            <p:cNvSpPr/>
            <p:nvPr/>
          </p:nvSpPr>
          <p:spPr>
            <a:xfrm>
              <a:off x="0" y="2575080"/>
              <a:ext cx="7524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Freeform 12"/>
            <p:cNvSpPr/>
            <p:nvPr/>
          </p:nvSpPr>
          <p:spPr>
            <a:xfrm>
              <a:off x="96480" y="3156480"/>
              <a:ext cx="48456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Freeform 13"/>
            <p:cNvSpPr/>
            <p:nvPr/>
          </p:nvSpPr>
          <p:spPr>
            <a:xfrm>
              <a:off x="605160" y="5447160"/>
              <a:ext cx="45684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Freeform 14"/>
            <p:cNvSpPr/>
            <p:nvPr/>
          </p:nvSpPr>
          <p:spPr>
            <a:xfrm>
              <a:off x="720000" y="6503760"/>
              <a:ext cx="12816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Freeform 15"/>
            <p:cNvSpPr/>
            <p:nvPr/>
          </p:nvSpPr>
          <p:spPr>
            <a:xfrm>
              <a:off x="75600" y="3201120"/>
              <a:ext cx="61596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Freeform 16"/>
            <p:cNvSpPr/>
            <p:nvPr/>
          </p:nvSpPr>
          <p:spPr>
            <a:xfrm>
              <a:off x="16920" y="228600"/>
              <a:ext cx="7920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Freeform 17"/>
            <p:cNvSpPr/>
            <p:nvPr/>
          </p:nvSpPr>
          <p:spPr>
            <a:xfrm>
              <a:off x="58680" y="2944080"/>
              <a:ext cx="5832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Freeform 18"/>
            <p:cNvSpPr/>
            <p:nvPr/>
          </p:nvSpPr>
          <p:spPr>
            <a:xfrm>
              <a:off x="577440" y="5478840"/>
              <a:ext cx="14220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Freeform 19"/>
            <p:cNvSpPr/>
            <p:nvPr/>
          </p:nvSpPr>
          <p:spPr>
            <a:xfrm>
              <a:off x="581400" y="1398960"/>
              <a:ext cx="155664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Freeform 20"/>
            <p:cNvSpPr/>
            <p:nvPr/>
          </p:nvSpPr>
          <p:spPr>
            <a:xfrm>
              <a:off x="691920" y="6530040"/>
              <a:ext cx="12132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Freeform 21"/>
            <p:cNvSpPr/>
            <p:nvPr/>
          </p:nvSpPr>
          <p:spPr>
            <a:xfrm>
              <a:off x="577440" y="5359320"/>
              <a:ext cx="2772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Freeform 22"/>
            <p:cNvSpPr/>
            <p:nvPr/>
          </p:nvSpPr>
          <p:spPr>
            <a:xfrm>
              <a:off x="637560" y="6244560"/>
              <a:ext cx="17856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0" name="Group 60"/>
          <p:cNvGrpSpPr/>
          <p:nvPr/>
        </p:nvGrpSpPr>
        <p:grpSpPr>
          <a:xfrm>
            <a:off x="20520" y="-720"/>
            <a:ext cx="1767240" cy="6853680"/>
            <a:chOff x="20520" y="-720"/>
            <a:chExt cx="1767240" cy="6853680"/>
          </a:xfrm>
        </p:grpSpPr>
        <p:sp>
          <p:nvSpPr>
            <p:cNvPr id="191" name="Freeform 27"/>
            <p:cNvSpPr/>
            <p:nvPr/>
          </p:nvSpPr>
          <p:spPr>
            <a:xfrm>
              <a:off x="20520" y="-720"/>
              <a:ext cx="37044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Freeform 28"/>
            <p:cNvSpPr/>
            <p:nvPr/>
          </p:nvSpPr>
          <p:spPr>
            <a:xfrm>
              <a:off x="412560" y="4316400"/>
              <a:ext cx="31716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Freeform 29"/>
            <p:cNvSpPr/>
            <p:nvPr/>
          </p:nvSpPr>
          <p:spPr>
            <a:xfrm>
              <a:off x="754560" y="5862600"/>
              <a:ext cx="32292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Freeform 30"/>
            <p:cNvSpPr/>
            <p:nvPr/>
          </p:nvSpPr>
          <p:spPr>
            <a:xfrm>
              <a:off x="391320" y="4364280"/>
              <a:ext cx="41364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Freeform 31"/>
            <p:cNvSpPr/>
            <p:nvPr/>
          </p:nvSpPr>
          <p:spPr>
            <a:xfrm>
              <a:off x="351000" y="1289160"/>
              <a:ext cx="13032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Freeform 32"/>
            <p:cNvSpPr/>
            <p:nvPr/>
          </p:nvSpPr>
          <p:spPr>
            <a:xfrm>
              <a:off x="833760" y="6571440"/>
              <a:ext cx="10008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Freeform 33"/>
            <p:cNvSpPr/>
            <p:nvPr/>
          </p:nvSpPr>
          <p:spPr>
            <a:xfrm>
              <a:off x="376920" y="4107600"/>
              <a:ext cx="6156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Freeform 34"/>
            <p:cNvSpPr/>
            <p:nvPr/>
          </p:nvSpPr>
          <p:spPr>
            <a:xfrm>
              <a:off x="730440" y="3145680"/>
              <a:ext cx="105732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Freeform 35"/>
            <p:cNvSpPr/>
            <p:nvPr/>
          </p:nvSpPr>
          <p:spPr>
            <a:xfrm>
              <a:off x="804960" y="6600240"/>
              <a:ext cx="9000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Freeform 36"/>
            <p:cNvSpPr/>
            <p:nvPr/>
          </p:nvSpPr>
          <p:spPr>
            <a:xfrm>
              <a:off x="730440" y="5897160"/>
              <a:ext cx="10296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Freeform 37"/>
            <p:cNvSpPr/>
            <p:nvPr/>
          </p:nvSpPr>
          <p:spPr>
            <a:xfrm>
              <a:off x="730440" y="5772600"/>
              <a:ext cx="2844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Freeform 38"/>
            <p:cNvSpPr/>
            <p:nvPr/>
          </p:nvSpPr>
          <p:spPr>
            <a:xfrm>
              <a:off x="754560" y="6322680"/>
              <a:ext cx="15768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3" name="Freeform 11"/>
          <p:cNvSpPr/>
          <p:nvPr/>
        </p:nvSpPr>
        <p:spPr>
          <a:xfrm flipV="1">
            <a:off x="0" y="3410640"/>
            <a:ext cx="823320" cy="513720"/>
          </a:xfrm>
          <a:custGeom>
            <a:avLst/>
            <a:gdLst/>
            <a:ahLst/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PlaceHolder 2"/>
          <p:cNvSpPr>
            <a:spLocks noGrp="1"/>
          </p:cNvSpPr>
          <p:nvPr>
            <p:ph type="ftr" idx="11"/>
          </p:nvPr>
        </p:nvSpPr>
        <p:spPr>
          <a:xfrm>
            <a:off x="2529720" y="6135840"/>
            <a:ext cx="5126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Aft>
                <a:spcPts val="601"/>
              </a:spcAft>
              <a:buNone/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Preliminaries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Exchanging the data is fundamental requirement for most of the parallel algorithms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- the simplified communication cost model :-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Over distributed memory infrastructure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Assuming the cut-through routing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The chapter is about commonly used basic communication patterns over the different interconnections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We shall drive communication costs of these operations on different interconnections.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marL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ftr" idx="12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000"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Assumptions for the Operations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Interconnections support cut-through routing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Communication time between any pair of nodes in the network is same (regardless of the number of intermediate nodes)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Links are bi-directional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	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The directly connected nodes can simultaneously send messages of </a:t>
            </a:r>
            <a:r>
              <a:rPr b="0" i="1" lang="en-US" sz="2000" spc="-1" strike="noStrike">
                <a:solidFill>
                  <a:srgbClr val="404040"/>
                </a:solidFill>
                <a:latin typeface="Century Gothic"/>
              </a:rPr>
              <a:t>m words 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without any congestion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Single-port communication model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A node can send on only one of its links at a time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A node can receive on only one of its links at a time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However, a node can receive a message while sending another message at the same time on the same or a different link.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ftr" idx="13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10"/>
          <p:cNvGrpSpPr/>
          <p:nvPr/>
        </p:nvGrpSpPr>
        <p:grpSpPr>
          <a:xfrm>
            <a:off x="0" y="228600"/>
            <a:ext cx="2138040" cy="6638400"/>
            <a:chOff x="0" y="228600"/>
            <a:chExt cx="2138040" cy="6638400"/>
          </a:xfrm>
        </p:grpSpPr>
        <p:sp>
          <p:nvSpPr>
            <p:cNvPr id="212" name="Freeform 11"/>
            <p:cNvSpPr/>
            <p:nvPr/>
          </p:nvSpPr>
          <p:spPr>
            <a:xfrm>
              <a:off x="0" y="2575080"/>
              <a:ext cx="7524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Freeform 12"/>
            <p:cNvSpPr/>
            <p:nvPr/>
          </p:nvSpPr>
          <p:spPr>
            <a:xfrm>
              <a:off x="96480" y="3156480"/>
              <a:ext cx="48456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Freeform 13"/>
            <p:cNvSpPr/>
            <p:nvPr/>
          </p:nvSpPr>
          <p:spPr>
            <a:xfrm>
              <a:off x="605160" y="5447160"/>
              <a:ext cx="45684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Freeform 14"/>
            <p:cNvSpPr/>
            <p:nvPr/>
          </p:nvSpPr>
          <p:spPr>
            <a:xfrm>
              <a:off x="720000" y="6503760"/>
              <a:ext cx="12816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Freeform 15"/>
            <p:cNvSpPr/>
            <p:nvPr/>
          </p:nvSpPr>
          <p:spPr>
            <a:xfrm>
              <a:off x="75600" y="3201120"/>
              <a:ext cx="61596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Freeform 16"/>
            <p:cNvSpPr/>
            <p:nvPr/>
          </p:nvSpPr>
          <p:spPr>
            <a:xfrm>
              <a:off x="16920" y="228600"/>
              <a:ext cx="7920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Freeform 17"/>
            <p:cNvSpPr/>
            <p:nvPr/>
          </p:nvSpPr>
          <p:spPr>
            <a:xfrm>
              <a:off x="58680" y="2944080"/>
              <a:ext cx="5832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Freeform 18"/>
            <p:cNvSpPr/>
            <p:nvPr/>
          </p:nvSpPr>
          <p:spPr>
            <a:xfrm>
              <a:off x="577440" y="5478840"/>
              <a:ext cx="14220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Freeform 19"/>
            <p:cNvSpPr/>
            <p:nvPr/>
          </p:nvSpPr>
          <p:spPr>
            <a:xfrm>
              <a:off x="581400" y="1398960"/>
              <a:ext cx="155664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Freeform 20"/>
            <p:cNvSpPr/>
            <p:nvPr/>
          </p:nvSpPr>
          <p:spPr>
            <a:xfrm>
              <a:off x="691920" y="6530040"/>
              <a:ext cx="12132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Freeform 21"/>
            <p:cNvSpPr/>
            <p:nvPr/>
          </p:nvSpPr>
          <p:spPr>
            <a:xfrm>
              <a:off x="577440" y="5359320"/>
              <a:ext cx="2772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Freeform 22"/>
            <p:cNvSpPr/>
            <p:nvPr/>
          </p:nvSpPr>
          <p:spPr>
            <a:xfrm>
              <a:off x="637560" y="6244560"/>
              <a:ext cx="17856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24" name="Group 24"/>
          <p:cNvGrpSpPr/>
          <p:nvPr/>
        </p:nvGrpSpPr>
        <p:grpSpPr>
          <a:xfrm>
            <a:off x="20520" y="-720"/>
            <a:ext cx="1767240" cy="6853680"/>
            <a:chOff x="20520" y="-720"/>
            <a:chExt cx="1767240" cy="6853680"/>
          </a:xfrm>
        </p:grpSpPr>
        <p:sp>
          <p:nvSpPr>
            <p:cNvPr id="225" name="Freeform 27"/>
            <p:cNvSpPr/>
            <p:nvPr/>
          </p:nvSpPr>
          <p:spPr>
            <a:xfrm>
              <a:off x="20520" y="-720"/>
              <a:ext cx="37044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Freeform 28"/>
            <p:cNvSpPr/>
            <p:nvPr/>
          </p:nvSpPr>
          <p:spPr>
            <a:xfrm>
              <a:off x="412560" y="4316400"/>
              <a:ext cx="31716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Freeform 29"/>
            <p:cNvSpPr/>
            <p:nvPr/>
          </p:nvSpPr>
          <p:spPr>
            <a:xfrm>
              <a:off x="754560" y="5862600"/>
              <a:ext cx="32292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Freeform 30"/>
            <p:cNvSpPr/>
            <p:nvPr/>
          </p:nvSpPr>
          <p:spPr>
            <a:xfrm>
              <a:off x="391320" y="4364280"/>
              <a:ext cx="41364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Freeform 31"/>
            <p:cNvSpPr/>
            <p:nvPr/>
          </p:nvSpPr>
          <p:spPr>
            <a:xfrm>
              <a:off x="351000" y="1289160"/>
              <a:ext cx="13032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Freeform 32"/>
            <p:cNvSpPr/>
            <p:nvPr/>
          </p:nvSpPr>
          <p:spPr>
            <a:xfrm>
              <a:off x="833760" y="6571440"/>
              <a:ext cx="10008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1" name="Freeform 33"/>
            <p:cNvSpPr/>
            <p:nvPr/>
          </p:nvSpPr>
          <p:spPr>
            <a:xfrm>
              <a:off x="376920" y="4107600"/>
              <a:ext cx="6156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Freeform 34"/>
            <p:cNvSpPr/>
            <p:nvPr/>
          </p:nvSpPr>
          <p:spPr>
            <a:xfrm>
              <a:off x="730440" y="3145680"/>
              <a:ext cx="105732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Freeform 35"/>
            <p:cNvSpPr/>
            <p:nvPr/>
          </p:nvSpPr>
          <p:spPr>
            <a:xfrm>
              <a:off x="804960" y="6600240"/>
              <a:ext cx="9000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Freeform 36"/>
            <p:cNvSpPr/>
            <p:nvPr/>
          </p:nvSpPr>
          <p:spPr>
            <a:xfrm>
              <a:off x="730440" y="5897160"/>
              <a:ext cx="10296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Freeform 37"/>
            <p:cNvSpPr/>
            <p:nvPr/>
          </p:nvSpPr>
          <p:spPr>
            <a:xfrm>
              <a:off x="730440" y="5772600"/>
              <a:ext cx="2844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" name="Freeform 38"/>
            <p:cNvSpPr/>
            <p:nvPr/>
          </p:nvSpPr>
          <p:spPr>
            <a:xfrm>
              <a:off x="754560" y="6322680"/>
              <a:ext cx="15768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7" name="Rectangle 38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Freeform 6"/>
          <p:cNvSpPr/>
          <p:nvPr/>
        </p:nvSpPr>
        <p:spPr>
          <a:xfrm>
            <a:off x="0" y="4323960"/>
            <a:ext cx="1308240" cy="778320"/>
          </a:xfrm>
          <a:custGeom>
            <a:avLst/>
            <a:gdLst/>
            <a:ahLst/>
            <a:rect l="l" t="t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Rectangle 42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fe7c4"/>
              </a:gs>
            </a:gsLst>
            <a:path path="circle">
              <a:fillToRect l="25000" t="25000" r="75000" b="75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2529720" y="1864800"/>
            <a:ext cx="6098400" cy="2262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en-US" sz="4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endParaRPr b="0" lang="en-US" sz="4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41" name="Rectangle 44"/>
          <p:cNvSpPr/>
          <p:nvPr/>
        </p:nvSpPr>
        <p:spPr>
          <a:xfrm>
            <a:off x="0" y="0"/>
            <a:ext cx="21384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42" name="Group 46"/>
          <p:cNvGrpSpPr/>
          <p:nvPr/>
        </p:nvGrpSpPr>
        <p:grpSpPr>
          <a:xfrm>
            <a:off x="0" y="228600"/>
            <a:ext cx="2138040" cy="6638400"/>
            <a:chOff x="0" y="228600"/>
            <a:chExt cx="2138040" cy="6638400"/>
          </a:xfrm>
        </p:grpSpPr>
        <p:sp>
          <p:nvSpPr>
            <p:cNvPr id="243" name="Freeform 11"/>
            <p:cNvSpPr/>
            <p:nvPr/>
          </p:nvSpPr>
          <p:spPr>
            <a:xfrm>
              <a:off x="0" y="2575080"/>
              <a:ext cx="7524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Freeform 12"/>
            <p:cNvSpPr/>
            <p:nvPr/>
          </p:nvSpPr>
          <p:spPr>
            <a:xfrm>
              <a:off x="96480" y="3156480"/>
              <a:ext cx="48456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Freeform 13"/>
            <p:cNvSpPr/>
            <p:nvPr/>
          </p:nvSpPr>
          <p:spPr>
            <a:xfrm>
              <a:off x="605160" y="5447160"/>
              <a:ext cx="45684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Freeform 14"/>
            <p:cNvSpPr/>
            <p:nvPr/>
          </p:nvSpPr>
          <p:spPr>
            <a:xfrm>
              <a:off x="720000" y="6503760"/>
              <a:ext cx="12816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Freeform 15"/>
            <p:cNvSpPr/>
            <p:nvPr/>
          </p:nvSpPr>
          <p:spPr>
            <a:xfrm>
              <a:off x="75600" y="3201120"/>
              <a:ext cx="61596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Freeform 16"/>
            <p:cNvSpPr/>
            <p:nvPr/>
          </p:nvSpPr>
          <p:spPr>
            <a:xfrm>
              <a:off x="16920" y="228600"/>
              <a:ext cx="7920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Freeform 17"/>
            <p:cNvSpPr/>
            <p:nvPr/>
          </p:nvSpPr>
          <p:spPr>
            <a:xfrm>
              <a:off x="58680" y="2944080"/>
              <a:ext cx="5832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Freeform 18"/>
            <p:cNvSpPr/>
            <p:nvPr/>
          </p:nvSpPr>
          <p:spPr>
            <a:xfrm>
              <a:off x="577440" y="5478840"/>
              <a:ext cx="14220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Freeform 19"/>
            <p:cNvSpPr/>
            <p:nvPr/>
          </p:nvSpPr>
          <p:spPr>
            <a:xfrm>
              <a:off x="581400" y="1398960"/>
              <a:ext cx="155664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Freeform 20"/>
            <p:cNvSpPr/>
            <p:nvPr/>
          </p:nvSpPr>
          <p:spPr>
            <a:xfrm>
              <a:off x="691920" y="6530040"/>
              <a:ext cx="12132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Freeform 21"/>
            <p:cNvSpPr/>
            <p:nvPr/>
          </p:nvSpPr>
          <p:spPr>
            <a:xfrm>
              <a:off x="577440" y="5359320"/>
              <a:ext cx="2772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Freeform 22"/>
            <p:cNvSpPr/>
            <p:nvPr/>
          </p:nvSpPr>
          <p:spPr>
            <a:xfrm>
              <a:off x="637560" y="6244560"/>
              <a:ext cx="17856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55" name="Group 60"/>
          <p:cNvGrpSpPr/>
          <p:nvPr/>
        </p:nvGrpSpPr>
        <p:grpSpPr>
          <a:xfrm>
            <a:off x="20520" y="-720"/>
            <a:ext cx="1767240" cy="6853680"/>
            <a:chOff x="20520" y="-720"/>
            <a:chExt cx="1767240" cy="6853680"/>
          </a:xfrm>
        </p:grpSpPr>
        <p:sp>
          <p:nvSpPr>
            <p:cNvPr id="256" name="Freeform 27"/>
            <p:cNvSpPr/>
            <p:nvPr/>
          </p:nvSpPr>
          <p:spPr>
            <a:xfrm>
              <a:off x="20520" y="-720"/>
              <a:ext cx="37044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Freeform 28"/>
            <p:cNvSpPr/>
            <p:nvPr/>
          </p:nvSpPr>
          <p:spPr>
            <a:xfrm>
              <a:off x="412560" y="4316400"/>
              <a:ext cx="31716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Freeform 29"/>
            <p:cNvSpPr/>
            <p:nvPr/>
          </p:nvSpPr>
          <p:spPr>
            <a:xfrm>
              <a:off x="754560" y="5862600"/>
              <a:ext cx="32292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Freeform 30"/>
            <p:cNvSpPr/>
            <p:nvPr/>
          </p:nvSpPr>
          <p:spPr>
            <a:xfrm>
              <a:off x="391320" y="4364280"/>
              <a:ext cx="41364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Freeform 31"/>
            <p:cNvSpPr/>
            <p:nvPr/>
          </p:nvSpPr>
          <p:spPr>
            <a:xfrm>
              <a:off x="351000" y="1289160"/>
              <a:ext cx="13032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Freeform 32"/>
            <p:cNvSpPr/>
            <p:nvPr/>
          </p:nvSpPr>
          <p:spPr>
            <a:xfrm>
              <a:off x="833760" y="6571440"/>
              <a:ext cx="10008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Freeform 33"/>
            <p:cNvSpPr/>
            <p:nvPr/>
          </p:nvSpPr>
          <p:spPr>
            <a:xfrm>
              <a:off x="376920" y="4107600"/>
              <a:ext cx="6156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Freeform 34"/>
            <p:cNvSpPr/>
            <p:nvPr/>
          </p:nvSpPr>
          <p:spPr>
            <a:xfrm>
              <a:off x="730440" y="3145680"/>
              <a:ext cx="105732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Freeform 35"/>
            <p:cNvSpPr/>
            <p:nvPr/>
          </p:nvSpPr>
          <p:spPr>
            <a:xfrm>
              <a:off x="804960" y="6600240"/>
              <a:ext cx="9000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Freeform 36"/>
            <p:cNvSpPr/>
            <p:nvPr/>
          </p:nvSpPr>
          <p:spPr>
            <a:xfrm>
              <a:off x="730440" y="5897160"/>
              <a:ext cx="10296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Freeform 37"/>
            <p:cNvSpPr/>
            <p:nvPr/>
          </p:nvSpPr>
          <p:spPr>
            <a:xfrm>
              <a:off x="730440" y="5772600"/>
              <a:ext cx="2844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Freeform 38"/>
            <p:cNvSpPr/>
            <p:nvPr/>
          </p:nvSpPr>
          <p:spPr>
            <a:xfrm>
              <a:off x="754560" y="6322680"/>
              <a:ext cx="15768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8" name="Freeform 11"/>
          <p:cNvSpPr/>
          <p:nvPr/>
        </p:nvSpPr>
        <p:spPr>
          <a:xfrm flipV="1">
            <a:off x="0" y="3410640"/>
            <a:ext cx="823320" cy="513720"/>
          </a:xfrm>
          <a:custGeom>
            <a:avLst/>
            <a:gdLst/>
            <a:ahLst/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PlaceHolder 2"/>
          <p:cNvSpPr>
            <a:spLocks noGrp="1"/>
          </p:cNvSpPr>
          <p:nvPr>
            <p:ph type="ftr" idx="14"/>
          </p:nvPr>
        </p:nvSpPr>
        <p:spPr>
          <a:xfrm>
            <a:off x="2529720" y="6135840"/>
            <a:ext cx="5126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One-to-All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Broadcast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A single process sends identical data to all other processes.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Initially one process has data of </a:t>
            </a:r>
            <a:r>
              <a:rPr b="0" i="1" lang="en-US" sz="2000" spc="-1" strike="noStrike">
                <a:solidFill>
                  <a:srgbClr val="404040"/>
                </a:solidFill>
                <a:latin typeface="Century Gothic"/>
              </a:rPr>
              <a:t>m 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size.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After broadcast operation, each of the processes have own copy of the </a:t>
            </a:r>
            <a:r>
              <a:rPr b="0" i="1" lang="en-US" sz="2000" spc="-1" strike="noStrike">
                <a:solidFill>
                  <a:srgbClr val="404040"/>
                </a:solidFill>
                <a:latin typeface="Century Gothic"/>
              </a:rPr>
              <a:t>m 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size. 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All-to-One</a:t>
            </a:r>
            <a:r>
              <a:rPr b="1" lang="en-US" sz="2000" spc="-1" strike="noStrike">
                <a:solidFill>
                  <a:srgbClr val="262626"/>
                </a:solidFill>
                <a:latin typeface="Century Gothic"/>
              </a:rPr>
              <a:t> </a:t>
            </a: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Reduction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Dual of  one-to-all broadcast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The </a:t>
            </a:r>
            <a:r>
              <a:rPr b="0" i="1" lang="en-US" sz="2400" spc="-1" strike="noStrike">
                <a:solidFill>
                  <a:srgbClr val="404040"/>
                </a:solidFill>
                <a:latin typeface="Century Gothic"/>
              </a:rPr>
              <a:t>m-sized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data from all processes are combined through an associative operator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accumulated at a single destination process into one buffer of size </a:t>
            </a:r>
            <a:r>
              <a:rPr b="0" i="1" lang="en-US" sz="2400" spc="-1" strike="noStrike">
                <a:solidFill>
                  <a:srgbClr val="404040"/>
                </a:solidFill>
                <a:latin typeface="Century Gothic"/>
              </a:rPr>
              <a:t>m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ftr" idx="15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ftr" idx="16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75" name="Picture 4" descr=""/>
          <p:cNvPicPr/>
          <p:nvPr/>
        </p:nvPicPr>
        <p:blipFill>
          <a:blip r:embed="rId1"/>
          <a:stretch/>
        </p:blipFill>
        <p:spPr>
          <a:xfrm>
            <a:off x="1029600" y="2079360"/>
            <a:ext cx="6661080" cy="269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Linear Array or Ring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Naïve solution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sequentially send </a:t>
            </a:r>
            <a:r>
              <a:rPr b="0" i="1" lang="en-US" sz="2000" spc="-1" strike="noStrike">
                <a:solidFill>
                  <a:srgbClr val="404040"/>
                </a:solidFill>
                <a:latin typeface="Century Gothic"/>
              </a:rPr>
              <a:t>p 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- 1 messages from the source to the other </a:t>
            </a:r>
            <a:r>
              <a:rPr b="0" i="1" lang="en-US" sz="2000" spc="-1" strike="noStrike">
                <a:solidFill>
                  <a:srgbClr val="404040"/>
                </a:solidFill>
                <a:latin typeface="Century Gothic"/>
              </a:rPr>
              <a:t>p 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- 1 processes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Bottle necks, and underutilization of communication network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Solution?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Recursive doubling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Source process sends the massage to another process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In next communication phase both the processes can simultaneously propagate the message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ftr" idx="17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Linear Array or Ring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Recursive Doubling Broadcast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ftr" idx="18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82" name="Picture 4" descr=""/>
          <p:cNvPicPr/>
          <p:nvPr/>
        </p:nvPicPr>
        <p:blipFill>
          <a:blip r:embed="rId1"/>
          <a:stretch/>
        </p:blipFill>
        <p:spPr>
          <a:xfrm>
            <a:off x="774000" y="2248200"/>
            <a:ext cx="7595280" cy="401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3200" cy="4646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Linear Array or Ring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Recursive Doubling Reduction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ftr" idx="19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86" name="Picture 4" descr=""/>
          <p:cNvPicPr/>
          <p:nvPr/>
        </p:nvPicPr>
        <p:blipFill>
          <a:blip r:embed="rId1"/>
          <a:stretch/>
        </p:blipFill>
        <p:spPr>
          <a:xfrm>
            <a:off x="925560" y="2202120"/>
            <a:ext cx="7292520" cy="385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3200" cy="4646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Matrix-Vector Multiplication (An Application)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ftr" idx="20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90" name="Picture 4" descr=""/>
          <p:cNvPicPr/>
          <p:nvPr/>
        </p:nvPicPr>
        <p:blipFill>
          <a:blip r:embed="rId1"/>
          <a:stretch/>
        </p:blipFill>
        <p:spPr>
          <a:xfrm>
            <a:off x="1616400" y="2006280"/>
            <a:ext cx="5910480" cy="431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Mesh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We can regard each row and column of a square mesh of </a:t>
            </a:r>
            <a:r>
              <a:rPr b="0" i="1" lang="en-US" sz="2400" spc="-1" strike="noStrike">
                <a:solidFill>
                  <a:srgbClr val="404040"/>
                </a:solidFill>
                <a:latin typeface="Century Gothic"/>
              </a:rPr>
              <a:t>p 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nodes as a linear array of nodes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Communication algorithms on the mesh are simple extensions of their linear array counterparts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Broadcast and Reduction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Two step breakdown: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2" marL="1314360" indent="-45720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Century Gothic"/>
              <a:buAutoNum type="romanUcPeriod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The operation is performed along one by treating the row as linear array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2" marL="1371600" indent="-5144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Century Gothic"/>
              <a:buAutoNum type="romanUcPeriod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Then the all the columns are treated similarly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ftr" idx="21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Mesh 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(Broadcast and Reduction)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ftr" idx="22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97" name="Picture 4" descr=""/>
          <p:cNvPicPr/>
          <p:nvPr/>
        </p:nvPicPr>
        <p:blipFill>
          <a:blip r:embed="rId1"/>
          <a:stretch/>
        </p:blipFill>
        <p:spPr>
          <a:xfrm>
            <a:off x="1523880" y="1793160"/>
            <a:ext cx="6068520" cy="460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Picture 4" descr=""/>
          <p:cNvPicPr/>
          <p:nvPr/>
        </p:nvPicPr>
        <p:blipFill>
          <a:blip r:embed="rId1"/>
          <a:stretch/>
        </p:blipFill>
        <p:spPr>
          <a:xfrm>
            <a:off x="458640" y="1763640"/>
            <a:ext cx="8226000" cy="4311360"/>
          </a:xfrm>
          <a:prstGeom prst="rect">
            <a:avLst/>
          </a:prstGeom>
          <a:ln w="0">
            <a:noFill/>
          </a:ln>
        </p:spPr>
      </p:pic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Balanced Binary Tree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Broadcast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ftr" idx="23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Hypercube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Broadcast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Source node first send data to one node in the highest dimension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The communication successively proceeds along lower dimensions in the subsequent steps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The algorithm is same as used for linear array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But, here changing order of dimension does not congest the network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ftr" idx="24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Hypercube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Broadcast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ftr" idx="25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308" name="Picture 4" descr=""/>
          <p:cNvPicPr/>
          <p:nvPr/>
        </p:nvPicPr>
        <p:blipFill>
          <a:blip r:embed="rId1"/>
          <a:stretch/>
        </p:blipFill>
        <p:spPr>
          <a:xfrm>
            <a:off x="711360" y="2171160"/>
            <a:ext cx="7337160" cy="409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Hypercube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Broadcast(Algorithm)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ftr" idx="26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CS321 - Spring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312" name="Picture 4" descr=""/>
          <p:cNvPicPr/>
          <p:nvPr/>
        </p:nvPicPr>
        <p:blipFill>
          <a:blip r:embed="rId1"/>
          <a:stretch/>
        </p:blipFill>
        <p:spPr>
          <a:xfrm>
            <a:off x="458640" y="1096920"/>
            <a:ext cx="8226000" cy="57607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FF230B-D057-4CF0-9FF7-8C9074A255B3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Hypercube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Broadcast(Algorithm)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ftr" idx="27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CS321 - Spring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316" name="Picture 4" descr=""/>
          <p:cNvPicPr/>
          <p:nvPr/>
        </p:nvPicPr>
        <p:blipFill>
          <a:blip r:embed="rId1"/>
          <a:stretch/>
        </p:blipFill>
        <p:spPr>
          <a:xfrm>
            <a:off x="469440" y="1147680"/>
            <a:ext cx="7962840" cy="56646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48D410-C3C9-4489-BE3C-F352535471A2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Hypercube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Broadcast(Algorithm)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ftr" idx="28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CS321 - Spring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320" name="Picture 7" descr=""/>
          <p:cNvPicPr/>
          <p:nvPr/>
        </p:nvPicPr>
        <p:blipFill>
          <a:blip r:embed="rId1"/>
          <a:stretch/>
        </p:blipFill>
        <p:spPr>
          <a:xfrm>
            <a:off x="705960" y="1356840"/>
            <a:ext cx="7355520" cy="49093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7CC740-D183-4197-B6A2-90D05DDFB69B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One-to-All Broadcast and All-to-One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56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Cost Estimation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Broad cast needs </a:t>
            </a: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log(p)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point-to-point simple message transfer steps.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Message size of each transfer is </a:t>
            </a: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m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Time foreach of the transfers is: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Hence cost for log(p)transfers=T=  </a:t>
            </a: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ftr" idx="29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roup 12"/>
          <p:cNvGrpSpPr/>
          <p:nvPr/>
        </p:nvGrpSpPr>
        <p:grpSpPr>
          <a:xfrm>
            <a:off x="0" y="228600"/>
            <a:ext cx="2138040" cy="6638400"/>
            <a:chOff x="0" y="228600"/>
            <a:chExt cx="2138040" cy="6638400"/>
          </a:xfrm>
        </p:grpSpPr>
        <p:sp>
          <p:nvSpPr>
            <p:cNvPr id="325" name="Freeform 11"/>
            <p:cNvSpPr/>
            <p:nvPr/>
          </p:nvSpPr>
          <p:spPr>
            <a:xfrm>
              <a:off x="0" y="2575080"/>
              <a:ext cx="7524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Freeform 12"/>
            <p:cNvSpPr/>
            <p:nvPr/>
          </p:nvSpPr>
          <p:spPr>
            <a:xfrm>
              <a:off x="96480" y="3156480"/>
              <a:ext cx="48456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" name="Freeform 13"/>
            <p:cNvSpPr/>
            <p:nvPr/>
          </p:nvSpPr>
          <p:spPr>
            <a:xfrm>
              <a:off x="605160" y="5447160"/>
              <a:ext cx="45684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Freeform 14"/>
            <p:cNvSpPr/>
            <p:nvPr/>
          </p:nvSpPr>
          <p:spPr>
            <a:xfrm>
              <a:off x="720000" y="6503760"/>
              <a:ext cx="12816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" name="Freeform 15"/>
            <p:cNvSpPr/>
            <p:nvPr/>
          </p:nvSpPr>
          <p:spPr>
            <a:xfrm>
              <a:off x="75600" y="3201120"/>
              <a:ext cx="61596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Freeform 16"/>
            <p:cNvSpPr/>
            <p:nvPr/>
          </p:nvSpPr>
          <p:spPr>
            <a:xfrm>
              <a:off x="16920" y="228600"/>
              <a:ext cx="7920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Freeform 17"/>
            <p:cNvSpPr/>
            <p:nvPr/>
          </p:nvSpPr>
          <p:spPr>
            <a:xfrm>
              <a:off x="58680" y="2944080"/>
              <a:ext cx="5832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Freeform 18"/>
            <p:cNvSpPr/>
            <p:nvPr/>
          </p:nvSpPr>
          <p:spPr>
            <a:xfrm>
              <a:off x="577440" y="5478840"/>
              <a:ext cx="14220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Freeform 19"/>
            <p:cNvSpPr/>
            <p:nvPr/>
          </p:nvSpPr>
          <p:spPr>
            <a:xfrm>
              <a:off x="581400" y="1398960"/>
              <a:ext cx="155664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" name="Freeform 20"/>
            <p:cNvSpPr/>
            <p:nvPr/>
          </p:nvSpPr>
          <p:spPr>
            <a:xfrm>
              <a:off x="691920" y="6530040"/>
              <a:ext cx="12132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Freeform 21"/>
            <p:cNvSpPr/>
            <p:nvPr/>
          </p:nvSpPr>
          <p:spPr>
            <a:xfrm>
              <a:off x="577440" y="5359320"/>
              <a:ext cx="2772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Freeform 22"/>
            <p:cNvSpPr/>
            <p:nvPr/>
          </p:nvSpPr>
          <p:spPr>
            <a:xfrm>
              <a:off x="637560" y="6244560"/>
              <a:ext cx="17856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37" name="Group 26"/>
          <p:cNvGrpSpPr/>
          <p:nvPr/>
        </p:nvGrpSpPr>
        <p:grpSpPr>
          <a:xfrm>
            <a:off x="20520" y="-720"/>
            <a:ext cx="1767240" cy="6853680"/>
            <a:chOff x="20520" y="-720"/>
            <a:chExt cx="1767240" cy="6853680"/>
          </a:xfrm>
        </p:grpSpPr>
        <p:sp>
          <p:nvSpPr>
            <p:cNvPr id="338" name="Freeform 27"/>
            <p:cNvSpPr/>
            <p:nvPr/>
          </p:nvSpPr>
          <p:spPr>
            <a:xfrm>
              <a:off x="20520" y="-720"/>
              <a:ext cx="37044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Freeform 28"/>
            <p:cNvSpPr/>
            <p:nvPr/>
          </p:nvSpPr>
          <p:spPr>
            <a:xfrm>
              <a:off x="412560" y="4316400"/>
              <a:ext cx="31716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Freeform 29"/>
            <p:cNvSpPr/>
            <p:nvPr/>
          </p:nvSpPr>
          <p:spPr>
            <a:xfrm>
              <a:off x="754560" y="5862600"/>
              <a:ext cx="32292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Freeform 30"/>
            <p:cNvSpPr/>
            <p:nvPr/>
          </p:nvSpPr>
          <p:spPr>
            <a:xfrm>
              <a:off x="391320" y="4364280"/>
              <a:ext cx="41364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Freeform 31"/>
            <p:cNvSpPr/>
            <p:nvPr/>
          </p:nvSpPr>
          <p:spPr>
            <a:xfrm>
              <a:off x="351000" y="1289160"/>
              <a:ext cx="13032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Freeform 32"/>
            <p:cNvSpPr/>
            <p:nvPr/>
          </p:nvSpPr>
          <p:spPr>
            <a:xfrm>
              <a:off x="833760" y="6571440"/>
              <a:ext cx="10008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Freeform 33"/>
            <p:cNvSpPr/>
            <p:nvPr/>
          </p:nvSpPr>
          <p:spPr>
            <a:xfrm>
              <a:off x="376920" y="4107600"/>
              <a:ext cx="6156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Freeform 34"/>
            <p:cNvSpPr/>
            <p:nvPr/>
          </p:nvSpPr>
          <p:spPr>
            <a:xfrm>
              <a:off x="730440" y="3145680"/>
              <a:ext cx="105732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Freeform 35"/>
            <p:cNvSpPr/>
            <p:nvPr/>
          </p:nvSpPr>
          <p:spPr>
            <a:xfrm>
              <a:off x="804960" y="6600240"/>
              <a:ext cx="9000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Freeform 36"/>
            <p:cNvSpPr/>
            <p:nvPr/>
          </p:nvSpPr>
          <p:spPr>
            <a:xfrm>
              <a:off x="730440" y="5897160"/>
              <a:ext cx="10296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Freeform 37"/>
            <p:cNvSpPr/>
            <p:nvPr/>
          </p:nvSpPr>
          <p:spPr>
            <a:xfrm>
              <a:off x="730440" y="5772600"/>
              <a:ext cx="2844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Freeform 38"/>
            <p:cNvSpPr/>
            <p:nvPr/>
          </p:nvSpPr>
          <p:spPr>
            <a:xfrm>
              <a:off x="754560" y="6322680"/>
              <a:ext cx="15768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0" name="Rectangle 40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Freeform 6"/>
          <p:cNvSpPr/>
          <p:nvPr/>
        </p:nvSpPr>
        <p:spPr>
          <a:xfrm>
            <a:off x="0" y="4323960"/>
            <a:ext cx="1308240" cy="778320"/>
          </a:xfrm>
          <a:custGeom>
            <a:avLst/>
            <a:gdLst/>
            <a:ahLst/>
            <a:rect l="l" t="t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Rectangle 44"/>
          <p:cNvSpPr/>
          <p:nvPr/>
        </p:nvSpPr>
        <p:spPr>
          <a:xfrm>
            <a:off x="0" y="-720"/>
            <a:ext cx="9143640" cy="68536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fe7c4"/>
              </a:gs>
            </a:gsLst>
            <a:path path="circle">
              <a:fillToRect l="25000" t="25000" r="75000" b="75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3" name="Rectangle 46"/>
          <p:cNvSpPr/>
          <p:nvPr/>
        </p:nvSpPr>
        <p:spPr>
          <a:xfrm>
            <a:off x="0" y="0"/>
            <a:ext cx="3479400" cy="685764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05360" y="967320"/>
            <a:ext cx="2833920" cy="3942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500" spc="-1" strike="noStrike">
                <a:solidFill>
                  <a:srgbClr val="feffff"/>
                </a:solidFill>
                <a:latin typeface="Century Gothic"/>
              </a:rPr>
              <a:t>Questions</a:t>
            </a:r>
            <a:endParaRPr b="0" lang="en-US" sz="35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55" name="Freeform 5"/>
          <p:cNvSpPr/>
          <p:nvPr/>
        </p:nvSpPr>
        <p:spPr>
          <a:xfrm>
            <a:off x="0" y="5033160"/>
            <a:ext cx="4052520" cy="856800"/>
          </a:xfrm>
          <a:custGeom>
            <a:avLst/>
            <a:gdLst/>
            <a:ahLst/>
            <a:rect l="l" t="t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6" name="Graphic 9" descr="Help"/>
          <p:cNvPicPr/>
          <p:nvPr/>
        </p:nvPicPr>
        <p:blipFill>
          <a:blip r:embed="rId1"/>
          <a:stretch/>
        </p:blipFill>
        <p:spPr>
          <a:xfrm>
            <a:off x="4483440" y="972360"/>
            <a:ext cx="4230000" cy="4230000"/>
          </a:xfrm>
          <a:prstGeom prst="rect">
            <a:avLst/>
          </a:prstGeom>
          <a:ln w="0">
            <a:noFill/>
          </a:ln>
        </p:spPr>
      </p:pic>
      <p:sp>
        <p:nvSpPr>
          <p:cNvPr id="357" name="PlaceHolder 2"/>
          <p:cNvSpPr>
            <a:spLocks noGrp="1"/>
          </p:cNvSpPr>
          <p:nvPr>
            <p:ph type="ftr" idx="30"/>
          </p:nvPr>
        </p:nvSpPr>
        <p:spPr>
          <a:xfrm>
            <a:off x="405360" y="6135840"/>
            <a:ext cx="25660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Aft>
                <a:spcPts val="601"/>
              </a:spcAft>
              <a:buNone/>
              <a:defRPr b="0" lang="en-US" sz="9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900" spc="-1" strike="noStrike">
                <a:solidFill>
                  <a:srgbClr val="feffff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3200" cy="81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262626"/>
                </a:solidFill>
                <a:latin typeface="Century Gothic"/>
              </a:rPr>
              <a:t>References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8323200" cy="4987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entury Gothic"/>
              <a:buAutoNum type="arabicPeriod"/>
            </a:pPr>
            <a:r>
              <a:rPr b="0" lang="en-US" sz="1200" spc="-1" strike="noStrike">
                <a:solidFill>
                  <a:srgbClr val="222222"/>
                </a:solidFill>
                <a:latin typeface="Arial"/>
              </a:rPr>
              <a:t>Kumar, V., Grama, A., Gupta, A., &amp; Karypis, G. (1994). </a:t>
            </a:r>
            <a:r>
              <a:rPr b="0" i="1" lang="en-US" sz="1200" spc="-1" strike="noStrike">
                <a:solidFill>
                  <a:srgbClr val="222222"/>
                </a:solidFill>
                <a:latin typeface="Arial"/>
              </a:rPr>
              <a:t>Introduction to parallel computing</a:t>
            </a:r>
            <a:r>
              <a:rPr b="0" lang="en-US" sz="1200" spc="-1" strike="noStrike">
                <a:solidFill>
                  <a:srgbClr val="222222"/>
                </a:solidFill>
                <a:latin typeface="Arial"/>
              </a:rPr>
              <a:t> (Vol. 110). Redwood City, CA: Benjamin/Cummings.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entury Gothic"/>
              <a:buAutoNum type="arabicPeriod"/>
            </a:pPr>
            <a:r>
              <a:rPr b="0" lang="en-US" sz="1200" spc="-1" strike="noStrike">
                <a:solidFill>
                  <a:srgbClr val="222222"/>
                </a:solidFill>
                <a:latin typeface="Arial"/>
              </a:rPr>
              <a:t>Quinn, M. J. Parallel Programming in C with MPI and OpenMP,(2003).</a:t>
            </a: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ftr" idx="31"/>
          </p:nvPr>
        </p:nvSpPr>
        <p:spPr>
          <a:xfrm>
            <a:off x="711360" y="6322680"/>
            <a:ext cx="6227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2094</TotalTime>
  <Application>LibreOffice/7.3.7.2$Linux_X86_64 LibreOffice_project/30$Build-2</Application>
  <AppVersion>15.0000</AppVersion>
  <Words>1073</Words>
  <Paragraphs>171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2020-02-25T04:15:16Z</dcterms:created>
  <dc:creator>Muhammad Husnain</dc:creator>
  <dc:description/>
  <dc:language>en-US</dc:language>
  <cp:lastModifiedBy/>
  <dcterms:modified xsi:type="dcterms:W3CDTF">2024-11-12T13:03:42Z</dcterms:modified>
  <cp:revision>77</cp:revision>
  <dc:subject/>
  <dc:title>CS416 – Parallel and Distributed Computing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(4:3)</vt:lpwstr>
  </property>
  <property fmtid="{D5CDD505-2E9C-101B-9397-08002B2CF9AE}" pid="4" name="Slides">
    <vt:i4>22</vt:i4>
  </property>
</Properties>
</file>