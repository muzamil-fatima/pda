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39"/>
  </p:notesMasterIdLst>
  <p:sldIdLst>
    <p:sldId id="311" r:id="rId2"/>
    <p:sldId id="283" r:id="rId3"/>
    <p:sldId id="281" r:id="rId4"/>
    <p:sldId id="410" r:id="rId5"/>
    <p:sldId id="411" r:id="rId6"/>
    <p:sldId id="412" r:id="rId7"/>
    <p:sldId id="413" r:id="rId8"/>
    <p:sldId id="414" r:id="rId9"/>
    <p:sldId id="415" r:id="rId10"/>
    <p:sldId id="286" r:id="rId11"/>
    <p:sldId id="287" r:id="rId12"/>
    <p:sldId id="288" r:id="rId13"/>
    <p:sldId id="289" r:id="rId14"/>
    <p:sldId id="290" r:id="rId15"/>
    <p:sldId id="416" r:id="rId16"/>
    <p:sldId id="418" r:id="rId17"/>
    <p:sldId id="419" r:id="rId18"/>
    <p:sldId id="420" r:id="rId19"/>
    <p:sldId id="417" r:id="rId20"/>
    <p:sldId id="421" r:id="rId21"/>
    <p:sldId id="422" r:id="rId22"/>
    <p:sldId id="423" r:id="rId23"/>
    <p:sldId id="443" r:id="rId24"/>
    <p:sldId id="274" r:id="rId25"/>
    <p:sldId id="424" r:id="rId26"/>
    <p:sldId id="425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280" r:id="rId35"/>
    <p:sldId id="297" r:id="rId36"/>
    <p:sldId id="298" r:id="rId37"/>
    <p:sldId id="285" r:id="rId3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87199" autoAdjust="0"/>
  </p:normalViewPr>
  <p:slideViewPr>
    <p:cSldViewPr snapToGrid="0">
      <p:cViewPr varScale="1">
        <p:scale>
          <a:sx n="67" d="100"/>
          <a:sy n="67" d="100"/>
        </p:scale>
        <p:origin x="1308" y="66"/>
      </p:cViewPr>
      <p:guideLst/>
    </p:cSldViewPr>
  </p:slideViewPr>
  <p:outlineViewPr>
    <p:cViewPr>
      <p:scale>
        <a:sx n="33" d="100"/>
        <a:sy n="33" d="100"/>
      </p:scale>
      <p:origin x="0" y="-1212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86A7654-4E2B-4822-BAE0-8BF48C8D095C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D701400-B431-4047-89AC-DA61F7C3E0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9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9C32AA-29E0-4558-BC14-174AC8456D6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846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1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example, in dense matrix-vector diagram, all the tasks can be shown independent in dependency graph. Since originally there is only one copy of the vector </a:t>
            </a:r>
            <a:r>
              <a:rPr lang="en-US" i="1" dirty="0"/>
              <a:t>b</a:t>
            </a:r>
            <a:r>
              <a:rPr lang="en-US" dirty="0"/>
              <a:t>, tasks may have to send and receive messages for all of them to access the entire vector in the distributed-memory paradigm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671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example, all the tasks can be shown independent in dependency graph of matrix-vector multiplication. Since originally there is only one copy of the vector </a:t>
            </a:r>
            <a:r>
              <a:rPr lang="en-US" i="1" dirty="0"/>
              <a:t>b</a:t>
            </a:r>
            <a:r>
              <a:rPr lang="en-US" dirty="0"/>
              <a:t>, tasks may have to send and receive messages for all of them to access the entire vector in the distributed-memory paradigm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112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Each task is assigned computation of single element of output vector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Furthermore, we make task(</a:t>
            </a:r>
            <a:r>
              <a:rPr lang="en-US" dirty="0" err="1"/>
              <a:t>i</a:t>
            </a:r>
            <a:r>
              <a:rPr lang="en-US" dirty="0"/>
              <a:t>) the owner of row A[</a:t>
            </a:r>
            <a:r>
              <a:rPr lang="en-US" dirty="0" err="1"/>
              <a:t>i</a:t>
            </a:r>
            <a:r>
              <a:rPr lang="en-US" dirty="0"/>
              <a:t>,*]  and input vector element b[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733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parallel program must have several processes active and simultaneously working on different tasks to gain a significant speedup over the sequential program. 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213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in 3.7 (b), Task 5 is assigned to P2?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039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749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44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03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Task: The work of partitioning a given subsequence is considered as a task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step: only one process is active. Parallelism increases as number of subproblems increases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78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Task: The work of partitioning a given subsequence is considered as a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448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Task: each task is assigned the work of finding minimum of the two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401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25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40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22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884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e.g., finding sum of N sized array using p processors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5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frequencies of both the tasks will result in global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9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80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result shall be obtained by adding results of the tasks:-</a:t>
            </a:r>
          </a:p>
          <a:p>
            <a:r>
              <a:rPr lang="en-US" dirty="0"/>
              <a:t>task1 and task3</a:t>
            </a:r>
          </a:p>
          <a:p>
            <a:r>
              <a:rPr lang="en-US" dirty="0"/>
              <a:t>Task 2 and task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27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2351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17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81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309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data decomposition, we must complete each task in any case. While in exploratory decomposition, all the tasks terminate as soon as the goal state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7719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space explored by parallel and sequential algorithms can be different</a:t>
            </a:r>
          </a:p>
          <a:p>
            <a:r>
              <a:rPr lang="en-US" dirty="0"/>
              <a:t>3.19 b) Speedups of the parallel formulation fluctuate greatly based on the position of the goal in the search space. Although doing 4 times more work in parallel, but can’t achieve any speedup.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726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speculation was wrong, then you would have to pay overhead of rolling back the computation.</a:t>
            </a:r>
          </a:p>
          <a:p>
            <a:r>
              <a:rPr lang="en-US" dirty="0"/>
              <a:t>Different from exploratory as input at a branch leading to multiple parallel  task is unknown while in exploratory output(result) at each branch is unknown.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Expression– expression may be calculated based on complex computation of previous data.</a:t>
            </a:r>
          </a:p>
          <a:p>
            <a:r>
              <a:rPr lang="en-US" dirty="0"/>
              <a:t>While  task 0 is completing its execution , task 1 to 3 can start their computation.</a:t>
            </a:r>
          </a:p>
          <a:p>
            <a:r>
              <a:rPr lang="en-US" dirty="0"/>
              <a:t>Once the output of task 0 is clear, the computation of correct task shall be considered and forwarded for further computation.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7328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C, D, and E can speculate some input and start computation before A can generate any output. If on the output of A, C’s speculation was correct, then most of the work would have already been completed.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4008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larger set of elements, finding minimum using recursive decomposition can generate far more tasks than number of processors.</a:t>
            </a:r>
          </a:p>
          <a:p>
            <a:r>
              <a:rPr lang="en-US" dirty="0"/>
              <a:t>Better method: partition into P parts, find minimum in each part and combine the results. </a:t>
            </a:r>
          </a:p>
          <a:p>
            <a:r>
              <a:rPr lang="en-US" dirty="0"/>
              <a:t>Input data decomposition.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720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0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CA9089-BA50-48F1-9FCE-E07385CE0D11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0EB7319F-4077-44B4-9A6C-FEF1EF56DF1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0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4987331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6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86261" y="6322697"/>
            <a:ext cx="1348509" cy="370171"/>
          </a:xfrm>
        </p:spPr>
        <p:txBody>
          <a:bodyPr/>
          <a:lstStyle/>
          <a:p>
            <a:pPr>
              <a:defRPr/>
            </a:pPr>
            <a:fld id="{6357D887-9534-43B3-82B7-9F29398FC0F2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1218" y="6322697"/>
            <a:ext cx="6227641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88"/>
            <a:ext cx="702307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1" y="782633"/>
            <a:ext cx="584978" cy="365125"/>
          </a:xfrm>
        </p:spPr>
        <p:txBody>
          <a:bodyPr/>
          <a:lstStyle/>
          <a:p>
            <a:fld id="{C50AD498-1756-4FAA-884D-721A5EF92E8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120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4CA910-0FAC-42D8-982A-0B153F0F8C4D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C59533-E7C0-4494-9DC9-3F44FD5B22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33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0321" y="1280278"/>
            <a:ext cx="4126722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800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9565" y="1281539"/>
            <a:ext cx="4126157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3010" y="6368709"/>
            <a:ext cx="1361760" cy="370171"/>
          </a:xfrm>
        </p:spPr>
        <p:txBody>
          <a:bodyPr/>
          <a:lstStyle/>
          <a:p>
            <a:pPr>
              <a:defRPr/>
            </a:pPr>
            <a:fld id="{D8F4A0CB-3D83-41C3-A25F-84FD4EC4678E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2365" y="6365849"/>
            <a:ext cx="6236494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9" y="711190"/>
            <a:ext cx="70230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162" y="782633"/>
            <a:ext cx="584978" cy="365125"/>
          </a:xfrm>
        </p:spPr>
        <p:txBody>
          <a:bodyPr/>
          <a:lstStyle/>
          <a:p>
            <a:fld id="{4B01923B-769F-4373-B3D8-C2DA6094E9C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4468" y="142188"/>
            <a:ext cx="831030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575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167136-EE50-4132-8C60-F6FB6DEC953D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E6CBD27-9711-4E21-8679-3436A2D8D267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1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CFB28E-3112-4069-ADC4-6D93857EDCF6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7EDB-9B1E-42BE-B450-001CA8028EA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483558-E690-49CA-A9CE-3FAD3B9E7631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0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072607-BCED-4DF2-BC02-1A81D7EF5DC5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D973-3C1B-4A83-87AE-CB7A258334E1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36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A81EDC-CACB-47B2-B9D2-B6278B9DCE3E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1426E4D-2F12-42DC-9E77-4F2E38723F6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1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845E4B-D89E-4FB7-9CA5-65F2C1879B96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2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D5B56D-85AF-4298-B073-03021D2DBE3C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146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DE21E2-4762-40B4-8082-74E93A230E26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EF1C7BC-CD3F-40CC-BE8C-98E653ADE3E6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6372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645E02-905B-47B3-A69A-6C82111AC744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0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71ED92-8BB0-41DD-B208-371A4C2907DF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17B6-24F4-4090-A44B-3393AA32DD5C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22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CC8154-EE3E-4634-89A5-196595E4CC27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8F4FB-256D-429C-81CA-F531534D6146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4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8939" y="6135089"/>
            <a:ext cx="1289841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4476EB-5B86-4A92-8DB3-91E242ADC74C}" type="datetime1">
              <a:rPr lang="en-US" altLang="en-US" smtClean="0">
                <a:solidFill>
                  <a:srgbClr val="000000"/>
                </a:solidFill>
              </a:rPr>
              <a:t>5/23/2024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107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72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3717" y="1320921"/>
            <a:ext cx="8229600" cy="4997450"/>
          </a:xfrm>
        </p:spPr>
        <p:txBody>
          <a:bodyPr>
            <a:normAutofit/>
          </a:bodyPr>
          <a:lstStyle/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4400" b="1" dirty="0">
                <a:solidFill>
                  <a:srgbClr val="0070C0"/>
                </a:solidFill>
              </a:rPr>
              <a:t>Parallel and Distributed Computing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2800" dirty="0"/>
          </a:p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3200" b="1" dirty="0" smtClean="0">
                <a:solidFill>
                  <a:srgbClr val="FF0000"/>
                </a:solidFill>
              </a:rPr>
              <a:t>Decomposition </a:t>
            </a:r>
            <a:r>
              <a:rPr lang="en-GB" sz="3200" b="1" dirty="0">
                <a:solidFill>
                  <a:srgbClr val="FF0000"/>
                </a:solidFill>
              </a:rPr>
              <a:t>Techniques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3200" dirty="0"/>
          </a:p>
          <a:p>
            <a:pPr marL="0" indent="0" algn="r">
              <a:buFont typeface="Monotype Sorts" pitchFamily="-84" charset="2"/>
              <a:buNone/>
              <a:defRPr/>
            </a:pPr>
            <a:endParaRPr lang="en-GB" sz="1200" dirty="0">
              <a:solidFill>
                <a:srgbClr val="00B050"/>
              </a:solidFill>
            </a:endParaRPr>
          </a:p>
          <a:p>
            <a:pPr marL="0" indent="0" algn="r">
              <a:buFont typeface="Monotype Sorts" pitchFamily="-84" charset="2"/>
              <a:buNone/>
              <a:defRPr/>
            </a:pPr>
            <a:r>
              <a:rPr lang="en-GB" sz="1200" dirty="0"/>
              <a:t> 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cy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AD2F4-49D4-4424-9182-5F9B8A19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1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Quick Review</a:t>
            </a:r>
          </a:p>
          <a:p>
            <a:pPr algn="just"/>
            <a:r>
              <a:rPr lang="en-US" b="1" dirty="0"/>
              <a:t>Decomposition Techniques</a:t>
            </a:r>
          </a:p>
          <a:p>
            <a:pPr lvl="1" algn="just"/>
            <a:r>
              <a:rPr lang="en-US" dirty="0"/>
              <a:t>Recursive </a:t>
            </a:r>
          </a:p>
          <a:p>
            <a:pPr lvl="1" algn="just"/>
            <a:r>
              <a:rPr lang="en-US" dirty="0"/>
              <a:t>Data-decomposition</a:t>
            </a:r>
          </a:p>
          <a:p>
            <a:pPr lvl="1" algn="just"/>
            <a:r>
              <a:rPr lang="en-US" dirty="0"/>
              <a:t>Exploratory </a:t>
            </a:r>
          </a:p>
          <a:p>
            <a:pPr lvl="1" algn="just"/>
            <a:r>
              <a:rPr lang="en-US" dirty="0"/>
              <a:t>Speculative </a:t>
            </a:r>
            <a:endParaRPr lang="en-US" altLang="en-US" dirty="0"/>
          </a:p>
          <a:p>
            <a:r>
              <a:rPr lang="en-US" altLang="en-US" b="1" dirty="0"/>
              <a:t>Task-interaction Diagrams</a:t>
            </a:r>
          </a:p>
          <a:p>
            <a:pPr lvl="1"/>
            <a:r>
              <a:rPr lang="en-US" altLang="en-US" dirty="0"/>
              <a:t>Processes and mapping</a:t>
            </a:r>
          </a:p>
          <a:p>
            <a:pPr marL="0" indent="0" algn="just">
              <a:buNone/>
            </a:pPr>
            <a:endParaRPr lang="en-US" altLang="en-US" dirty="0"/>
          </a:p>
          <a:p>
            <a:pPr algn="just"/>
            <a:endParaRPr lang="en-US" altLang="en-US" dirty="0"/>
          </a:p>
          <a:p>
            <a:pPr marL="0" indent="0" algn="just">
              <a:buNone/>
            </a:pPr>
            <a:endParaRPr lang="en-US" alt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024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Quick Review to the 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r>
              <a:rPr lang="en-US" altLang="en-US" dirty="0"/>
              <a:t>Parallel Algorithm Design Life Cycle</a:t>
            </a:r>
          </a:p>
          <a:p>
            <a:r>
              <a:rPr lang="en-US" altLang="en-US" dirty="0"/>
              <a:t>Tasks, Decomposition, and Task-dependency graphs</a:t>
            </a:r>
          </a:p>
          <a:p>
            <a:r>
              <a:rPr lang="en-US" altLang="en-US" dirty="0"/>
              <a:t>Granularity</a:t>
            </a:r>
          </a:p>
          <a:p>
            <a:pPr lvl="1"/>
            <a:r>
              <a:rPr lang="en-US" altLang="en-US" dirty="0"/>
              <a:t>Fine-grained</a:t>
            </a:r>
          </a:p>
          <a:p>
            <a:pPr lvl="1"/>
            <a:r>
              <a:rPr lang="en-US" altLang="en-US" dirty="0"/>
              <a:t>Coarse-grained</a:t>
            </a:r>
          </a:p>
          <a:p>
            <a:r>
              <a:rPr lang="en-US" altLang="en-US" dirty="0"/>
              <a:t>Concurrency</a:t>
            </a:r>
          </a:p>
          <a:p>
            <a:pPr lvl="1"/>
            <a:r>
              <a:rPr lang="en-US" altLang="en-US" dirty="0"/>
              <a:t>Max-degree of concurrency</a:t>
            </a:r>
          </a:p>
          <a:p>
            <a:pPr lvl="1"/>
            <a:r>
              <a:rPr lang="en-US" altLang="en-US" dirty="0"/>
              <a:t>Critical path length</a:t>
            </a:r>
          </a:p>
          <a:p>
            <a:pPr lvl="1"/>
            <a:r>
              <a:rPr lang="en-US" altLang="en-US" dirty="0"/>
              <a:t>Average-degree of concurrency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925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Principals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Task Interaction </a:t>
            </a:r>
            <a:r>
              <a:rPr lang="en-US" b="1" dirty="0"/>
              <a:t>Graph</a:t>
            </a:r>
          </a:p>
          <a:p>
            <a:r>
              <a:rPr lang="en-US" dirty="0"/>
              <a:t>Depicts pattern of interaction between the tasks</a:t>
            </a:r>
          </a:p>
          <a:p>
            <a:r>
              <a:rPr lang="en-US" dirty="0"/>
              <a:t>Dependency graphs only show that how output of first task becomes input to the next level task.</a:t>
            </a:r>
          </a:p>
          <a:p>
            <a:r>
              <a:rPr lang="en-US" dirty="0"/>
              <a:t>But how the tasks interact with each other  to access distributed data is only depicted by task interaction graphs</a:t>
            </a:r>
          </a:p>
          <a:p>
            <a:r>
              <a:rPr lang="en-US" dirty="0"/>
              <a:t>The nodes in a task-interaction graph represent tasks</a:t>
            </a:r>
          </a:p>
          <a:p>
            <a:r>
              <a:rPr lang="en-US" dirty="0"/>
              <a:t>The edges connect tasks that interact with each other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72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Principals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 Interact Graph</a:t>
            </a:r>
          </a:p>
          <a:p>
            <a:r>
              <a:rPr lang="en-US" dirty="0"/>
              <a:t>The edges in a task interaction graph are usually </a:t>
            </a:r>
            <a:r>
              <a:rPr lang="en-US" b="1" dirty="0"/>
              <a:t>undirected</a:t>
            </a:r>
          </a:p>
          <a:p>
            <a:pPr lvl="1"/>
            <a:r>
              <a:rPr lang="en-US" dirty="0"/>
              <a:t> but directed edges can be used to indicate the direction of flow of data, if it is unidirectional.</a:t>
            </a:r>
          </a:p>
          <a:p>
            <a:r>
              <a:rPr lang="en-US" dirty="0"/>
              <a:t>The edge-set of a task-interaction graph is usually a </a:t>
            </a:r>
            <a:r>
              <a:rPr lang="en-US" b="1" dirty="0"/>
              <a:t>superset</a:t>
            </a:r>
            <a:r>
              <a:rPr lang="en-US" dirty="0"/>
              <a:t> of the edge-set of the task-dependency graph</a:t>
            </a:r>
          </a:p>
          <a:p>
            <a:r>
              <a:rPr lang="en-US" dirty="0"/>
              <a:t>In database query processing example, the task-interaction graph is the </a:t>
            </a:r>
            <a:r>
              <a:rPr lang="en-US" b="1" dirty="0"/>
              <a:t>same</a:t>
            </a:r>
            <a:r>
              <a:rPr lang="en-US" dirty="0"/>
              <a:t> as the task-dependency graph.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56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3B878926-C00A-421A-B6D3-ACAC7F8DA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44" y="1733554"/>
            <a:ext cx="8683625" cy="434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Principals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 Interact Graph (</a:t>
            </a:r>
            <a:r>
              <a:rPr lang="en-US" dirty="0"/>
              <a:t>Sparse-matrix multiplication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87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Principals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Processes and Mapping</a:t>
            </a:r>
          </a:p>
          <a:p>
            <a:r>
              <a:rPr lang="en-US" dirty="0"/>
              <a:t>Logical processing or computing agent that performs tasks is called </a:t>
            </a:r>
            <a:r>
              <a:rPr lang="en-US" b="1" dirty="0"/>
              <a:t>process</a:t>
            </a:r>
            <a:r>
              <a:rPr lang="en-US" dirty="0"/>
              <a:t>.</a:t>
            </a:r>
          </a:p>
          <a:p>
            <a:r>
              <a:rPr lang="en-US" dirty="0"/>
              <a:t>The mechanism by which tasks are assigned to processes for execution is called </a:t>
            </a:r>
            <a:r>
              <a:rPr lang="en-US" b="1" i="1" dirty="0"/>
              <a:t>mapping.</a:t>
            </a:r>
          </a:p>
          <a:p>
            <a:r>
              <a:rPr lang="en-US" dirty="0"/>
              <a:t>Multiple tasks can be mapped on a single process </a:t>
            </a:r>
            <a:endParaRPr lang="en-US" b="1" i="1" dirty="0"/>
          </a:p>
          <a:p>
            <a:r>
              <a:rPr lang="en-US" dirty="0"/>
              <a:t>Independent task should be mapped onto different processes</a:t>
            </a:r>
          </a:p>
          <a:p>
            <a:r>
              <a:rPr lang="en-US" dirty="0"/>
              <a:t>Map tasks with high mutual-interactions onto a single process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20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5F692957-5E38-4CED-879F-1328103CB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" y="1755459"/>
            <a:ext cx="8683625" cy="456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Principals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Processes and Mapping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38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Principals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Processes and Processors</a:t>
            </a:r>
          </a:p>
          <a:p>
            <a:r>
              <a:rPr lang="en-US" b="1" dirty="0"/>
              <a:t>Processes </a:t>
            </a:r>
            <a:r>
              <a:rPr lang="en-US" dirty="0"/>
              <a:t>are logical computing agents that perform tasks</a:t>
            </a:r>
          </a:p>
          <a:p>
            <a:r>
              <a:rPr lang="en-US" b="1" dirty="0"/>
              <a:t>Processors</a:t>
            </a:r>
            <a:r>
              <a:rPr lang="en-US" dirty="0"/>
              <a:t> are the hardware units that physically perform computations</a:t>
            </a:r>
          </a:p>
          <a:p>
            <a:r>
              <a:rPr lang="en-US" dirty="0"/>
              <a:t>Depending on the problem, multiple processes can be mapped on a single processor</a:t>
            </a:r>
          </a:p>
          <a:p>
            <a:r>
              <a:rPr lang="en-US" dirty="0"/>
              <a:t>But, in most of the cases, there is one-to-one correspondence between processors and processes</a:t>
            </a:r>
          </a:p>
          <a:p>
            <a:r>
              <a:rPr lang="en-US" dirty="0"/>
              <a:t>So, we assume that there are as many processes as the number of physical CPUs on the parallel computer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21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process of decomposing larger problems into smaller tasks for concurrent executions, is known to as decomposition.</a:t>
            </a:r>
          </a:p>
          <a:p>
            <a:pPr algn="just"/>
            <a:r>
              <a:rPr lang="en-US" dirty="0"/>
              <a:t>The techniques that facilitate this decomposition are known to as decomposition techniques.</a:t>
            </a:r>
          </a:p>
          <a:p>
            <a:pPr algn="just"/>
            <a:r>
              <a:rPr lang="en-US" b="1" dirty="0"/>
              <a:t>Common techniques:</a:t>
            </a:r>
          </a:p>
          <a:p>
            <a:pPr lvl="1" algn="just"/>
            <a:r>
              <a:rPr lang="en-US" dirty="0"/>
              <a:t>Recursive</a:t>
            </a:r>
          </a:p>
          <a:p>
            <a:pPr lvl="1" algn="just"/>
            <a:r>
              <a:rPr lang="en-US" dirty="0"/>
              <a:t>Data-decomposition</a:t>
            </a:r>
          </a:p>
          <a:p>
            <a:pPr lvl="1" algn="just"/>
            <a:r>
              <a:rPr lang="en-US" dirty="0"/>
              <a:t>Exploratory decomposition</a:t>
            </a:r>
          </a:p>
          <a:p>
            <a:pPr lvl="1" algn="just"/>
            <a:r>
              <a:rPr lang="en-US" dirty="0"/>
              <a:t>Speculative decomposition</a:t>
            </a:r>
          </a:p>
          <a:p>
            <a:pPr lvl="1" algn="just"/>
            <a:r>
              <a:rPr lang="en-US" dirty="0"/>
              <a:t>Hybrid</a:t>
            </a:r>
          </a:p>
          <a:p>
            <a:pPr algn="just"/>
            <a:r>
              <a:rPr lang="en-US" dirty="0"/>
              <a:t>Recursive and data decompositions are relatively general purpose</a:t>
            </a:r>
          </a:p>
          <a:p>
            <a:pPr algn="just"/>
            <a:r>
              <a:rPr lang="en-US" dirty="0"/>
              <a:t>Exploratory and speculative are special purpose in nature</a:t>
            </a:r>
          </a:p>
          <a:p>
            <a:pPr lvl="1" algn="just"/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887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1. Recursive Task Decomposition</a:t>
            </a:r>
          </a:p>
          <a:p>
            <a:r>
              <a:rPr lang="en-US" dirty="0"/>
              <a:t>Recursive decomposition is a method for inducing concurrency in the problems that can be solved using divide and conquer strategy</a:t>
            </a:r>
          </a:p>
          <a:p>
            <a:r>
              <a:rPr lang="en-US" dirty="0"/>
              <a:t>Divides each problem into a set of independent sub-problems</a:t>
            </a:r>
          </a:p>
          <a:p>
            <a:r>
              <a:rPr lang="en-US"/>
              <a:t>Each </a:t>
            </a:r>
            <a:r>
              <a:rPr lang="en-US" dirty="0"/>
              <a:t>one of these subproblems is solved by recursively applying a similar division into smaller subproblems followed by a combination of their results</a:t>
            </a:r>
          </a:p>
          <a:p>
            <a:r>
              <a:rPr lang="en-US" dirty="0"/>
              <a:t>A natural concurrency exists as different subproblems can be solved concurrently.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701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A00164E7-E71D-46AC-AD28-ADDD9C528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" y="1559835"/>
            <a:ext cx="8683625" cy="499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Recursive Decomposition (Example: </a:t>
            </a:r>
            <a:r>
              <a:rPr lang="en-US" dirty="0"/>
              <a:t>Quick sort</a:t>
            </a:r>
            <a:r>
              <a:rPr lang="en-US" b="1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14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88D52889-18E7-4271-91F0-59446C2EA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915" y="508434"/>
            <a:ext cx="6344969" cy="6263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89" y="2354638"/>
            <a:ext cx="1969696" cy="21487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dirty="0"/>
              <a:t>Recursive Decomposition (</a:t>
            </a:r>
            <a:r>
              <a:rPr lang="en-US" sz="1800" dirty="0"/>
              <a:t>Modifying simple problem to </a:t>
            </a:r>
            <a:r>
              <a:rPr lang="en-US" sz="1800" b="1" dirty="0"/>
              <a:t> </a:t>
            </a:r>
            <a:r>
              <a:rPr lang="en-US" sz="1800" dirty="0"/>
              <a:t>support recursive decomposition</a:t>
            </a:r>
            <a:r>
              <a:rPr lang="en-US" sz="1800" b="1" dirty="0"/>
              <a:t>)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4961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9D06C626-45D4-454A-A6B0-0D33AF4DA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00" y="1985958"/>
            <a:ext cx="8683625" cy="4336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474" y="1147758"/>
            <a:ext cx="7971125" cy="6483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dirty="0"/>
              <a:t>Recursive Decomposition (</a:t>
            </a:r>
            <a:r>
              <a:rPr lang="en-US" sz="1800" dirty="0"/>
              <a:t>Modifying simple problem to </a:t>
            </a:r>
            <a:r>
              <a:rPr lang="en-US" sz="1800" b="1" dirty="0"/>
              <a:t> </a:t>
            </a:r>
            <a:r>
              <a:rPr lang="en-US" sz="1800" dirty="0"/>
              <a:t>support recursive decomposition</a:t>
            </a:r>
            <a:r>
              <a:rPr lang="en-US" sz="1800" b="1" dirty="0"/>
              <a:t>)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410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2. Data Decomposition</a:t>
            </a:r>
          </a:p>
          <a:p>
            <a:r>
              <a:rPr lang="en-US" dirty="0"/>
              <a:t>Powerful and commonly used method</a:t>
            </a:r>
          </a:p>
          <a:p>
            <a:r>
              <a:rPr lang="en-US" dirty="0"/>
              <a:t>Two step procedure: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Partition data on which computation is to be performed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This data partitioning is used to induce a partitioning of the computations into tasks.</a:t>
            </a:r>
          </a:p>
          <a:p>
            <a:pPr marL="514350" indent="-457200"/>
            <a:r>
              <a:rPr lang="en-US" b="1" dirty="0"/>
              <a:t>Partitioning output data</a:t>
            </a:r>
          </a:p>
          <a:p>
            <a:pPr lvl="1"/>
            <a:r>
              <a:rPr lang="en-US" dirty="0"/>
              <a:t>Used where each element of the output can be computed independently of others as a function of the input.</a:t>
            </a:r>
          </a:p>
          <a:p>
            <a:pPr lvl="1"/>
            <a:r>
              <a:rPr lang="en-US" dirty="0"/>
              <a:t>Partitioning of the output data automatically induces a decomposition of the problems into tasks</a:t>
            </a:r>
          </a:p>
          <a:p>
            <a:pPr lvl="1"/>
            <a:r>
              <a:rPr lang="en-US" dirty="0"/>
              <a:t>each task is assigned the work of computing a portion of the output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715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Data Decomposition (</a:t>
            </a:r>
            <a:r>
              <a:rPr lang="en-US" dirty="0"/>
              <a:t>Partitioning Output Data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7B9576CE-7E25-4C78-A82D-5C693F2AA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" y="2250759"/>
            <a:ext cx="8683625" cy="407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467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Data Decomposition (</a:t>
            </a:r>
            <a:r>
              <a:rPr lang="en-US" dirty="0"/>
              <a:t>Partitioning Output Data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240702D-EF01-42EB-9177-50CF61E41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6" y="1817290"/>
            <a:ext cx="8440880" cy="4410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78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CB4CC65B-0208-4E41-88CC-4926FBD34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19" y="614546"/>
            <a:ext cx="8166866" cy="6243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298" y="1335366"/>
            <a:ext cx="584979" cy="4987331"/>
          </a:xfrm>
        </p:spPr>
        <p:txBody>
          <a:bodyPr vert="vert"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(</a:t>
            </a:r>
            <a:r>
              <a:rPr lang="en-US" dirty="0"/>
              <a:t>Partitioning Output Data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542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Data Decomposition</a:t>
            </a:r>
          </a:p>
          <a:p>
            <a:pPr marL="0" indent="0" algn="just">
              <a:buNone/>
            </a:pPr>
            <a:r>
              <a:rPr lang="en-US" u="sng" dirty="0"/>
              <a:t>Partitioning input data</a:t>
            </a:r>
          </a:p>
          <a:p>
            <a:r>
              <a:rPr lang="en-US" dirty="0"/>
              <a:t>In many algorithms, it is not possible or desirable to partition the output data.</a:t>
            </a:r>
          </a:p>
          <a:p>
            <a:pPr lvl="2"/>
            <a:r>
              <a:rPr lang="en-US" dirty="0"/>
              <a:t>The output may be a single unknown value. Such as in case of finding sum, minimum, maximum or frequencies of a number.</a:t>
            </a:r>
          </a:p>
          <a:p>
            <a:r>
              <a:rPr lang="en-US" dirty="0"/>
              <a:t>It is sometimes possible to partition the input data, and then use this partitioning to induce concurrency</a:t>
            </a:r>
          </a:p>
          <a:p>
            <a:r>
              <a:rPr lang="en-US" dirty="0"/>
              <a:t>A task is created for each partition of the input data and this task performs as much computation as possible using these local data</a:t>
            </a:r>
          </a:p>
          <a:p>
            <a:r>
              <a:rPr lang="en-US" dirty="0"/>
              <a:t>Then local solutions are combined to generate a global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5645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41FA2-0315-4797-8CDB-A6849B9E6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0" y="1912870"/>
            <a:ext cx="8550110" cy="40144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Partitioning input data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403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Data Decomposition</a:t>
            </a:r>
          </a:p>
          <a:p>
            <a:pPr marL="0" indent="0" algn="just">
              <a:buNone/>
            </a:pPr>
            <a:r>
              <a:rPr lang="en-US" u="sng" dirty="0"/>
              <a:t>Partitioning both input and output data</a:t>
            </a:r>
          </a:p>
          <a:p>
            <a:r>
              <a:rPr lang="en-US" dirty="0"/>
              <a:t>Consider the problems where output data-partitioning is possible</a:t>
            </a:r>
          </a:p>
          <a:p>
            <a:r>
              <a:rPr lang="en-US" dirty="0"/>
              <a:t>Here, partitioning the input also, can offer additional concurrency</a:t>
            </a:r>
          </a:p>
          <a:p>
            <a:r>
              <a:rPr lang="en-US" dirty="0"/>
              <a:t>The next example shows 4-way decomposition of the previous example based on both input-output partitioning.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9393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34413" y="1262355"/>
            <a:ext cx="1071625" cy="5484976"/>
          </a:xfrm>
        </p:spPr>
        <p:txBody>
          <a:bodyPr vert="vert">
            <a:normAutofit fontScale="92500"/>
          </a:bodyPr>
          <a:lstStyle/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r>
              <a:rPr lang="en-US" dirty="0"/>
              <a:t>Partitioning both input and output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63E9-91E2-4978-A1B1-A1CFC3EB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62954-6AE1-4A44-ADC4-CF327A738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18" y="965195"/>
            <a:ext cx="8041394" cy="580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7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E888D3D4-79D7-4799-AA09-9E7C1BB2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142" y="878312"/>
            <a:ext cx="7272640" cy="544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34413" y="1262355"/>
            <a:ext cx="1071625" cy="5484976"/>
          </a:xfrm>
        </p:spPr>
        <p:txBody>
          <a:bodyPr vert="vert">
            <a:normAutofit/>
          </a:bodyPr>
          <a:lstStyle/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r>
              <a:rPr lang="en-US" dirty="0"/>
              <a:t>Partitioning both intermediate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0AD498-1756-4FAA-884D-721A5EF92E83}" type="slidenum"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91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>
            <a:extLst>
              <a:ext uri="{FF2B5EF4-FFF2-40B4-BE49-F238E27FC236}">
                <a16:creationId xmlns:a16="http://schemas.microsoft.com/office/drawing/2014/main" id="{75CF2734-5327-4210-9D56-57152BDCC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1600200"/>
            <a:ext cx="8683625" cy="360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Owner Compute Rule </a:t>
            </a:r>
            <a:endParaRPr lang="en-US" u="sng" dirty="0"/>
          </a:p>
          <a:p>
            <a:r>
              <a:rPr lang="en-US" dirty="0"/>
              <a:t>Task decomposition based on data-partitioning is widely known as owner compute rule.</a:t>
            </a:r>
          </a:p>
          <a:p>
            <a:r>
              <a:rPr lang="en-US" dirty="0"/>
              <a:t>Two types of partitioning hence, two definitions: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we assign partitions of the input data to tasks: </a:t>
            </a:r>
          </a:p>
          <a:p>
            <a:pPr lvl="1"/>
            <a:r>
              <a:rPr lang="en-US" dirty="0"/>
              <a:t>The  rule means that a task performs all the computations that can be done using these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we assign partition of output data to the tasks:</a:t>
            </a:r>
          </a:p>
          <a:p>
            <a:pPr lvl="1"/>
            <a:r>
              <a:rPr lang="en-US" dirty="0"/>
              <a:t>The rule means that a task computes all the data in the partition assigned to it (portion of </a:t>
            </a:r>
            <a:r>
              <a:rPr lang="en-US" dirty="0" err="1"/>
              <a:t>theoutput</a:t>
            </a:r>
            <a:r>
              <a:rPr lang="en-US" dirty="0"/>
              <a:t>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887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3. Exploratory Decomposition</a:t>
            </a:r>
          </a:p>
          <a:p>
            <a:r>
              <a:rPr lang="en-US" dirty="0"/>
              <a:t>Specially used to decompose the problems having underlying computation like search-space exploration.</a:t>
            </a:r>
          </a:p>
          <a:p>
            <a:r>
              <a:rPr lang="en-US" dirty="0"/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Partition the search space into smaller parts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Search each one of these parts concurrently, until the desired solutions are found.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687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3. Exploratory Decomposition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0C7751C-5434-4ED8-A9A9-69A4BC874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0" y="2117271"/>
            <a:ext cx="8683625" cy="305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725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EF0CFC0-6D2A-4CED-AB84-509006CCF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807" y="-25764"/>
            <a:ext cx="4392385" cy="651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01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29</a:t>
            </a:fld>
            <a:endParaRPr lang="en-US" alt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F42187F-9648-4CF6-8E80-972878A8A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600200"/>
            <a:ext cx="8683625" cy="366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696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4. Speculative Decomposition</a:t>
            </a:r>
          </a:p>
          <a:p>
            <a:r>
              <a:rPr lang="en-US" dirty="0"/>
              <a:t>Usually used in the problems where different input values or output of previous stage causes many computationally intensive branches.</a:t>
            </a:r>
          </a:p>
          <a:p>
            <a:r>
              <a:rPr lang="en-US" dirty="0"/>
              <a:t>Speculation is something like Gamble or Risk or preliminary guess.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Speculate(guess) the output of previous stage</a:t>
            </a:r>
          </a:p>
          <a:p>
            <a:pPr lvl="1"/>
            <a:r>
              <a:rPr lang="en-US" dirty="0"/>
              <a:t>Start performing computations in the next stage before even the completion of the previous stage.</a:t>
            </a:r>
          </a:p>
          <a:p>
            <a:pPr lvl="1"/>
            <a:r>
              <a:rPr lang="en-US" dirty="0"/>
              <a:t>After availability of the output of previous stage, if speculation was correct than most of the computation for next step would have already been done.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948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4. Speculative Decomposition</a:t>
            </a:r>
          </a:p>
          <a:p>
            <a:r>
              <a:rPr lang="en-US" dirty="0"/>
              <a:t>Switch Example Algorithm:</a:t>
            </a:r>
          </a:p>
          <a:p>
            <a:pPr marL="0" indent="0">
              <a:buNone/>
            </a:pPr>
            <a:r>
              <a:rPr lang="en-US" dirty="0"/>
              <a:t>1: Calculate expression for the switch condition </a:t>
            </a:r>
            <a:r>
              <a:rPr lang="en-US" dirty="0">
                <a:sym typeface="Wingdings" panose="05000000000000000000" pitchFamily="2" charset="2"/>
              </a:rPr>
              <a:t> task 0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2: 		Case 0: Multiply vector </a:t>
            </a:r>
            <a:r>
              <a:rPr lang="en-US" b="1" dirty="0"/>
              <a:t>b </a:t>
            </a:r>
            <a:r>
              <a:rPr lang="en-US" dirty="0"/>
              <a:t>with matrix </a:t>
            </a:r>
            <a:r>
              <a:rPr lang="en-US" b="1" dirty="0"/>
              <a:t>A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task 1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3: 		Case 1: Multiply vector </a:t>
            </a:r>
            <a:r>
              <a:rPr lang="en-US" b="1" dirty="0"/>
              <a:t>c </a:t>
            </a:r>
            <a:r>
              <a:rPr lang="en-US" dirty="0"/>
              <a:t>with matrix </a:t>
            </a:r>
            <a:r>
              <a:rPr lang="en-US" b="1" dirty="0"/>
              <a:t>A </a:t>
            </a:r>
            <a:r>
              <a:rPr lang="en-US" dirty="0">
                <a:sym typeface="Wingdings" panose="05000000000000000000" pitchFamily="2" charset="2"/>
              </a:rPr>
              <a:t> task 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4: 		Case 2: Multiply vector </a:t>
            </a:r>
            <a:r>
              <a:rPr lang="en-US" b="1" dirty="0"/>
              <a:t>d </a:t>
            </a:r>
            <a:r>
              <a:rPr lang="en-US" dirty="0"/>
              <a:t>with matrix </a:t>
            </a:r>
            <a:r>
              <a:rPr lang="en-US" b="1" dirty="0"/>
              <a:t>A </a:t>
            </a:r>
            <a:r>
              <a:rPr lang="en-US" dirty="0">
                <a:sym typeface="Wingdings" panose="05000000000000000000" pitchFamily="2" charset="2"/>
              </a:rPr>
              <a:t> task 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5:  display result </a:t>
            </a:r>
            <a:r>
              <a:rPr lang="en-US" dirty="0">
                <a:sym typeface="Wingdings" panose="05000000000000000000" pitchFamily="2" charset="2"/>
              </a:rPr>
              <a:t> task 4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885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4. Speculative Decomposition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32</a:t>
            </a:fld>
            <a:endParaRPr lang="en-US" alt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6DBE594-8A3D-47BE-BC14-0AD6FFD36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" y="1976122"/>
            <a:ext cx="8683625" cy="434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488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Decomposition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5. Hybrid Decomposition</a:t>
            </a:r>
          </a:p>
          <a:p>
            <a:r>
              <a:rPr lang="en-US" dirty="0"/>
              <a:t>Decomposition technique are not exclusive</a:t>
            </a:r>
          </a:p>
          <a:p>
            <a:pPr lvl="1"/>
            <a:r>
              <a:rPr lang="en-US" dirty="0"/>
              <a:t>We often need to combine them together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737A57C-EC3A-4BF9-BBBF-123F7C06C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0" y="2780548"/>
            <a:ext cx="8683625" cy="279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10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EFFFF"/>
                </a:solidFill>
              </a:rPr>
              <a:t>Questions</a:t>
            </a: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81864" y="5202719"/>
            <a:ext cx="487883" cy="517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0AD498-1756-4FAA-884D-721A5EF92E83}" type="slidenum">
              <a:rPr lang="en-US" altLang="en-US" smtClean="0"/>
              <a:pPr>
                <a:spcAft>
                  <a:spcPts val="600"/>
                </a:spcAft>
              </a:pPr>
              <a:t>34</a:t>
            </a:fld>
            <a:endParaRPr lang="en-US" altLang="en-US"/>
          </a:p>
        </p:txBody>
      </p:sp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1545BE9E-711D-438E-B83C-21C83592E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3319" y="972342"/>
            <a:ext cx="4230377" cy="423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>
            <a:extLst>
              <a:ext uri="{FF2B5EF4-FFF2-40B4-BE49-F238E27FC236}">
                <a16:creationId xmlns:a16="http://schemas.microsoft.com/office/drawing/2014/main" id="{98CA1997-0E96-416A-81ED-D164B9F76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295400"/>
            <a:ext cx="8683625" cy="424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0BFB5F-57E6-486F-AF6B-53119B18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35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4">
            <a:extLst>
              <a:ext uri="{FF2B5EF4-FFF2-40B4-BE49-F238E27FC236}">
                <a16:creationId xmlns:a16="http://schemas.microsoft.com/office/drawing/2014/main" id="{28C98AA9-5CFB-445B-93F3-5C283103B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722313"/>
            <a:ext cx="8683625" cy="537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A1397D-3AD3-464D-938E-BD38B8CD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36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B38B-89BC-41E9-B368-C232B1E4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96C9-EC0E-473B-9040-9141FE961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Kumar, V.,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Grama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A., Gupta, A., &amp;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Karypis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G. (1994).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Introduction to parallel computing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(Vol. 110). Redwood City, CA: Benjamin/Cummings.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Quinn, M. J. Parallel Programming in C with MPI and OpenMP,(2003).</a:t>
            </a:r>
            <a:r>
              <a:rPr lang="en-US" sz="12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F195-4810-4C81-BC32-016D2AD2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811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1700</Words>
  <Application>Microsoft Office PowerPoint</Application>
  <PresentationFormat>On-screen Show (4:3)</PresentationFormat>
  <Paragraphs>261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Century Gothic</vt:lpstr>
      <vt:lpstr>Monotype Sorts</vt:lpstr>
      <vt:lpstr>Wingdings</vt:lpstr>
      <vt:lpstr>Wingdings 3</vt:lpstr>
      <vt:lpstr>1_Wisp</vt:lpstr>
      <vt:lpstr>PowerPoint Presentation</vt:lpstr>
      <vt:lpstr>Agenda</vt:lpstr>
      <vt:lpstr>Quick Review to the Previous Lecture</vt:lpstr>
      <vt:lpstr>Principals of Parallel Algorithm Design</vt:lpstr>
      <vt:lpstr>Principals of Parallel Algorithm Design</vt:lpstr>
      <vt:lpstr>Principals of Parallel Algorithm Design</vt:lpstr>
      <vt:lpstr>Principals of Parallel Algorithm Design</vt:lpstr>
      <vt:lpstr>Principals of Parallel Algorithm Design</vt:lpstr>
      <vt:lpstr>Principals of Parallel Algorithm Design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Decomposition Techniques</vt:lpstr>
      <vt:lpstr>PowerPoint Presentation</vt:lpstr>
      <vt:lpstr>Decomposition Techniques</vt:lpstr>
      <vt:lpstr>Decomposition Techniques</vt:lpstr>
      <vt:lpstr>Decomposition Techniques</vt:lpstr>
      <vt:lpstr>PowerPoint Presentation</vt:lpstr>
      <vt:lpstr>PowerPoint Presentation</vt:lpstr>
      <vt:lpstr>Decomposition Techniques</vt:lpstr>
      <vt:lpstr>Decomposition Techniques</vt:lpstr>
      <vt:lpstr>Decomposition Techniques</vt:lpstr>
      <vt:lpstr>Decomposition Techniques</vt:lpstr>
      <vt:lpstr>Questions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– Parallel and Distributed Computing</dc:title>
  <dc:creator>Muhammad Husnain</dc:creator>
  <cp:lastModifiedBy>Umar</cp:lastModifiedBy>
  <cp:revision>182</cp:revision>
  <dcterms:created xsi:type="dcterms:W3CDTF">2020-02-07T07:53:43Z</dcterms:created>
  <dcterms:modified xsi:type="dcterms:W3CDTF">2024-05-23T05:51:04Z</dcterms:modified>
</cp:coreProperties>
</file>