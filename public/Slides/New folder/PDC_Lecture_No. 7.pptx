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</p:sldMasterIdLst>
  <p:notesMasterIdLst>
    <p:notesMasterId r:id="rId20"/>
  </p:notesMasterIdLst>
  <p:sldIdLst>
    <p:sldId id="311" r:id="rId2"/>
    <p:sldId id="283" r:id="rId3"/>
    <p:sldId id="458" r:id="rId4"/>
    <p:sldId id="433" r:id="rId5"/>
    <p:sldId id="434" r:id="rId6"/>
    <p:sldId id="435" r:id="rId7"/>
    <p:sldId id="436" r:id="rId8"/>
    <p:sldId id="437" r:id="rId9"/>
    <p:sldId id="438" r:id="rId10"/>
    <p:sldId id="439" r:id="rId11"/>
    <p:sldId id="440" r:id="rId12"/>
    <p:sldId id="441" r:id="rId13"/>
    <p:sldId id="459" r:id="rId14"/>
    <p:sldId id="293" r:id="rId15"/>
    <p:sldId id="295" r:id="rId16"/>
    <p:sldId id="294" r:id="rId17"/>
    <p:sldId id="280" r:id="rId18"/>
    <p:sldId id="285" r:id="rId19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87199" autoAdjust="0"/>
  </p:normalViewPr>
  <p:slideViewPr>
    <p:cSldViewPr snapToGrid="0">
      <p:cViewPr varScale="1">
        <p:scale>
          <a:sx n="67" d="100"/>
          <a:sy n="67" d="100"/>
        </p:scale>
        <p:origin x="1308" y="66"/>
      </p:cViewPr>
      <p:guideLst/>
    </p:cSldViewPr>
  </p:slideViewPr>
  <p:outlineViewPr>
    <p:cViewPr>
      <p:scale>
        <a:sx n="33" d="100"/>
        <a:sy n="33" d="100"/>
      </p:scale>
      <p:origin x="0" y="-1212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86A7654-4E2B-4822-BAE0-8BF48C8D095C}" type="datetimeFigureOut">
              <a:rPr lang="en-US" smtClean="0"/>
              <a:t>5/30/2024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1D701400-B431-4047-89AC-DA61F7C3E04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390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9C32AA-29E0-4558-BC14-174AC8456D63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7846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815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is to minimize amount of interaction and idling.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030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As tasks and processes are closely related with owner compute rule.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we know the size of tasks, size of data associated with each task, programming paradigm and characteristics of inter task interactions; then we should go for </a:t>
            </a:r>
            <a:r>
              <a:rPr lang="en-US"/>
              <a:t>static mapping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15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2d array---n/p rows as blocks and n/p column as block</a:t>
            </a:r>
          </a:p>
          <a:p>
            <a:r>
              <a:rPr lang="en-US" dirty="0"/>
              <a:t>Row major order vs column major 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673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P=p1*p2-----and each chunk of n/p1 * n/p2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7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Data-load balancing and higher level of fine-graining.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369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element of the array is considered as a  task and is mapped to all the processes in round robin fashion</a:t>
            </a:r>
          </a:p>
          <a:p>
            <a:r>
              <a:rPr lang="en-US" dirty="0"/>
              <a:t>Extremely fine-grained distribution</a:t>
            </a:r>
          </a:p>
          <a:p>
            <a:r>
              <a:rPr lang="en-US" dirty="0"/>
              <a:t>Motive is to reduce the idle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594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Difference is that you make large number of small blocks and assign them to the processes in cyclic fashion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14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2d mapping on 16 processes.</a:t>
            </a:r>
          </a:p>
          <a:p>
            <a:r>
              <a:rPr lang="en-US" dirty="0"/>
              <a:t>Processes on the diagonals shall always have to computes maximal portions. </a:t>
            </a:r>
          </a:p>
          <a:p>
            <a:r>
              <a:rPr lang="en-US" dirty="0"/>
              <a:t>P12 shall never have to do any thing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288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1D-randomized block mapping</a:t>
            </a:r>
          </a:p>
          <a:p>
            <a:r>
              <a:rPr lang="en-US" dirty="0"/>
              <a:t>1</a:t>
            </a:r>
            <a:r>
              <a:rPr lang="en-US" dirty="0">
                <a:sym typeface="Wingdings" panose="05000000000000000000" pitchFamily="2" charset="2"/>
              </a:rPr>
              <a:t> Randomly permute set V, then assign block of elements to processes as in block distribution.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8457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Permute the matrix</a:t>
            </a:r>
            <a:r>
              <a:rPr lang="en-US" dirty="0">
                <a:sym typeface="Wingdings" panose="05000000000000000000" pitchFamily="2" charset="2"/>
              </a:rPr>
              <a:t> use 2d block distribution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360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Poor spatial locality</a:t>
            </a:r>
          </a:p>
          <a:p>
            <a:r>
              <a:rPr lang="en-US" dirty="0"/>
              <a:t>High inter-process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976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Lake Superior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is the largest of the Great Lakes of North America,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331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lake of locality, each process shall have to communicate with many other  processes; resulting in high interaction overheads.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2941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relatively better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0507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507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0896BF-7690-4018-83B5-320097C56ECB}" type="datetime1">
              <a:rPr lang="en-US" altLang="en-US" smtClean="0">
                <a:solidFill>
                  <a:srgbClr val="000000"/>
                </a:solidFill>
              </a:rPr>
              <a:t>5/30/2024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0EB7319F-4077-44B4-9A6C-FEF1EF56DF15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406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18" y="142188"/>
            <a:ext cx="8323551" cy="81575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18" y="1280277"/>
            <a:ext cx="8323551" cy="4987331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600"/>
              </a:spcBef>
              <a:defRPr sz="1800"/>
            </a:lvl3pPr>
            <a:lvl4pPr>
              <a:spcBef>
                <a:spcPts val="600"/>
              </a:spcBef>
              <a:defRPr sz="16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86261" y="6322697"/>
            <a:ext cx="1348509" cy="370171"/>
          </a:xfrm>
        </p:spPr>
        <p:txBody>
          <a:bodyPr/>
          <a:lstStyle/>
          <a:p>
            <a:pPr>
              <a:defRPr/>
            </a:pPr>
            <a:fld id="{0F07F743-89D2-45A3-ACB0-5E6959872A6C}" type="datetime1">
              <a:rPr lang="en-US" altLang="en-US" smtClean="0">
                <a:solidFill>
                  <a:srgbClr val="000000"/>
                </a:solidFill>
              </a:rPr>
              <a:t>5/30/2024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1218" y="6322697"/>
            <a:ext cx="6227641" cy="365125"/>
          </a:xfrm>
        </p:spPr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88"/>
            <a:ext cx="702307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1" y="782633"/>
            <a:ext cx="584978" cy="365125"/>
          </a:xfrm>
        </p:spPr>
        <p:txBody>
          <a:bodyPr/>
          <a:lstStyle/>
          <a:p>
            <a:fld id="{C50AD498-1756-4FAA-884D-721A5EF92E8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51202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581CCF-23A1-4682-9290-6E979E2F21F6}" type="datetime1">
              <a:rPr lang="en-US" altLang="en-US" smtClean="0">
                <a:solidFill>
                  <a:srgbClr val="000000"/>
                </a:solidFill>
              </a:rPr>
              <a:t>5/30/2024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C59533-E7C0-4494-9DC9-3F44FD5B228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7339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0321" y="1280278"/>
            <a:ext cx="4126722" cy="4915891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1800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69565" y="1281539"/>
            <a:ext cx="4126157" cy="4915891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3010" y="6368709"/>
            <a:ext cx="1361760" cy="370171"/>
          </a:xfrm>
        </p:spPr>
        <p:txBody>
          <a:bodyPr/>
          <a:lstStyle/>
          <a:p>
            <a:pPr>
              <a:defRPr/>
            </a:pPr>
            <a:fld id="{D52F61E3-90E3-4CD3-B016-EEEE038260D0}" type="datetime1">
              <a:rPr lang="en-US" altLang="en-US" smtClean="0">
                <a:solidFill>
                  <a:srgbClr val="000000"/>
                </a:solidFill>
              </a:rPr>
              <a:t>5/30/2024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02365" y="6365849"/>
            <a:ext cx="6236494" cy="365125"/>
          </a:xfrm>
        </p:spPr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59" y="711190"/>
            <a:ext cx="70230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162" y="782633"/>
            <a:ext cx="584978" cy="365125"/>
          </a:xfrm>
        </p:spPr>
        <p:txBody>
          <a:bodyPr/>
          <a:lstStyle/>
          <a:p>
            <a:fld id="{4B01923B-769F-4373-B3D8-C2DA6094E9C2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24468" y="142188"/>
            <a:ext cx="8310301" cy="81575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95751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E49530-4DEC-4F95-9F56-CCAE0E22E4D6}" type="datetime1">
              <a:rPr lang="en-US" altLang="en-US" smtClean="0">
                <a:solidFill>
                  <a:srgbClr val="000000"/>
                </a:solidFill>
              </a:rPr>
              <a:t>5/30/2024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E6CBD27-9711-4E21-8679-3436A2D8D267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719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54F30D-46F3-4D59-B43B-F1DE88870420}" type="datetime1">
              <a:rPr lang="en-US" altLang="en-US" smtClean="0">
                <a:solidFill>
                  <a:srgbClr val="000000"/>
                </a:solidFill>
              </a:rPr>
              <a:t>5/30/2024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7EDB-9B1E-42BE-B450-001CA8028EA4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86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2F657F-021A-473B-A9BA-7D75E010A606}" type="datetime1">
              <a:rPr lang="en-US" altLang="en-US" smtClean="0">
                <a:solidFill>
                  <a:srgbClr val="000000"/>
                </a:solidFill>
              </a:rPr>
              <a:t>5/30/2024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32233-7D2A-45E8-BFA2-E1C56202CBE5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307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2FBE8C-5D53-4638-B95A-AD01D20DC526}" type="datetime1">
              <a:rPr lang="en-US" altLang="en-US" smtClean="0">
                <a:solidFill>
                  <a:srgbClr val="000000"/>
                </a:solidFill>
              </a:rPr>
              <a:t>5/30/2024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D973-3C1B-4A83-87AE-CB7A258334E1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365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8AF1760-6454-4209-A70D-F2FEE6CD585B}" type="datetime1">
              <a:rPr lang="en-US" altLang="en-US" smtClean="0">
                <a:solidFill>
                  <a:srgbClr val="000000"/>
                </a:solidFill>
              </a:rPr>
              <a:t>5/30/2024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E1426E4D-2F12-42DC-9E77-4F2E38723F64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1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96DCCC0-1290-42C0-BD37-F595A05B25CA}" type="datetime1">
              <a:rPr lang="en-US" altLang="en-US" smtClean="0">
                <a:solidFill>
                  <a:srgbClr val="000000"/>
                </a:solidFill>
              </a:rPr>
              <a:t>5/30/2024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92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38D3ABA-B249-42DB-A855-79DDD6B9E523}" type="datetime1">
              <a:rPr lang="en-US" altLang="en-US" smtClean="0">
                <a:solidFill>
                  <a:srgbClr val="000000"/>
                </a:solidFill>
              </a:rPr>
              <a:t>5/30/2024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7146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4E8BDE8-C591-4D85-8FFA-09BB773C97CC}" type="datetime1">
              <a:rPr lang="en-US" altLang="en-US" smtClean="0">
                <a:solidFill>
                  <a:srgbClr val="000000"/>
                </a:solidFill>
              </a:rPr>
              <a:t>5/30/2024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18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1C0B6FC-4E9B-46C1-8955-16C68B9A2FE5}" type="datetime1">
              <a:rPr lang="en-US" altLang="en-US" smtClean="0">
                <a:solidFill>
                  <a:srgbClr val="000000"/>
                </a:solidFill>
              </a:rPr>
              <a:t>5/30/2024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6372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707918F-21F7-4885-BDDA-B067A1BCFB74}" type="datetime1">
              <a:rPr lang="en-US" altLang="en-US" smtClean="0">
                <a:solidFill>
                  <a:srgbClr val="000000"/>
                </a:solidFill>
              </a:rPr>
              <a:t>5/30/2024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80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63F99B-76C8-431D-8EB9-20BE17713000}" type="datetime1">
              <a:rPr lang="en-US" altLang="en-US" smtClean="0">
                <a:solidFill>
                  <a:srgbClr val="000000"/>
                </a:solidFill>
              </a:rPr>
              <a:t>5/30/2024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17B6-24F4-4090-A44B-3393AA32DD5C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224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C71EAD-19D6-4395-9BC5-60B32F049930}" type="datetime1">
              <a:rPr lang="en-US" altLang="en-US" smtClean="0">
                <a:solidFill>
                  <a:srgbClr val="000000"/>
                </a:solidFill>
              </a:rPr>
              <a:t>5/30/2024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8F4FB-256D-429C-81CA-F531534D6146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947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8939" y="6135089"/>
            <a:ext cx="1289841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83328B9-9B83-44E9-B07F-79BC08D5A618}" type="datetime1">
              <a:rPr lang="en-US" altLang="en-US" smtClean="0">
                <a:solidFill>
                  <a:srgbClr val="000000"/>
                </a:solidFill>
              </a:rPr>
              <a:t>5/30/2024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1077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727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03717" y="1320921"/>
            <a:ext cx="8229600" cy="4997450"/>
          </a:xfrm>
        </p:spPr>
        <p:txBody>
          <a:bodyPr>
            <a:normAutofit/>
          </a:bodyPr>
          <a:lstStyle/>
          <a:p>
            <a:pPr marL="0" indent="0" algn="ctr">
              <a:buFont typeface="Monotype Sorts" pitchFamily="-84" charset="2"/>
              <a:buNone/>
              <a:defRPr/>
            </a:pPr>
            <a:r>
              <a:rPr lang="en-GB" sz="4400" b="1" dirty="0">
                <a:solidFill>
                  <a:srgbClr val="0070C0"/>
                </a:solidFill>
              </a:rPr>
              <a:t>Parallel and Distributed Computing</a:t>
            </a:r>
          </a:p>
          <a:p>
            <a:pPr marL="0" indent="0" algn="ctr">
              <a:buFont typeface="Monotype Sorts" pitchFamily="-84" charset="2"/>
              <a:buNone/>
              <a:defRPr/>
            </a:pPr>
            <a:endParaRPr lang="en-GB" sz="2800" dirty="0"/>
          </a:p>
          <a:p>
            <a:pPr marL="0" indent="0" algn="ctr">
              <a:buFont typeface="Monotype Sorts" pitchFamily="-84" charset="2"/>
              <a:buNone/>
              <a:defRPr/>
            </a:pPr>
            <a:r>
              <a:rPr lang="en-GB" sz="3200" b="1" dirty="0">
                <a:solidFill>
                  <a:srgbClr val="FF0000"/>
                </a:solidFill>
              </a:rPr>
              <a:t>Mapping Schemes </a:t>
            </a:r>
          </a:p>
          <a:p>
            <a:pPr marL="0" indent="0" algn="r">
              <a:buFont typeface="Monotype Sorts" pitchFamily="-84" charset="2"/>
              <a:buNone/>
              <a:defRPr/>
            </a:pPr>
            <a:r>
              <a:rPr lang="en-GB" sz="1200" dirty="0"/>
              <a:t> </a:t>
            </a:r>
          </a:p>
          <a:p>
            <a:pPr marL="0" indent="0">
              <a:buFont typeface="Monotype Sorts" pitchFamily="-84" charset="2"/>
              <a:buNone/>
              <a:defRPr/>
            </a:pP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27127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 Quick Review</a:t>
            </a:r>
          </a:p>
          <a:p>
            <a:pPr lvl="1" algn="just"/>
            <a:r>
              <a:rPr lang="en-US" b="1" dirty="0"/>
              <a:t>Decomposition Techniques</a:t>
            </a:r>
            <a:endParaRPr lang="en-US" dirty="0"/>
          </a:p>
          <a:p>
            <a:pPr algn="just"/>
            <a:r>
              <a:rPr lang="en-US" b="1" dirty="0"/>
              <a:t>Distribution Schemes</a:t>
            </a:r>
          </a:p>
          <a:p>
            <a:pPr lvl="1" algn="just"/>
            <a:r>
              <a:rPr lang="en-US" dirty="0"/>
              <a:t>Block-distribution </a:t>
            </a:r>
          </a:p>
          <a:p>
            <a:pPr lvl="2" algn="just"/>
            <a:r>
              <a:rPr lang="en-US" dirty="0"/>
              <a:t>Row-wise</a:t>
            </a:r>
          </a:p>
          <a:p>
            <a:pPr lvl="2" algn="just"/>
            <a:r>
              <a:rPr lang="en-US" dirty="0"/>
              <a:t>Column-wise </a:t>
            </a:r>
          </a:p>
          <a:p>
            <a:pPr lvl="2" algn="just"/>
            <a:r>
              <a:rPr lang="en-US" dirty="0"/>
              <a:t>1D and  2D</a:t>
            </a:r>
          </a:p>
          <a:p>
            <a:pPr lvl="1" algn="just"/>
            <a:r>
              <a:rPr lang="en-US" dirty="0"/>
              <a:t>Cyclic and Block-cyclic</a:t>
            </a:r>
            <a:endParaRPr lang="en-US" altLang="en-US" dirty="0"/>
          </a:p>
          <a:p>
            <a:pPr algn="just"/>
            <a:r>
              <a:rPr lang="en-US" b="1" dirty="0"/>
              <a:t>Basic Communication Operations</a:t>
            </a:r>
          </a:p>
          <a:p>
            <a:pPr lvl="1" algn="just"/>
            <a:r>
              <a:rPr lang="en-US" dirty="0"/>
              <a:t>One-to-all Broadcast and Reduction</a:t>
            </a:r>
          </a:p>
          <a:p>
            <a:pPr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30248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Mapping Schemes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/>
              <a:t>Static Mapping</a:t>
            </a:r>
          </a:p>
          <a:p>
            <a:pPr algn="just"/>
            <a:r>
              <a:rPr lang="en-US" dirty="0"/>
              <a:t>Distributing the tasks among the processes before execution of the program</a:t>
            </a:r>
          </a:p>
          <a:p>
            <a:pPr lvl="1" algn="just"/>
            <a:r>
              <a:rPr lang="en-US" dirty="0"/>
              <a:t>E.g., usually used in situation where total number of tasks and their sizes are known before the execution of the program</a:t>
            </a:r>
          </a:p>
          <a:p>
            <a:pPr algn="just"/>
            <a:r>
              <a:rPr lang="en-US" dirty="0"/>
              <a:t>Easy to implement in massage passing paradigm</a:t>
            </a:r>
          </a:p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b="1" dirty="0"/>
              <a:t>Dynamic Mapping</a:t>
            </a:r>
          </a:p>
          <a:p>
            <a:pPr algn="just"/>
            <a:r>
              <a:rPr lang="en-US" dirty="0"/>
              <a:t>When total number of tasks are not known a priori</a:t>
            </a:r>
          </a:p>
          <a:p>
            <a:pPr algn="just"/>
            <a:r>
              <a:rPr lang="en-US" dirty="0"/>
              <a:t>(OR) when task sizes are unknown</a:t>
            </a:r>
          </a:p>
          <a:p>
            <a:pPr lvl="1" algn="just"/>
            <a:r>
              <a:rPr lang="en-US" dirty="0"/>
              <a:t>In this case static mapping can lead to serious load-imbalances.			</a:t>
            </a:r>
          </a:p>
          <a:p>
            <a:pPr lvl="1"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Both static and Dynamic Mappings are equally easy in shared memory paradigm												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0AD498-1756-4FAA-884D-721A5EF92E83}" type="slidenum"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208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890" y="142188"/>
            <a:ext cx="8440880" cy="815755"/>
          </a:xfrm>
        </p:spPr>
        <p:txBody>
          <a:bodyPr>
            <a:normAutofit fontScale="90000"/>
          </a:bodyPr>
          <a:lstStyle/>
          <a:p>
            <a:r>
              <a:rPr lang="en-US" dirty="0"/>
              <a:t>Schemes for Static Task-Process Mapping</a:t>
            </a:r>
            <a:r>
              <a:rPr lang="en-US" sz="2700" b="0" dirty="0"/>
              <a:t/>
            </a:r>
            <a:br>
              <a:rPr lang="en-US" sz="2700" b="0" dirty="0"/>
            </a:br>
            <a:r>
              <a:rPr lang="en-US" sz="2700" b="0" dirty="0"/>
              <a:t>(Mappings based on Data Partitioning )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517928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Array Distribution Schemes</a:t>
            </a:r>
          </a:p>
          <a:p>
            <a:r>
              <a:rPr lang="en-US" dirty="0"/>
              <a:t>In a decomposition based on partitioning data, </a:t>
            </a:r>
            <a:r>
              <a:rPr lang="en-US" b="1" dirty="0"/>
              <a:t>mapping</a:t>
            </a:r>
            <a:r>
              <a:rPr lang="en-US" dirty="0"/>
              <a:t> the relevant </a:t>
            </a:r>
            <a:r>
              <a:rPr lang="en-US" b="1" dirty="0"/>
              <a:t>data</a:t>
            </a:r>
            <a:r>
              <a:rPr lang="en-US" dirty="0"/>
              <a:t> onto the processes is equivalent to </a:t>
            </a:r>
            <a:r>
              <a:rPr lang="en-US" b="1" dirty="0"/>
              <a:t>mapping tasks</a:t>
            </a:r>
            <a:r>
              <a:rPr lang="en-US" dirty="0"/>
              <a:t> onto processes *</a:t>
            </a:r>
          </a:p>
          <a:p>
            <a:r>
              <a:rPr lang="en-US" dirty="0"/>
              <a:t>Commonly used array mapping schemes:</a:t>
            </a:r>
          </a:p>
          <a:p>
            <a:pPr lvl="1"/>
            <a:r>
              <a:rPr lang="en-US" dirty="0"/>
              <a:t>Block distribution</a:t>
            </a:r>
          </a:p>
          <a:p>
            <a:pPr lvl="2"/>
            <a:r>
              <a:rPr lang="en-US" dirty="0"/>
              <a:t>1D and 2D</a:t>
            </a:r>
          </a:p>
          <a:p>
            <a:pPr lvl="1"/>
            <a:r>
              <a:rPr lang="en-US" dirty="0"/>
              <a:t>Cyclic and block-cyclic distribution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39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Schemes for Static Mapping</a:t>
            </a:r>
            <a:r>
              <a:rPr lang="en-US" sz="2700" b="0" dirty="0"/>
              <a:t/>
            </a:r>
            <a:br>
              <a:rPr lang="en-US" sz="2700" b="0" dirty="0"/>
            </a:br>
            <a:r>
              <a:rPr lang="en-US" sz="2700" b="0" dirty="0"/>
              <a:t>(Mappings based on Data Partitioning )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Array Distribution Schemes</a:t>
            </a:r>
            <a:r>
              <a:rPr lang="en-US" dirty="0"/>
              <a:t>:</a:t>
            </a:r>
          </a:p>
          <a:p>
            <a:r>
              <a:rPr lang="en-US" dirty="0"/>
              <a:t>Block distribution (1D)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EDD17EE-79EE-4CAA-A05A-C5CB85E19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0" y="2383972"/>
            <a:ext cx="8659935" cy="3691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4220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Schemes for Static Mapping</a:t>
            </a:r>
            <a:r>
              <a:rPr lang="en-US" sz="2700" b="0" dirty="0"/>
              <a:t/>
            </a:r>
            <a:br>
              <a:rPr lang="en-US" sz="2700" b="0" dirty="0"/>
            </a:br>
            <a:r>
              <a:rPr lang="en-US" sz="2700" b="0" dirty="0"/>
              <a:t>(Mappings based on Data Partitioning )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Array Distribution Schemes</a:t>
            </a:r>
            <a:r>
              <a:rPr lang="en-US" dirty="0"/>
              <a:t>:</a:t>
            </a:r>
          </a:p>
          <a:p>
            <a:r>
              <a:rPr lang="en-US" dirty="0"/>
              <a:t>Block distribution (2D)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339B62A-7FFD-473C-B409-166EB471D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0" y="2498271"/>
            <a:ext cx="8814296" cy="3796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224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F63E9-91E2-4978-A1B1-A1CFC3EB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486EE696-C568-4472-8370-B0329B5B1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0"/>
            <a:ext cx="9135089" cy="6649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874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Schemes for Static Mapping</a:t>
            </a:r>
            <a:r>
              <a:rPr lang="en-US" sz="2700" b="0" dirty="0"/>
              <a:t/>
            </a:r>
            <a:br>
              <a:rPr lang="en-US" sz="2700" b="0" dirty="0"/>
            </a:br>
            <a:r>
              <a:rPr lang="en-US" sz="2700" b="0" dirty="0"/>
              <a:t>(Mappings based on Data Partitioning )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Array Distribution Schemes</a:t>
            </a:r>
            <a:r>
              <a:rPr lang="en-US" dirty="0"/>
              <a:t>:</a:t>
            </a:r>
          </a:p>
          <a:p>
            <a:r>
              <a:rPr lang="en-US" dirty="0"/>
              <a:t>Cyclic distribution (HERE array size=4 x 4 and p=4)</a:t>
            </a: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00C8D5A1-D2E9-4BC6-8CA8-048E7A087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556292"/>
              </p:ext>
            </p:extLst>
          </p:nvPr>
        </p:nvGraphicFramePr>
        <p:xfrm>
          <a:off x="2584712" y="2489675"/>
          <a:ext cx="3974576" cy="32839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93644">
                  <a:extLst>
                    <a:ext uri="{9D8B030D-6E8A-4147-A177-3AD203B41FA5}">
                      <a16:colId xmlns:a16="http://schemas.microsoft.com/office/drawing/2014/main" val="619750477"/>
                    </a:ext>
                  </a:extLst>
                </a:gridCol>
                <a:gridCol w="993644">
                  <a:extLst>
                    <a:ext uri="{9D8B030D-6E8A-4147-A177-3AD203B41FA5}">
                      <a16:colId xmlns:a16="http://schemas.microsoft.com/office/drawing/2014/main" val="2093516492"/>
                    </a:ext>
                  </a:extLst>
                </a:gridCol>
                <a:gridCol w="993644">
                  <a:extLst>
                    <a:ext uri="{9D8B030D-6E8A-4147-A177-3AD203B41FA5}">
                      <a16:colId xmlns:a16="http://schemas.microsoft.com/office/drawing/2014/main" val="72325286"/>
                    </a:ext>
                  </a:extLst>
                </a:gridCol>
                <a:gridCol w="993644">
                  <a:extLst>
                    <a:ext uri="{9D8B030D-6E8A-4147-A177-3AD203B41FA5}">
                      <a16:colId xmlns:a16="http://schemas.microsoft.com/office/drawing/2014/main" val="975169763"/>
                    </a:ext>
                  </a:extLst>
                </a:gridCol>
              </a:tblGrid>
              <a:tr h="82099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153377"/>
                  </a:ext>
                </a:extLst>
              </a:tr>
              <a:tr h="82099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944514"/>
                  </a:ext>
                </a:extLst>
              </a:tr>
              <a:tr h="82099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8403584"/>
                  </a:ext>
                </a:extLst>
              </a:tr>
              <a:tr h="82099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012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717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Schemes for Static Mapping</a:t>
            </a:r>
            <a:r>
              <a:rPr lang="en-US" sz="2700" b="0" dirty="0"/>
              <a:t/>
            </a:r>
            <a:br>
              <a:rPr lang="en-US" sz="2700" b="0" dirty="0"/>
            </a:br>
            <a:r>
              <a:rPr lang="en-US" sz="2700" b="0" dirty="0"/>
              <a:t>(Mappings based on Data Partitioning )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Array Distribution Schemes</a:t>
            </a:r>
            <a:r>
              <a:rPr lang="en-US" dirty="0"/>
              <a:t>:</a:t>
            </a:r>
          </a:p>
          <a:p>
            <a:r>
              <a:rPr lang="en-US" dirty="0"/>
              <a:t>Block-Cyclic distribution (1D and 2D)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E922C3A-DB0E-4D42-9B83-26DDB63DF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77" y="2173720"/>
            <a:ext cx="7956221" cy="4151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9036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Schemes for Static Mapping</a:t>
            </a:r>
            <a:r>
              <a:rPr lang="en-US" sz="2700" b="0" dirty="0"/>
              <a:t/>
            </a:r>
            <a:br>
              <a:rPr lang="en-US" sz="2700" b="0" dirty="0"/>
            </a:br>
            <a:r>
              <a:rPr lang="en-US" sz="2700" b="0" dirty="0"/>
              <a:t>(Mappings based on Data Partitioning )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Array Distribution Schemes</a:t>
            </a:r>
            <a:r>
              <a:rPr lang="en-US" dirty="0"/>
              <a:t>:</a:t>
            </a:r>
          </a:p>
          <a:p>
            <a:r>
              <a:rPr lang="en-US" dirty="0"/>
              <a:t>Block-Cyclic distribution (Issue)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B47E0135-BAAE-431C-8D17-4FC50A682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0" y="2286914"/>
            <a:ext cx="8683625" cy="411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3320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Schemes for Static Mapping</a:t>
            </a:r>
            <a:r>
              <a:rPr lang="en-US" sz="2700" b="0" dirty="0"/>
              <a:t/>
            </a:r>
            <a:br>
              <a:rPr lang="en-US" sz="2700" b="0" dirty="0"/>
            </a:br>
            <a:r>
              <a:rPr lang="en-US" sz="2700" b="0" dirty="0"/>
              <a:t>(Mappings based on Data Partitioning )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Array Distribution Schemes</a:t>
            </a:r>
            <a:r>
              <a:rPr lang="en-US" dirty="0"/>
              <a:t>:</a:t>
            </a:r>
          </a:p>
          <a:p>
            <a:r>
              <a:rPr lang="en-US" dirty="0"/>
              <a:t>Randomized-Block distribution (solution: 1D)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90C1B964-279A-41E2-9A32-C876F8999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7" y="2558143"/>
            <a:ext cx="8683625" cy="3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8581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Schemes for Static Mapping</a:t>
            </a:r>
            <a:r>
              <a:rPr lang="en-US" sz="2700" b="0" dirty="0"/>
              <a:t/>
            </a:r>
            <a:br>
              <a:rPr lang="en-US" sz="2700" b="0" dirty="0"/>
            </a:br>
            <a:r>
              <a:rPr lang="en-US" sz="2700" b="0" dirty="0"/>
              <a:t>(Mappings based on Data Partitioning )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Array Distribution Schemes</a:t>
            </a:r>
            <a:r>
              <a:rPr lang="en-US" dirty="0"/>
              <a:t>:</a:t>
            </a:r>
          </a:p>
          <a:p>
            <a:r>
              <a:rPr lang="en-US" dirty="0"/>
              <a:t>Randomized-Block distribution (solution: 2D)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F63E9-91E2-4978-A1B1-A1CFC3EB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50536050-D89F-46FC-9513-2E5DFA02B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1" y="2193471"/>
            <a:ext cx="8906489" cy="4609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9122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FB9E7-8836-4AAB-AEDC-679A90A81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29" y="1185565"/>
            <a:ext cx="7358814" cy="18842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Why </a:t>
            </a:r>
            <a:r>
              <a:rPr lang="en-US"/>
              <a:t>randomized </a:t>
            </a:r>
            <a:r>
              <a:rPr lang="en-US" smtClean="0"/>
              <a:t>block </a:t>
            </a:r>
            <a:r>
              <a:rPr lang="en-US" dirty="0"/>
              <a:t>cyclic distribution is not always used?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AFAA5-A087-48E1-B812-B274C8A81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7EDB-9B1E-42BE-B450-001CA8028EA4}" type="slidenum">
              <a:rPr lang="en-US" altLang="en-US" smtClean="0">
                <a:solidFill>
                  <a:srgbClr val="000000"/>
                </a:solidFill>
              </a:rPr>
              <a:pPr/>
              <a:t>13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2699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5">
            <a:extLst>
              <a:ext uri="{FF2B5EF4-FFF2-40B4-BE49-F238E27FC236}">
                <a16:creationId xmlns:a16="http://schemas.microsoft.com/office/drawing/2014/main" id="{775605DA-EAFD-4670-A693-A969D57F9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18"/>
          <a:stretch>
            <a:fillRect/>
          </a:stretch>
        </p:blipFill>
        <p:spPr bwMode="auto">
          <a:xfrm>
            <a:off x="870857" y="1711631"/>
            <a:ext cx="7402286" cy="429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FDB592-3498-4FEA-8C7A-F607831E9205}"/>
              </a:ext>
            </a:extLst>
          </p:cNvPr>
          <p:cNvSpPr txBox="1"/>
          <p:nvPr/>
        </p:nvSpPr>
        <p:spPr>
          <a:xfrm>
            <a:off x="870857" y="855208"/>
            <a:ext cx="7489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 simulation model (using a mesh of tasks) for finding dispersion of water contaminant in a lake at different intervals of time</a:t>
            </a:r>
            <a:r>
              <a:rPr lang="en-US" b="1" dirty="0">
                <a:latin typeface="Century" panose="020406040505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D8687-B358-46F6-80B1-FDF83EEE0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BCE1D5-B810-4541-B357-2543258CF918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>
            <a:extLst>
              <a:ext uri="{FF2B5EF4-FFF2-40B4-BE49-F238E27FC236}">
                <a16:creationId xmlns:a16="http://schemas.microsoft.com/office/drawing/2014/main" id="{8A24869F-484B-4AD9-BA71-3C1042AA1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982"/>
          <a:stretch>
            <a:fillRect/>
          </a:stretch>
        </p:blipFill>
        <p:spPr bwMode="auto">
          <a:xfrm>
            <a:off x="79375" y="914400"/>
            <a:ext cx="8683625" cy="492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BA4068-7D4E-4B2A-8208-656651B93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BCE1D5-B810-4541-B357-2543258CF918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4">
            <a:extLst>
              <a:ext uri="{FF2B5EF4-FFF2-40B4-BE49-F238E27FC236}">
                <a16:creationId xmlns:a16="http://schemas.microsoft.com/office/drawing/2014/main" id="{B9E2630B-C7C1-40E1-BC31-0AFF44F14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371600"/>
            <a:ext cx="8683625" cy="438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F1B26F-1890-4A13-9EA8-08E191D2D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BCE1D5-B810-4541-B357-2543258CF918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A692209D-B607-46C3-8560-07AF7229165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4874638-CF15-4908-BC4B-4908744D0BA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9799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09" y="967417"/>
            <a:ext cx="2834152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>
                <a:solidFill>
                  <a:srgbClr val="FEFFFF"/>
                </a:solidFill>
              </a:rPr>
              <a:t>Questions</a:t>
            </a:r>
          </a:p>
        </p:txBody>
      </p:sp>
      <p:sp>
        <p:nvSpPr>
          <p:cNvPr id="49" name="Freeform 5">
            <a:extLst>
              <a:ext uri="{FF2B5EF4-FFF2-40B4-BE49-F238E27FC236}">
                <a16:creationId xmlns:a16="http://schemas.microsoft.com/office/drawing/2014/main" id="{5F1B8348-CD6E-4561-A704-C232D9A2676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4053016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9" descr="Help">
            <a:extLst>
              <a:ext uri="{FF2B5EF4-FFF2-40B4-BE49-F238E27FC236}">
                <a16:creationId xmlns:a16="http://schemas.microsoft.com/office/drawing/2014/main" id="{1545BE9E-711D-438E-B83C-21C83592E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3319" y="972342"/>
            <a:ext cx="4230377" cy="423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66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B38B-89BC-41E9-B368-C232B1E49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596C9-EC0E-473B-9040-9141FE961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Kumar, V., </a:t>
            </a:r>
            <a:r>
              <a:rPr lang="en-US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Grama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, A., Gupta, A., &amp; </a:t>
            </a:r>
            <a:r>
              <a:rPr lang="en-US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Karypis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, G. (1994). </a:t>
            </a:r>
            <a:r>
              <a:rPr lang="en-US" sz="1200" i="1" dirty="0">
                <a:solidFill>
                  <a:srgbClr val="222222"/>
                </a:solidFill>
                <a:latin typeface="Arial" panose="020B0604020202020204" pitchFamily="34" charset="0"/>
              </a:rPr>
              <a:t>Introduction to parallel computing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 (Vol. 110). Redwood City, CA: Benjamin/Cummings.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Quinn, M. J. Parallel Programming in C with MPI and OpenMP,(2003).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8114206"/>
      </p:ext>
    </p:extLst>
  </p:cSld>
  <p:clrMapOvr>
    <a:masterClrMapping/>
  </p:clrMapOvr>
</p:sld>
</file>

<file path=ppt/theme/theme1.xml><?xml version="1.0" encoding="utf-8"?>
<a:theme xmlns:a="http://schemas.openxmlformats.org/drawingml/2006/main" name="1_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1988</TotalTime>
  <Words>589</Words>
  <Application>Microsoft Office PowerPoint</Application>
  <PresentationFormat>On-screen Show (4:3)</PresentationFormat>
  <Paragraphs>123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</vt:lpstr>
      <vt:lpstr>Calibri</vt:lpstr>
      <vt:lpstr>Century</vt:lpstr>
      <vt:lpstr>Century Gothic</vt:lpstr>
      <vt:lpstr>Monotype Sorts</vt:lpstr>
      <vt:lpstr>Wingdings</vt:lpstr>
      <vt:lpstr>Wingdings 3</vt:lpstr>
      <vt:lpstr>1_Wisp</vt:lpstr>
      <vt:lpstr>PowerPoint Presentation</vt:lpstr>
      <vt:lpstr>Agenda</vt:lpstr>
      <vt:lpstr>Mapping Schemes</vt:lpstr>
      <vt:lpstr>Schemes for Static Task-Process Mapping (Mappings based on Data Partitioning )</vt:lpstr>
      <vt:lpstr>Schemes for Static Mapping (Mappings based on Data Partitioning )</vt:lpstr>
      <vt:lpstr>Schemes for Static Mapping (Mappings based on Data Partitioning )</vt:lpstr>
      <vt:lpstr>PowerPoint Presentation</vt:lpstr>
      <vt:lpstr>Schemes for Static Mapping (Mappings based on Data Partitioning )</vt:lpstr>
      <vt:lpstr>Schemes for Static Mapping (Mappings based on Data Partitioning )</vt:lpstr>
      <vt:lpstr>Schemes for Static Mapping (Mappings based on Data Partitioning )</vt:lpstr>
      <vt:lpstr>Schemes for Static Mapping (Mappings based on Data Partitioning )</vt:lpstr>
      <vt:lpstr>Schemes for Static Mapping (Mappings based on Data Partitioning )</vt:lpstr>
      <vt:lpstr>Why randomized block cyclic distribution is not always used?</vt:lpstr>
      <vt:lpstr>PowerPoint Presentation</vt:lpstr>
      <vt:lpstr>PowerPoint Presentation</vt:lpstr>
      <vt:lpstr>PowerPoint Presentation</vt:lpstr>
      <vt:lpstr>Questions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CS416 – Parallel and Distributed Computing</dc:title>
  <dc:creator>Muhammad Husnain</dc:creator>
  <cp:lastModifiedBy>Umar</cp:lastModifiedBy>
  <cp:revision>76</cp:revision>
  <cp:lastPrinted>2021-10-11T09:32:48Z</cp:lastPrinted>
  <dcterms:created xsi:type="dcterms:W3CDTF">2020-02-25T04:15:16Z</dcterms:created>
  <dcterms:modified xsi:type="dcterms:W3CDTF">2024-05-30T07:48:45Z</dcterms:modified>
</cp:coreProperties>
</file>