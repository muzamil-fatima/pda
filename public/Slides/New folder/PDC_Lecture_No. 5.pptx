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  <p:sldMasterId id="2147483695" r:id="rId2"/>
  </p:sldMasterIdLst>
  <p:notesMasterIdLst>
    <p:notesMasterId r:id="rId31"/>
  </p:notesMasterIdLst>
  <p:sldIdLst>
    <p:sldId id="311" r:id="rId3"/>
    <p:sldId id="260" r:id="rId4"/>
    <p:sldId id="283" r:id="rId5"/>
    <p:sldId id="281" r:id="rId6"/>
    <p:sldId id="391" r:id="rId7"/>
    <p:sldId id="392" r:id="rId8"/>
    <p:sldId id="397" r:id="rId9"/>
    <p:sldId id="400" r:id="rId10"/>
    <p:sldId id="257" r:id="rId11"/>
    <p:sldId id="261" r:id="rId12"/>
    <p:sldId id="401" r:id="rId13"/>
    <p:sldId id="402" r:id="rId14"/>
    <p:sldId id="259" r:id="rId15"/>
    <p:sldId id="403" r:id="rId16"/>
    <p:sldId id="404" r:id="rId17"/>
    <p:sldId id="405" r:id="rId18"/>
    <p:sldId id="406" r:id="rId19"/>
    <p:sldId id="407" r:id="rId20"/>
    <p:sldId id="408" r:id="rId21"/>
    <p:sldId id="409" r:id="rId22"/>
    <p:sldId id="410" r:id="rId23"/>
    <p:sldId id="411" r:id="rId24"/>
    <p:sldId id="412" r:id="rId25"/>
    <p:sldId id="413" r:id="rId26"/>
    <p:sldId id="414" r:id="rId27"/>
    <p:sldId id="415" r:id="rId28"/>
    <p:sldId id="280" r:id="rId29"/>
    <p:sldId id="285" r:id="rId30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87199" autoAdjust="0"/>
  </p:normalViewPr>
  <p:slideViewPr>
    <p:cSldViewPr snapToGrid="0">
      <p:cViewPr varScale="1">
        <p:scale>
          <a:sx n="67" d="100"/>
          <a:sy n="67" d="100"/>
        </p:scale>
        <p:origin x="1308" y="66"/>
      </p:cViewPr>
      <p:guideLst/>
    </p:cSldViewPr>
  </p:slideViewPr>
  <p:outlineViewPr>
    <p:cViewPr>
      <p:scale>
        <a:sx n="33" d="100"/>
        <a:sy n="33" d="100"/>
      </p:scale>
      <p:origin x="0" y="-1212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86A7654-4E2B-4822-BAE0-8BF48C8D095C}" type="datetimeFigureOut">
              <a:rPr lang="en-US" smtClean="0"/>
              <a:t>4/25/2024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1D701400-B431-4047-89AC-DA61F7C3E04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390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9C32AA-29E0-4558-BC14-174AC8456D63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7846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815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6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2151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is logical agent for computation over a physical processing element(processor).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147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sum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925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is divided into tasks (chunks), could be of same and different size</a:t>
            </a:r>
          </a:p>
          <a:p>
            <a:r>
              <a:rPr lang="en-US" dirty="0"/>
              <a:t>We could use task dependency graph to explain decomposition e.g. adding 8 numbers using 4 processors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7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Computation of each y[</a:t>
            </a:r>
            <a:r>
              <a:rPr lang="en-US" dirty="0" err="1"/>
              <a:t>i</a:t>
            </a:r>
            <a:r>
              <a:rPr lang="en-US" dirty="0"/>
              <a:t>] is regarded as a single task.</a:t>
            </a:r>
          </a:p>
          <a:p>
            <a:r>
              <a:rPr lang="en-US" dirty="0"/>
              <a:t>Matrix multiplication rule: no. of columns in first matrix A should be equal to no. of rows in second b</a:t>
            </a:r>
          </a:p>
          <a:p>
            <a:r>
              <a:rPr lang="en-US" dirty="0"/>
              <a:t>Resulting matrix would have the no. of rows equivalent of first matrix and no. of columns of second matrix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6147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Computation of three y[</a:t>
            </a:r>
            <a:r>
              <a:rPr lang="en-US" dirty="0" err="1"/>
              <a:t>i</a:t>
            </a:r>
            <a:r>
              <a:rPr lang="en-US" dirty="0"/>
              <a:t>] entries is regarded as a 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150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Some tasks may use data produced by other tasks and thus may need to wait for these tasks to finish execution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986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records are 10.</a:t>
            </a:r>
          </a:p>
          <a:p>
            <a:r>
              <a:rPr lang="en-US" dirty="0"/>
              <a:t>Select ID, model, year, color  from </a:t>
            </a:r>
            <a:r>
              <a:rPr lang="en-US" dirty="0" err="1"/>
              <a:t>dbtable</a:t>
            </a:r>
            <a:r>
              <a:rPr lang="en-US" dirty="0"/>
              <a:t> where model=‘civic’ and year=‘2001’ and (color=‘White’ OR color=‘Green’)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1134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Granularity: roughness (means consisting of small grains or particles)</a:t>
            </a:r>
          </a:p>
          <a:p>
            <a:r>
              <a:rPr lang="en-US" dirty="0"/>
              <a:t>Go to the previous slides for better illustration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64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to the previous slides for better illustration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1410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89244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99135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60415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63/27. Although max degree of concurrency is same (40 in both cases), average degree is different. So, shape of graph also effects degree of concurrency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40991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path length=sum of weights along critical path= 4,4,7,8</a:t>
            </a:r>
          </a:p>
          <a:p>
            <a:r>
              <a:rPr lang="en-US" dirty="0"/>
              <a:t>Average concurrency= 15/4,15/4, 2, 15/8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23568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For example, in dense matrix-vector diagram, all the tasks can be shown independent in dependency graph. Since originally there is only one copy of the vector </a:t>
            </a:r>
            <a:r>
              <a:rPr lang="en-US" i="1" dirty="0"/>
              <a:t>b</a:t>
            </a:r>
            <a:r>
              <a:rPr lang="en-US" dirty="0"/>
              <a:t>, tasks may have to send and receive messages for all of them to access the entire vector in the distributed-memory paradigm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06712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For example, all the tasks can be shown independent in dependency graph of matrix-vector multiplication. Since originally there is only one copy of the vector </a:t>
            </a:r>
            <a:r>
              <a:rPr lang="en-US" i="1" dirty="0"/>
              <a:t>b</a:t>
            </a:r>
            <a:r>
              <a:rPr lang="en-US" dirty="0"/>
              <a:t>, tasks may have to send and receive messages for all of them to access the entire vector in the distributed-memory paradigm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51121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Each task is assigned computation of single element of output vector y;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Furthermore, we make task(</a:t>
            </a:r>
            <a:r>
              <a:rPr lang="en-US" dirty="0" err="1"/>
              <a:t>i</a:t>
            </a:r>
            <a:r>
              <a:rPr lang="en-US" dirty="0"/>
              <a:t>) the owner of row A[</a:t>
            </a:r>
            <a:r>
              <a:rPr lang="en-US" dirty="0" err="1"/>
              <a:t>i</a:t>
            </a:r>
            <a:r>
              <a:rPr lang="en-US" dirty="0"/>
              <a:t>,*]  and input vector element b[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simple words: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Tasks: each task computes an entry of y[]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Assign </a:t>
            </a:r>
            <a:r>
              <a:rPr lang="en-US" dirty="0" err="1"/>
              <a:t>ith</a:t>
            </a:r>
            <a:r>
              <a:rPr lang="en-US" dirty="0"/>
              <a:t> row of A to Task </a:t>
            </a:r>
            <a:r>
              <a:rPr lang="en-US" dirty="0" err="1"/>
              <a:t>i</a:t>
            </a:r>
            <a:r>
              <a:rPr lang="en-US" dirty="0"/>
              <a:t>. Also assign b[</a:t>
            </a:r>
            <a:r>
              <a:rPr lang="en-US" dirty="0" err="1"/>
              <a:t>i</a:t>
            </a:r>
            <a:r>
              <a:rPr lang="en-US" dirty="0"/>
              <a:t>] to Task </a:t>
            </a:r>
            <a:r>
              <a:rPr lang="en-US" dirty="0" err="1"/>
              <a:t>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7334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parallel program must have several processes active and simultaneously working on different tasks to gain a significant speedup over the sequential program. 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82134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in 3.7 (b), Task 5 is assigned to P2?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30399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7495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507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8BE206-F1F1-425C-8442-222EB3236F02}" type="datetime1">
              <a:rPr lang="en-US" altLang="en-US" smtClean="0">
                <a:solidFill>
                  <a:srgbClr val="000000"/>
                </a:solidFill>
              </a:rPr>
              <a:t>4/25/2024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0EB7319F-4077-44B4-9A6C-FEF1EF56DF15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406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18" y="142188"/>
            <a:ext cx="8323551" cy="81575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18" y="1280277"/>
            <a:ext cx="8323551" cy="4987331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600"/>
              </a:spcBef>
              <a:defRPr sz="1800"/>
            </a:lvl3pPr>
            <a:lvl4pPr>
              <a:spcBef>
                <a:spcPts val="600"/>
              </a:spcBef>
              <a:defRPr sz="16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86261" y="6322697"/>
            <a:ext cx="1348509" cy="370171"/>
          </a:xfrm>
        </p:spPr>
        <p:txBody>
          <a:bodyPr/>
          <a:lstStyle/>
          <a:p>
            <a:pPr>
              <a:defRPr/>
            </a:pPr>
            <a:fld id="{2F56E894-0E6A-42CF-9CC5-A9CD3DA020C8}" type="datetime1">
              <a:rPr lang="en-US" altLang="en-US" smtClean="0">
                <a:solidFill>
                  <a:srgbClr val="000000"/>
                </a:solidFill>
              </a:rPr>
              <a:t>4/25/2024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1218" y="6322697"/>
            <a:ext cx="6227641" cy="365125"/>
          </a:xfrm>
        </p:spPr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88"/>
            <a:ext cx="702307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1" y="782633"/>
            <a:ext cx="584978" cy="365125"/>
          </a:xfrm>
        </p:spPr>
        <p:txBody>
          <a:bodyPr/>
          <a:lstStyle/>
          <a:p>
            <a:fld id="{C50AD498-1756-4FAA-884D-721A5EF92E8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51202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74BDE2-2A10-43C2-BF12-E937F702B4D1}" type="datetime1">
              <a:rPr lang="en-US" altLang="en-US" smtClean="0">
                <a:solidFill>
                  <a:srgbClr val="000000"/>
                </a:solidFill>
              </a:rPr>
              <a:t>4/25/2024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C59533-E7C0-4494-9DC9-3F44FD5B228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7339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0321" y="1280278"/>
            <a:ext cx="4126722" cy="4915891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1800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69565" y="1281539"/>
            <a:ext cx="4126157" cy="4915891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3010" y="6368709"/>
            <a:ext cx="1361760" cy="370171"/>
          </a:xfrm>
        </p:spPr>
        <p:txBody>
          <a:bodyPr/>
          <a:lstStyle/>
          <a:p>
            <a:pPr>
              <a:defRPr/>
            </a:pPr>
            <a:fld id="{4FC6EA25-2A2D-49EF-A940-8AB8744E5FD2}" type="datetime1">
              <a:rPr lang="en-US" altLang="en-US" smtClean="0">
                <a:solidFill>
                  <a:srgbClr val="000000"/>
                </a:solidFill>
              </a:rPr>
              <a:t>4/25/2024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02365" y="6365849"/>
            <a:ext cx="6236494" cy="365125"/>
          </a:xfrm>
        </p:spPr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59" y="711190"/>
            <a:ext cx="70230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162" y="782633"/>
            <a:ext cx="584978" cy="365125"/>
          </a:xfrm>
        </p:spPr>
        <p:txBody>
          <a:bodyPr/>
          <a:lstStyle/>
          <a:p>
            <a:fld id="{4B01923B-769F-4373-B3D8-C2DA6094E9C2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24468" y="142188"/>
            <a:ext cx="8310301" cy="81575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95751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FEFAE0-D3A2-4C3B-9DD6-18868E1F3AA3}" type="datetime1">
              <a:rPr lang="en-US" altLang="en-US" smtClean="0">
                <a:solidFill>
                  <a:srgbClr val="000000"/>
                </a:solidFill>
              </a:rPr>
              <a:t>4/25/2024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E6CBD27-9711-4E21-8679-3436A2D8D267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719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D9F09F-FF09-466D-BB5E-C77CBF99170C}" type="datetime1">
              <a:rPr lang="en-US" altLang="en-US" smtClean="0">
                <a:solidFill>
                  <a:srgbClr val="000000"/>
                </a:solidFill>
              </a:rPr>
              <a:t>4/25/2024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7EDB-9B1E-42BE-B450-001CA8028EA4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86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1B67F8-B598-4DF9-9B3A-D1ECE09DFE49}" type="datetime1">
              <a:rPr lang="en-US" altLang="en-US" smtClean="0">
                <a:solidFill>
                  <a:srgbClr val="000000"/>
                </a:solidFill>
              </a:rPr>
              <a:t>4/25/2024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32233-7D2A-45E8-BFA2-E1C56202CBE5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307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24A0BC-BDF6-4139-A78E-D4A086C0B9BF}" type="datetime1">
              <a:rPr lang="en-US" altLang="en-US" smtClean="0">
                <a:solidFill>
                  <a:srgbClr val="000000"/>
                </a:solidFill>
              </a:rPr>
              <a:t>4/25/2024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D973-3C1B-4A83-87AE-CB7A258334E1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365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CFD457-84B6-48F0-AF38-4906A384BF5C}" type="datetime1">
              <a:rPr lang="en-US" altLang="en-US" smtClean="0">
                <a:solidFill>
                  <a:srgbClr val="000000"/>
                </a:solidFill>
              </a:rPr>
              <a:t>4/25/2024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E1426E4D-2F12-42DC-9E77-4F2E38723F64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1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E16F96-1038-4076-B141-476EFAA5E5C4}" type="datetime1">
              <a:rPr lang="en-US" altLang="en-US" smtClean="0">
                <a:solidFill>
                  <a:srgbClr val="000000"/>
                </a:solidFill>
              </a:rPr>
              <a:t>4/25/2024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92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C98AF3B-3F0A-488E-AEB7-C32D728DBE43}" type="datetime1">
              <a:rPr lang="en-US" altLang="en-US" smtClean="0">
                <a:solidFill>
                  <a:srgbClr val="000000"/>
                </a:solidFill>
              </a:rPr>
              <a:t>4/25/2024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7146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C36594-C6F4-4F43-BAE5-56A53985F086}" type="datetime1">
              <a:rPr lang="en-US" altLang="en-US" smtClean="0">
                <a:solidFill>
                  <a:srgbClr val="000000"/>
                </a:solidFill>
              </a:rPr>
              <a:t>4/25/2024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18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1DD9B21-C133-4C3F-B3FB-7B43AF31A0B3}" type="datetime1">
              <a:rPr lang="en-US" altLang="en-US" smtClean="0">
                <a:solidFill>
                  <a:srgbClr val="000000"/>
                </a:solidFill>
              </a:rPr>
              <a:t>4/25/2024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6372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391151-108D-4D4D-BCA8-D2B0344158F5}" type="datetime1">
              <a:rPr lang="en-US" altLang="en-US" smtClean="0">
                <a:solidFill>
                  <a:srgbClr val="000000"/>
                </a:solidFill>
              </a:rPr>
              <a:t>4/25/2024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80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DDCBFE-E6DF-4E5B-9258-1CB48AE4698E}" type="datetime1">
              <a:rPr lang="en-US" altLang="en-US" smtClean="0">
                <a:solidFill>
                  <a:srgbClr val="000000"/>
                </a:solidFill>
              </a:rPr>
              <a:t>4/25/2024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17B6-24F4-4090-A44B-3393AA32DD5C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224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96D2BF-E6B3-4C2F-8869-5A0864DF61F1}" type="datetime1">
              <a:rPr lang="en-US" altLang="en-US" smtClean="0">
                <a:solidFill>
                  <a:srgbClr val="000000"/>
                </a:solidFill>
              </a:rPr>
              <a:t>4/25/2024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8F4FB-256D-429C-81CA-F531534D6146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9477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D390825-726A-4290-B1FA-E6CFDBAF4E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CA5029-54D1-4D30-8EB2-2A1A37935F7D}" type="datetime1">
              <a:rPr lang="en-US" altLang="en-US" smtClean="0"/>
              <a:t>4/25/2024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468534C-95E0-478F-BC3D-F255E983D0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CS3006 - Fall 2021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AF31A6-7FB2-414F-BB81-7C6D5EC91A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5E086-3A8E-4B55-94AD-9110BD0A9A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1976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85DF1B-94BF-4D55-B257-2A3617FF2E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F4D2D4-453B-4BBA-A60F-D0561D0999B2}" type="datetime1">
              <a:rPr lang="en-US" altLang="en-US" smtClean="0"/>
              <a:t>4/25/2024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13D893-2150-4E93-AF16-22F05236D8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CS3006 - Fall 2021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38753E6-CB17-4174-B22B-901DA30F51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88984-779F-4E1B-BEB2-FD85CC1484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60567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7DA78D-FEE0-488A-AB1E-AB213AFE0A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76FDD-B818-4990-B5C3-5571FC0FAE93}" type="datetime1">
              <a:rPr lang="en-US" altLang="en-US" smtClean="0"/>
              <a:t>4/25/2024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7CD23C-F8FD-44C2-BAEB-D8E250BBE0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CS3006 - Fall 2021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BC22DB1-DCD8-4FE8-9192-E3671D28E3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8BFE71-4B6F-41C0-8A16-3110CB50E6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49881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818767-D5DA-4F6F-BA4E-2D8825768E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11582-3B28-4E3F-B9A0-2DEA25D36950}" type="datetime1">
              <a:rPr lang="en-US" altLang="en-US" smtClean="0"/>
              <a:t>4/25/2024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D191FC-69E2-4148-9805-0E29EF4FE3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CS3006 - Fall 2021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2046E4-4AFD-49C0-8DD9-3BDB364BDE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1B592-EB70-4F99-B74D-6070AB171A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62386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EBCC5D8-2B96-4710-9967-181D5D1327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A41CF7-E572-40A7-AD94-26AFF51FE450}" type="datetime1">
              <a:rPr lang="en-US" altLang="en-US" smtClean="0"/>
              <a:t>4/25/2024</a:t>
            </a:fld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1D45BA0-7817-4344-A4F5-6078A61860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CS3006 - Fall 2021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07C6B9C-9FF0-42C4-BBF3-D2508EDA95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88E6E-587F-4650-BF3F-3C4C10B822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10791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DED7A68-7804-4FF1-86FF-1C96373BFB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251849-4327-40FF-BAA2-3ECB642B4CCC}" type="datetime1">
              <a:rPr lang="en-US" altLang="en-US" smtClean="0"/>
              <a:t>4/25/2024</a:t>
            </a:fld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82EB3BA-1369-4705-9542-1FCA1195CE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CS3006 - Fall 2021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57FDC17-657B-46CB-B6DD-AD730FC277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781642-3EB0-42EB-A519-9A8804B5AA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45256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7FE7836-AA2A-44B6-8F26-C192005815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E60EF4-3AAF-4966-ABEA-E018E635B9A8}" type="datetime1">
              <a:rPr lang="en-US" altLang="en-US" smtClean="0"/>
              <a:t>4/25/2024</a:t>
            </a:fld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3EAF873-5BCE-4DBC-89C5-1F8DDCC10D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CS3006 - Fall 2021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76E6DFA-05A4-43D5-AD2A-A0B191F7E6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72B4EA-B1A3-4EE9-9C80-CB16861610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49223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4CCF18-D096-4DCB-A757-71D207F68A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1A02B5-3062-4964-BBC6-331F3A5A6878}" type="datetime1">
              <a:rPr lang="en-US" altLang="en-US" smtClean="0"/>
              <a:t>4/25/2024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B9D878-5455-4C79-9F44-2FC1A41440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CS3006 - Fall 2021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2D157-1E65-4DB4-A664-65B87A1EA6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60582-FC10-43D5-9F5A-1419C006BB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06822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889125-8AC4-48FF-A297-124BF82DE5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1CC08-E870-4B27-B544-8F3F4BA23492}" type="datetime1">
              <a:rPr lang="en-US" altLang="en-US" smtClean="0"/>
              <a:t>4/25/2024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E2493B-BB44-4FC2-B044-2EA8C844A3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CS3006 - Fall 2021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E53541-BF10-401E-BDEE-BFDCC4EDFE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CA5229-4E9A-42CA-8B65-A2CB0B4EB5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0946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B0E3F5D-C99A-46E7-9B67-7ED9D57C6D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E15B0A-49A8-4FE5-B54E-EACA8D5C21BF}" type="datetime1">
              <a:rPr lang="en-US" altLang="en-US" smtClean="0"/>
              <a:t>4/25/2024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374A9F2-E51D-4E0E-8EB5-C48B7477AF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CS3006 - Fall 2021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C64C02-EFA9-4E2E-A4C5-85E6942F70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54AD80-993F-4319-8E13-124679F755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51759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0557DE-538E-45E8-BCBE-AF9173234E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481B3B-B7C0-41F7-8A4B-C2AB8CE88938}" type="datetime1">
              <a:rPr lang="en-US" altLang="en-US" smtClean="0"/>
              <a:t>4/25/2024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F34529-F85C-4C58-8B5E-9F0D260569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CS3006 - Fall 2021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3B9C28E-DABD-4624-BFA8-0214FC17E2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D1E0C-E36C-44FF-A121-7203DE4C10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5945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8939" y="6135089"/>
            <a:ext cx="1289841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785BC9-75FC-4E2A-93EF-C56ED3D210B6}" type="datetime1">
              <a:rPr lang="en-US" altLang="en-US" smtClean="0">
                <a:solidFill>
                  <a:srgbClr val="000000"/>
                </a:solidFill>
              </a:rPr>
              <a:t>4/25/2024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1077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727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E09D9E6-FA27-45CB-8931-E57B127C8E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FA020F2-8448-45A8-BE78-735D265AA5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5115B1D-19B7-4707-A8A2-BE0A9356AB2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81BA67CF-7AD5-477D-91C6-E5030B8A5F89}" type="datetime1">
              <a:rPr lang="en-US" altLang="en-US" smtClean="0"/>
              <a:t>4/25/2024</a:t>
            </a:fld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487F903-0266-4451-B1E1-5DC3572992A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 altLang="en-US"/>
              <a:t>CS3006 - Fall 2021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F0C15D1-9990-4AEA-B42E-29BB5B5E0F0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A5F135EE-4B33-4D80-ACB1-1B8F78CFDC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41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03717" y="1320921"/>
            <a:ext cx="8229600" cy="4997450"/>
          </a:xfrm>
        </p:spPr>
        <p:txBody>
          <a:bodyPr>
            <a:normAutofit/>
          </a:bodyPr>
          <a:lstStyle/>
          <a:p>
            <a:pPr marL="0" indent="0" algn="ctr">
              <a:buFont typeface="Monotype Sorts" pitchFamily="-84" charset="2"/>
              <a:buNone/>
              <a:defRPr/>
            </a:pPr>
            <a:r>
              <a:rPr lang="en-GB" sz="4400" b="1" dirty="0">
                <a:solidFill>
                  <a:srgbClr val="0070C0"/>
                </a:solidFill>
              </a:rPr>
              <a:t>Parallel and Distributed Computing</a:t>
            </a:r>
          </a:p>
          <a:p>
            <a:pPr marL="0" indent="0" algn="ctr">
              <a:buFont typeface="Monotype Sorts" pitchFamily="-84" charset="2"/>
              <a:buNone/>
              <a:defRPr/>
            </a:pPr>
            <a:endParaRPr lang="en-GB" sz="3200" dirty="0"/>
          </a:p>
          <a:p>
            <a:pPr marL="0" indent="0" algn="ctr">
              <a:buFont typeface="Monotype Sorts" pitchFamily="-84" charset="2"/>
              <a:buNone/>
              <a:defRPr/>
            </a:pPr>
            <a:r>
              <a:rPr lang="en-GB" sz="3200" b="1" dirty="0">
                <a:solidFill>
                  <a:srgbClr val="FF0000"/>
                </a:solidFill>
              </a:rPr>
              <a:t>Parallel Algorithm design Life Cycle</a:t>
            </a:r>
          </a:p>
          <a:p>
            <a:pPr marL="0" indent="0" algn="ctr">
              <a:buFont typeface="Monotype Sorts" pitchFamily="-84" charset="2"/>
              <a:buNone/>
              <a:defRPr/>
            </a:pPr>
            <a:endParaRPr lang="en-GB" sz="3200" dirty="0"/>
          </a:p>
          <a:p>
            <a:pPr marL="0" indent="0" algn="r">
              <a:buFont typeface="Monotype Sorts" pitchFamily="-84" charset="2"/>
              <a:buNone/>
              <a:defRPr/>
            </a:pPr>
            <a:endParaRPr lang="en-GB" sz="1200" dirty="0">
              <a:solidFill>
                <a:srgbClr val="00B050"/>
              </a:solidFill>
            </a:endParaRPr>
          </a:p>
          <a:p>
            <a:pPr marL="0" indent="0" algn="r">
              <a:buFont typeface="Monotype Sorts" pitchFamily="-84" charset="2"/>
              <a:buNone/>
              <a:defRPr/>
            </a:pPr>
            <a:r>
              <a:rPr lang="en-GB" sz="1200" dirty="0"/>
              <a:t> </a:t>
            </a:r>
          </a:p>
          <a:p>
            <a:pPr marL="0" indent="0">
              <a:buFont typeface="Monotype Sorts" pitchFamily="-84" charset="2"/>
              <a:buNone/>
              <a:defRPr/>
            </a:pP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2712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>
            <a:extLst>
              <a:ext uri="{FF2B5EF4-FFF2-40B4-BE49-F238E27FC236}">
                <a16:creationId xmlns:a16="http://schemas.microsoft.com/office/drawing/2014/main" id="{A375624E-9575-4CEC-AD5D-DBEC2FB25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814"/>
            <a:ext cx="8474725" cy="681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 Quick Review </a:t>
            </a:r>
          </a:p>
          <a:p>
            <a:r>
              <a:rPr lang="en-US" altLang="en-US" dirty="0"/>
              <a:t>Parallel Algorithm Design Life Cycle</a:t>
            </a:r>
          </a:p>
          <a:p>
            <a:r>
              <a:rPr lang="en-US" altLang="en-US" dirty="0"/>
              <a:t>Tasks, Decomposition, and Task-dependency graphs</a:t>
            </a:r>
          </a:p>
          <a:p>
            <a:r>
              <a:rPr lang="en-US" altLang="en-US" dirty="0"/>
              <a:t>Granularity</a:t>
            </a:r>
          </a:p>
          <a:p>
            <a:pPr lvl="1"/>
            <a:r>
              <a:rPr lang="en-US" altLang="en-US" dirty="0"/>
              <a:t>Fine-grained</a:t>
            </a:r>
          </a:p>
          <a:p>
            <a:pPr lvl="1"/>
            <a:r>
              <a:rPr lang="en-US" altLang="en-US" dirty="0"/>
              <a:t>Coarse-grained</a:t>
            </a:r>
          </a:p>
          <a:p>
            <a:r>
              <a:rPr lang="en-US" altLang="en-US" dirty="0"/>
              <a:t>Concurrency</a:t>
            </a:r>
          </a:p>
          <a:p>
            <a:pPr lvl="1"/>
            <a:r>
              <a:rPr lang="en-US" altLang="en-US" dirty="0"/>
              <a:t>Max-degree of concurrency</a:t>
            </a:r>
          </a:p>
          <a:p>
            <a:pPr lvl="1"/>
            <a:r>
              <a:rPr lang="en-US" altLang="en-US" dirty="0"/>
              <a:t>Critical path length</a:t>
            </a:r>
          </a:p>
          <a:p>
            <a:pPr lvl="1"/>
            <a:r>
              <a:rPr lang="en-US" altLang="en-US" dirty="0"/>
              <a:t>Average-degree of concurrency</a:t>
            </a:r>
          </a:p>
          <a:p>
            <a:r>
              <a:rPr lang="en-US" altLang="en-US" dirty="0"/>
              <a:t>Task-interaction Diagrams</a:t>
            </a:r>
          </a:p>
          <a:p>
            <a:pPr lvl="1"/>
            <a:r>
              <a:rPr lang="en-US" altLang="en-US" dirty="0"/>
              <a:t>Processes and mapping</a:t>
            </a:r>
          </a:p>
          <a:p>
            <a:pPr marL="0" indent="0" algn="just">
              <a:buNone/>
            </a:pPr>
            <a:endParaRPr lang="en-US" altLang="en-US" dirty="0"/>
          </a:p>
          <a:p>
            <a:pPr algn="just"/>
            <a:endParaRPr lang="en-US" altLang="en-US" dirty="0"/>
          </a:p>
          <a:p>
            <a:pPr marL="0" indent="0" algn="just">
              <a:buNone/>
            </a:pPr>
            <a:endParaRPr lang="en-US" alt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30248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Quick Review to the Previous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en-US" dirty="0"/>
              <a:t>Static vs Dynamic Interconnections</a:t>
            </a:r>
          </a:p>
          <a:p>
            <a:pPr algn="just"/>
            <a:r>
              <a:rPr lang="en-US" altLang="en-US" dirty="0"/>
              <a:t>Network Topologies</a:t>
            </a:r>
          </a:p>
          <a:p>
            <a:pPr lvl="1" algn="just"/>
            <a:r>
              <a:rPr lang="en-US" altLang="en-US" dirty="0"/>
              <a:t>Linear array</a:t>
            </a:r>
          </a:p>
          <a:p>
            <a:pPr lvl="1" algn="just"/>
            <a:r>
              <a:rPr lang="en-US" altLang="en-US" dirty="0"/>
              <a:t>Star</a:t>
            </a:r>
          </a:p>
          <a:p>
            <a:pPr lvl="1" algn="just"/>
            <a:r>
              <a:rPr lang="en-US" altLang="en-US" dirty="0"/>
              <a:t>Mesh</a:t>
            </a:r>
          </a:p>
          <a:p>
            <a:pPr lvl="1" algn="just"/>
            <a:r>
              <a:rPr lang="en-US" altLang="en-US" dirty="0"/>
              <a:t>Tree</a:t>
            </a:r>
          </a:p>
          <a:p>
            <a:pPr lvl="1" algn="just"/>
            <a:r>
              <a:rPr lang="en-US" altLang="en-US" dirty="0"/>
              <a:t>Fully-connected</a:t>
            </a:r>
          </a:p>
          <a:p>
            <a:pPr lvl="1" algn="just"/>
            <a:r>
              <a:rPr lang="en-US" altLang="en-US" dirty="0"/>
              <a:t>Hypercube</a:t>
            </a:r>
          </a:p>
          <a:p>
            <a:pPr algn="just"/>
            <a:r>
              <a:rPr lang="en-US" altLang="en-US" dirty="0"/>
              <a:t>Evaluating Static interconnections </a:t>
            </a:r>
          </a:p>
          <a:p>
            <a:pPr lvl="1" algn="just"/>
            <a:r>
              <a:rPr lang="en-US" altLang="en-US" dirty="0"/>
              <a:t>Cost</a:t>
            </a:r>
          </a:p>
          <a:p>
            <a:pPr lvl="1" algn="just"/>
            <a:r>
              <a:rPr lang="en-US" altLang="en-US" dirty="0"/>
              <a:t>Diameter </a:t>
            </a:r>
          </a:p>
          <a:p>
            <a:pPr lvl="1" algn="just"/>
            <a:r>
              <a:rPr lang="en-US" altLang="en-US" dirty="0"/>
              <a:t>Bisection-width </a:t>
            </a:r>
          </a:p>
          <a:p>
            <a:pPr lvl="1" algn="just"/>
            <a:r>
              <a:rPr lang="en-US" altLang="en-US" dirty="0"/>
              <a:t>Arc-connectivity</a:t>
            </a:r>
          </a:p>
          <a:p>
            <a:pPr algn="just"/>
            <a:endParaRPr lang="en-US" alt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79250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2" name="Freeform 6">
            <a:extLst>
              <a:ext uri="{FF2B5EF4-FFF2-40B4-BE49-F238E27FC236}">
                <a16:creationId xmlns:a16="http://schemas.microsoft.com/office/drawing/2014/main" id="{5BD23F8E-2E78-4C84-8EFB-FE6C8ACB7F1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F81819F9-8CAC-4A6C-8F06-0482027F97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214644" y="2759546"/>
            <a:ext cx="6908944" cy="145275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5000" dirty="0"/>
              <a:t>Principles of Parallel Algorithm Design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A98CC08-AEC2-4E8F-8F52-0F5C6372DB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3863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D1545E6-EB3C-4478-A661-A2CA963F129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49" name="Freeform 11">
              <a:extLst>
                <a:ext uri="{FF2B5EF4-FFF2-40B4-BE49-F238E27FC236}">
                  <a16:creationId xmlns:a16="http://schemas.microsoft.com/office/drawing/2014/main" id="{B2E5B960-0C5D-4F77-8E9F-9F3D883D83C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12">
              <a:extLst>
                <a:ext uri="{FF2B5EF4-FFF2-40B4-BE49-F238E27FC236}">
                  <a16:creationId xmlns:a16="http://schemas.microsoft.com/office/drawing/2014/main" id="{258E44FC-92AD-43A0-BB05-DB268C82D8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C63D3083-A56C-4199-8DE0-63C8BE9EDFE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14">
              <a:extLst>
                <a:ext uri="{FF2B5EF4-FFF2-40B4-BE49-F238E27FC236}">
                  <a16:creationId xmlns:a16="http://schemas.microsoft.com/office/drawing/2014/main" id="{C7CD3581-635D-438F-A64F-68404E7AE0B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15">
              <a:extLst>
                <a:ext uri="{FF2B5EF4-FFF2-40B4-BE49-F238E27FC236}">
                  <a16:creationId xmlns:a16="http://schemas.microsoft.com/office/drawing/2014/main" id="{AD6904C0-211C-41A2-BDB8-3B07C90BBB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B0837DA6-CAF9-4E78-A39E-6358EDE2B10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17">
              <a:extLst>
                <a:ext uri="{FF2B5EF4-FFF2-40B4-BE49-F238E27FC236}">
                  <a16:creationId xmlns:a16="http://schemas.microsoft.com/office/drawing/2014/main" id="{0A99DD7D-3AB3-471E-842F-8AFEA09D07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18">
              <a:extLst>
                <a:ext uri="{FF2B5EF4-FFF2-40B4-BE49-F238E27FC236}">
                  <a16:creationId xmlns:a16="http://schemas.microsoft.com/office/drawing/2014/main" id="{9C70B0D4-92FE-478F-86BD-93BA2C4DFCD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19">
              <a:extLst>
                <a:ext uri="{FF2B5EF4-FFF2-40B4-BE49-F238E27FC236}">
                  <a16:creationId xmlns:a16="http://schemas.microsoft.com/office/drawing/2014/main" id="{C9156BE6-11D4-4696-9E3F-C325BFAC81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20">
              <a:extLst>
                <a:ext uri="{FF2B5EF4-FFF2-40B4-BE49-F238E27FC236}">
                  <a16:creationId xmlns:a16="http://schemas.microsoft.com/office/drawing/2014/main" id="{4E667226-1D20-4A9D-BBE3-AC17EA436F0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21">
              <a:extLst>
                <a:ext uri="{FF2B5EF4-FFF2-40B4-BE49-F238E27FC236}">
                  <a16:creationId xmlns:a16="http://schemas.microsoft.com/office/drawing/2014/main" id="{2F87E3B6-5202-4434-9B26-42B46774F32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22">
              <a:extLst>
                <a:ext uri="{FF2B5EF4-FFF2-40B4-BE49-F238E27FC236}">
                  <a16:creationId xmlns:a16="http://schemas.microsoft.com/office/drawing/2014/main" id="{AEA5E85F-F1F4-40E4-A62C-95324F67492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0A75861-F6C5-44A9-B161-B03701CBDE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72EE642D-4F69-47C0-99BA-CE435035735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26178CE4-DA2D-46EA-AB8D-341C5AC563D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698E9F53-8381-4FA5-A510-846925D242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6" name="Freeform 30">
              <a:extLst>
                <a:ext uri="{FF2B5EF4-FFF2-40B4-BE49-F238E27FC236}">
                  <a16:creationId xmlns:a16="http://schemas.microsoft.com/office/drawing/2014/main" id="{B13CE284-F21E-411B-BB8E-9C03B853CE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7" name="Freeform 31">
              <a:extLst>
                <a:ext uri="{FF2B5EF4-FFF2-40B4-BE49-F238E27FC236}">
                  <a16:creationId xmlns:a16="http://schemas.microsoft.com/office/drawing/2014/main" id="{23DF4578-4703-437C-A797-2A2D0CEE5F4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8" name="Freeform 32">
              <a:extLst>
                <a:ext uri="{FF2B5EF4-FFF2-40B4-BE49-F238E27FC236}">
                  <a16:creationId xmlns:a16="http://schemas.microsoft.com/office/drawing/2014/main" id="{F878F330-AF64-4F8F-88FD-A4A408D6D36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9" name="Freeform 33">
              <a:extLst>
                <a:ext uri="{FF2B5EF4-FFF2-40B4-BE49-F238E27FC236}">
                  <a16:creationId xmlns:a16="http://schemas.microsoft.com/office/drawing/2014/main" id="{AC9B00BF-4FB7-42FA-BBBD-7DB54ED3F06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0" name="Freeform 34">
              <a:extLst>
                <a:ext uri="{FF2B5EF4-FFF2-40B4-BE49-F238E27FC236}">
                  <a16:creationId xmlns:a16="http://schemas.microsoft.com/office/drawing/2014/main" id="{BD3D64CA-2AAD-4609-8DAA-3EAD4609A6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1" name="Freeform 35">
              <a:extLst>
                <a:ext uri="{FF2B5EF4-FFF2-40B4-BE49-F238E27FC236}">
                  <a16:creationId xmlns:a16="http://schemas.microsoft.com/office/drawing/2014/main" id="{C669E05A-8550-4E91-B29E-E1912228EC9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2" name="Freeform 36">
              <a:extLst>
                <a:ext uri="{FF2B5EF4-FFF2-40B4-BE49-F238E27FC236}">
                  <a16:creationId xmlns:a16="http://schemas.microsoft.com/office/drawing/2014/main" id="{F8C1FD53-1E8F-46CA-BC2D-FCEC4DAE07F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3" name="Freeform 37">
              <a:extLst>
                <a:ext uri="{FF2B5EF4-FFF2-40B4-BE49-F238E27FC236}">
                  <a16:creationId xmlns:a16="http://schemas.microsoft.com/office/drawing/2014/main" id="{CC97A31F-CFDE-4EA3-98F1-13FDD16702E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4" name="Freeform 38">
              <a:extLst>
                <a:ext uri="{FF2B5EF4-FFF2-40B4-BE49-F238E27FC236}">
                  <a16:creationId xmlns:a16="http://schemas.microsoft.com/office/drawing/2014/main" id="{9E1540E7-E6C3-4907-B70A-B1756836559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6" name="Freeform 11">
            <a:extLst>
              <a:ext uri="{FF2B5EF4-FFF2-40B4-BE49-F238E27FC236}">
                <a16:creationId xmlns:a16="http://schemas.microsoft.com/office/drawing/2014/main" id="{1310EFE2-B91D-47E7-B117-C2A802800A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411452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4374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</a:t>
            </a:r>
            <a:r>
              <a:rPr lang="en-US" altLang="en-US" dirty="0" smtClean="0"/>
              <a:t>rinciples </a:t>
            </a:r>
            <a:r>
              <a:rPr lang="en-US" altLang="en-US" dirty="0"/>
              <a:t>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/>
              <a:t>Steps in Parallel Algorithm Design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b="1" dirty="0"/>
              <a:t>Identification:</a:t>
            </a:r>
            <a:r>
              <a:rPr lang="en-US" altLang="en-US" dirty="0"/>
              <a:t> Identifying portions of the work that can be performed concurrently.</a:t>
            </a:r>
          </a:p>
          <a:p>
            <a:pPr marL="857250" lvl="1" indent="-457200"/>
            <a:r>
              <a:rPr lang="en-US" altLang="en-US" dirty="0"/>
              <a:t>Work-units are also known as tasks</a:t>
            </a:r>
          </a:p>
          <a:p>
            <a:pPr marL="857250" lvl="1" indent="-457200"/>
            <a:r>
              <a:rPr lang="en-US" altLang="en-US" dirty="0"/>
              <a:t>E.g., Initializing two mega-arrays are two tasks and can be performed in parallel  </a:t>
            </a:r>
            <a:endParaRPr lang="en-US" alt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altLang="en-US" b="1" dirty="0"/>
              <a:t>Mapping: </a:t>
            </a:r>
            <a:r>
              <a:rPr lang="en-US" altLang="en-US" dirty="0"/>
              <a:t>The process of mapping concurrent pieces of the work or tasks onto multiple processes running in parallel.</a:t>
            </a:r>
          </a:p>
          <a:p>
            <a:pPr marL="857250" lvl="1" indent="-457200"/>
            <a:r>
              <a:rPr lang="en-US" altLang="en-US" dirty="0"/>
              <a:t>Multiple processes can be physically mapped  on a single processor.</a:t>
            </a:r>
          </a:p>
          <a:p>
            <a:pPr marL="400050" lvl="1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50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</a:t>
            </a:r>
            <a:r>
              <a:rPr lang="en-US" altLang="en-US" smtClean="0"/>
              <a:t>rinciples </a:t>
            </a:r>
            <a:r>
              <a:rPr lang="en-US" altLang="en-US" dirty="0"/>
              <a:t>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b="1" dirty="0"/>
              <a:t>Steps in Parallel Algorithm Design</a:t>
            </a:r>
            <a:endParaRPr lang="en-US" altLang="en-US" dirty="0"/>
          </a:p>
          <a:p>
            <a:pPr marL="457200" indent="-457200">
              <a:buFont typeface="+mj-lt"/>
              <a:buAutoNum type="arabicPeriod" startAt="3"/>
            </a:pPr>
            <a:r>
              <a:rPr lang="en-US" altLang="en-US" b="1" dirty="0"/>
              <a:t>Data Partitioning:</a:t>
            </a:r>
            <a:r>
              <a:rPr lang="en-US" altLang="en-US" dirty="0"/>
              <a:t> Distributing the input, output, and intermediate data associated with the program.</a:t>
            </a:r>
            <a:endParaRPr lang="en-US" altLang="en-US" b="1" dirty="0"/>
          </a:p>
          <a:p>
            <a:pPr lvl="1" indent="-342900"/>
            <a:r>
              <a:rPr lang="en-US" altLang="en-US" dirty="0"/>
              <a:t>One way is to copy whole data at each processing node</a:t>
            </a:r>
          </a:p>
          <a:p>
            <a:pPr lvl="2" indent="-342900"/>
            <a:r>
              <a:rPr lang="en-US" altLang="en-US" dirty="0"/>
              <a:t>Memory challenges for huge-size problems</a:t>
            </a:r>
          </a:p>
          <a:p>
            <a:pPr marL="857250" lvl="1" indent="-457200"/>
            <a:r>
              <a:rPr lang="en-US" altLang="en-US" dirty="0"/>
              <a:t>Other way is to give fragments of data to each processing node</a:t>
            </a:r>
          </a:p>
          <a:p>
            <a:pPr marL="1257300" lvl="2" indent="-457200"/>
            <a:r>
              <a:rPr lang="en-US" altLang="en-US" dirty="0"/>
              <a:t>Communication overheads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altLang="en-US" b="1" dirty="0"/>
              <a:t>Defining Access Protocol</a:t>
            </a:r>
            <a:r>
              <a:rPr lang="en-US" altLang="en-US" dirty="0"/>
              <a:t>: Managing accesses to data shared by multiple processors (i.e., managing communication).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altLang="en-US" b="1" dirty="0"/>
              <a:t>Synchronizing</a:t>
            </a:r>
            <a:r>
              <a:rPr lang="en-US" altLang="en-US" dirty="0"/>
              <a:t> the processors at various stages of the parallel program execution.</a:t>
            </a:r>
          </a:p>
        </p:txBody>
      </p:sp>
    </p:spTree>
    <p:extLst>
      <p:ext uri="{BB962C8B-B14F-4D97-AF65-F5344CB8AC3E}">
        <p14:creationId xmlns:p14="http://schemas.microsoft.com/office/powerpoint/2010/main" val="3289380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principles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r>
              <a:rPr lang="en-US" b="1" dirty="0"/>
              <a:t>Decomposition: </a:t>
            </a:r>
          </a:p>
          <a:p>
            <a:pPr lvl="1"/>
            <a:r>
              <a:rPr lang="en-US" dirty="0"/>
              <a:t>The process of dividing a computation into smaller parts, some or all of which may potentially be executed in parallel.</a:t>
            </a:r>
          </a:p>
          <a:p>
            <a:r>
              <a:rPr lang="en-US" b="1" i="1" dirty="0"/>
              <a:t>Tasks</a:t>
            </a:r>
          </a:p>
          <a:p>
            <a:pPr lvl="1"/>
            <a:r>
              <a:rPr lang="en-US" b="1" dirty="0"/>
              <a:t>Programmer-defined units of computation </a:t>
            </a:r>
            <a:r>
              <a:rPr lang="en-US" dirty="0"/>
              <a:t>into which the main computation is subdivided by means of decomposition</a:t>
            </a:r>
          </a:p>
          <a:p>
            <a:pPr lvl="1"/>
            <a:r>
              <a:rPr lang="en-US" dirty="0"/>
              <a:t>Tasks can be of </a:t>
            </a:r>
            <a:r>
              <a:rPr lang="en-US" b="1" dirty="0"/>
              <a:t>arbitrary size</a:t>
            </a:r>
            <a:r>
              <a:rPr lang="en-US" dirty="0"/>
              <a:t>, but once defined, they are regarded as </a:t>
            </a:r>
            <a:r>
              <a:rPr lang="en-US" b="1" dirty="0"/>
              <a:t>indivisible units of computation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tasks into which a problem is decomposed may not all be of the same size</a:t>
            </a:r>
          </a:p>
          <a:p>
            <a:pPr lvl="1"/>
            <a:r>
              <a:rPr lang="en-US" dirty="0"/>
              <a:t>Simultaneous execution of multiple tasks is the key to reducing the time required to solve the entire problem.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11085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">
            <a:extLst>
              <a:ext uri="{FF2B5EF4-FFF2-40B4-BE49-F238E27FC236}">
                <a16:creationId xmlns:a16="http://schemas.microsoft.com/office/drawing/2014/main" id="{885A35B9-09AC-433C-8AD5-A5D8E1ECD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5" y="1143000"/>
            <a:ext cx="8683625" cy="462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>
            <a:extLst>
              <a:ext uri="{FF2B5EF4-FFF2-40B4-BE49-F238E27FC236}">
                <a16:creationId xmlns:a16="http://schemas.microsoft.com/office/drawing/2014/main" id="{87281F59-C661-417D-BDD5-B166F2FC7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" y="1143000"/>
            <a:ext cx="8683625" cy="438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principles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Task-Dependency Graph</a:t>
            </a:r>
          </a:p>
          <a:p>
            <a:r>
              <a:rPr lang="en-US" dirty="0"/>
              <a:t>The tasks in the previous examples are independent and can be performed in any sequence.</a:t>
            </a:r>
          </a:p>
          <a:p>
            <a:r>
              <a:rPr lang="en-US" dirty="0"/>
              <a:t>In most of the problems, there exist some sort of dependencies between the tasks.</a:t>
            </a:r>
          </a:p>
          <a:p>
            <a:r>
              <a:rPr lang="en-US" dirty="0"/>
              <a:t>An abstraction used to express such </a:t>
            </a:r>
            <a:r>
              <a:rPr lang="en-US" b="1" dirty="0"/>
              <a:t>dependencies</a:t>
            </a:r>
            <a:r>
              <a:rPr lang="en-US" dirty="0"/>
              <a:t> among tasks and their </a:t>
            </a:r>
            <a:r>
              <a:rPr lang="en-US" b="1" dirty="0"/>
              <a:t>relative order of execution</a:t>
            </a:r>
            <a:r>
              <a:rPr lang="en-US" dirty="0"/>
              <a:t> is known as a </a:t>
            </a:r>
            <a:r>
              <a:rPr lang="en-US" b="1" dirty="0"/>
              <a:t>task-dependency graph</a:t>
            </a:r>
          </a:p>
          <a:p>
            <a:r>
              <a:rPr lang="en-US" dirty="0"/>
              <a:t>It is a </a:t>
            </a:r>
            <a:r>
              <a:rPr lang="en-US" b="1" dirty="0"/>
              <a:t>directed acyclic graph</a:t>
            </a:r>
            <a:r>
              <a:rPr lang="en-US" dirty="0"/>
              <a:t> in which node are tasks and the directed edges indicate the dependencies between them</a:t>
            </a:r>
          </a:p>
          <a:p>
            <a:r>
              <a:rPr lang="en-US" dirty="0"/>
              <a:t>The task corresponding to a node can be executed when all tasks connected to this node by incoming edges have completed.</a:t>
            </a:r>
          </a:p>
        </p:txBody>
      </p:sp>
    </p:spTree>
    <p:extLst>
      <p:ext uri="{BB962C8B-B14F-4D97-AF65-F5344CB8AC3E}">
        <p14:creationId xmlns:p14="http://schemas.microsoft.com/office/powerpoint/2010/main" val="716047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>
            <a:extLst>
              <a:ext uri="{FF2B5EF4-FFF2-40B4-BE49-F238E27FC236}">
                <a16:creationId xmlns:a16="http://schemas.microsoft.com/office/drawing/2014/main" id="{527C7B7F-A895-4318-AAB9-8EE959486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391886"/>
            <a:ext cx="8683625" cy="576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4">
            <a:extLst>
              <a:ext uri="{FF2B5EF4-FFF2-40B4-BE49-F238E27FC236}">
                <a16:creationId xmlns:a16="http://schemas.microsoft.com/office/drawing/2014/main" id="{7474BD13-8774-4490-9F2C-021304E80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320675"/>
            <a:ext cx="8683625" cy="607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principles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Granularity</a:t>
            </a:r>
          </a:p>
          <a:p>
            <a:r>
              <a:rPr lang="en-US" dirty="0"/>
              <a:t>The </a:t>
            </a:r>
            <a:r>
              <a:rPr lang="en-US" b="1" dirty="0"/>
              <a:t>number and sizes</a:t>
            </a:r>
            <a:r>
              <a:rPr lang="en-US" dirty="0"/>
              <a:t> of tasks into which a problem is decomposed determines the </a:t>
            </a:r>
            <a:r>
              <a:rPr lang="en-US" b="1" i="1" dirty="0"/>
              <a:t>granularity </a:t>
            </a:r>
            <a:r>
              <a:rPr lang="en-US" dirty="0"/>
              <a:t>of the decomposition</a:t>
            </a:r>
          </a:p>
          <a:p>
            <a:pPr lvl="1"/>
            <a:r>
              <a:rPr lang="en-US" dirty="0"/>
              <a:t>A decomposition into a large number of small tasks is called </a:t>
            </a:r>
            <a:r>
              <a:rPr lang="en-US" b="1" i="1" dirty="0"/>
              <a:t>fine-grained</a:t>
            </a:r>
          </a:p>
          <a:p>
            <a:pPr lvl="1"/>
            <a:r>
              <a:rPr lang="en-US" dirty="0"/>
              <a:t>A decomposition into a small number of large tasks is called </a:t>
            </a:r>
            <a:r>
              <a:rPr lang="en-US" b="1" i="1" dirty="0"/>
              <a:t>coarse-grained</a:t>
            </a:r>
          </a:p>
          <a:p>
            <a:r>
              <a:rPr lang="en-US" dirty="0"/>
              <a:t>For matrix-vector multiplication Figure 3.1 would usually be considered fine-grained </a:t>
            </a:r>
          </a:p>
          <a:p>
            <a:r>
              <a:rPr lang="en-US" dirty="0"/>
              <a:t>Figure 3.4 shows a coarse-grained decomposition as each tasks computes </a:t>
            </a:r>
            <a:r>
              <a:rPr lang="en-US" i="1" dirty="0"/>
              <a:t>n</a:t>
            </a:r>
            <a:r>
              <a:rPr lang="en-US" dirty="0"/>
              <a:t>/4 of the entries of the output vector of length </a:t>
            </a:r>
            <a:r>
              <a:rPr lang="en-US" i="1" dirty="0"/>
              <a:t>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756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principles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Maximum Degree of Concurrency </a:t>
            </a:r>
          </a:p>
          <a:p>
            <a:r>
              <a:rPr lang="en-US" dirty="0"/>
              <a:t>The maximum number of tasks that can be executed simultaneously in a parallel program at any given time is known as its </a:t>
            </a:r>
            <a:r>
              <a:rPr lang="en-US" i="1" dirty="0"/>
              <a:t>maximum degree of concurrency</a:t>
            </a:r>
          </a:p>
          <a:p>
            <a:r>
              <a:rPr lang="en-US" dirty="0"/>
              <a:t>Usually, it is always less than total number of tasks due to dependencies.</a:t>
            </a:r>
          </a:p>
          <a:p>
            <a:r>
              <a:rPr lang="en-US" dirty="0"/>
              <a:t> E.g., max-degree of concurrency in the task-graphs of Figures 3.2 and 3.3 is 4.</a:t>
            </a:r>
          </a:p>
          <a:p>
            <a:r>
              <a:rPr lang="en-US" b="1" dirty="0"/>
              <a:t>Rule of thumb: </a:t>
            </a:r>
            <a:r>
              <a:rPr lang="en-US" dirty="0"/>
              <a:t>For task-dependency graphs that are trees, the maximum degree of concurrency </a:t>
            </a:r>
            <a:r>
              <a:rPr lang="en-US" b="1" dirty="0"/>
              <a:t>is always equal to the number of leaves in the tree</a:t>
            </a:r>
          </a:p>
        </p:txBody>
      </p:sp>
    </p:spTree>
    <p:extLst>
      <p:ext uri="{BB962C8B-B14F-4D97-AF65-F5344CB8AC3E}">
        <p14:creationId xmlns:p14="http://schemas.microsoft.com/office/powerpoint/2010/main" val="3286430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9DDCE7-96C6-480E-8A61-569285291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28" y="1647427"/>
            <a:ext cx="6900618" cy="50683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principles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Determine Maximum Degree of Concurrency?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652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principles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Average Degree of Concurrency </a:t>
            </a:r>
          </a:p>
          <a:p>
            <a:r>
              <a:rPr lang="en-US" dirty="0"/>
              <a:t>A relatively better measure for the performance of a parallel program</a:t>
            </a:r>
          </a:p>
          <a:p>
            <a:r>
              <a:rPr lang="en-US" dirty="0"/>
              <a:t>The average number of tasks that can run concurrently over the entire duration of execution of the program</a:t>
            </a:r>
          </a:p>
          <a:p>
            <a:r>
              <a:rPr lang="en-US" dirty="0"/>
              <a:t>The ratio of the </a:t>
            </a:r>
            <a:r>
              <a:rPr lang="en-US" b="1" i="1" dirty="0"/>
              <a:t>total amount of work</a:t>
            </a:r>
            <a:r>
              <a:rPr lang="en-US" dirty="0"/>
              <a:t> to the </a:t>
            </a:r>
            <a:r>
              <a:rPr lang="en-US" b="1" i="1" dirty="0"/>
              <a:t>critical-path length</a:t>
            </a:r>
          </a:p>
          <a:p>
            <a:pPr lvl="1"/>
            <a:r>
              <a:rPr lang="en-US" dirty="0"/>
              <a:t>So, what is the critical path in the graph</a:t>
            </a:r>
            <a:r>
              <a:rPr lang="en-US" b="1" dirty="0"/>
              <a:t>?</a:t>
            </a:r>
          </a:p>
          <a:p>
            <a:pPr marL="457200" lvl="1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42886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principles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Average Degree of Concurrency </a:t>
            </a:r>
          </a:p>
          <a:p>
            <a:r>
              <a:rPr lang="en-US" b="1" dirty="0"/>
              <a:t>Critical Path: </a:t>
            </a:r>
            <a:r>
              <a:rPr lang="en-US" dirty="0"/>
              <a:t>The longest directed path between any pair of start and finish nodes is known as the critical path.</a:t>
            </a:r>
            <a:r>
              <a:rPr lang="en-US" b="1" dirty="0"/>
              <a:t> </a:t>
            </a:r>
          </a:p>
          <a:p>
            <a:r>
              <a:rPr lang="en-US" b="1" dirty="0"/>
              <a:t>Critical Path Length</a:t>
            </a:r>
            <a:r>
              <a:rPr lang="en-US" b="1" i="1" dirty="0"/>
              <a:t>: </a:t>
            </a:r>
            <a:r>
              <a:rPr lang="en-US" dirty="0"/>
              <a:t>The sum of the weights of nodes along this path</a:t>
            </a:r>
          </a:p>
          <a:p>
            <a:pPr lvl="1"/>
            <a:r>
              <a:rPr lang="en-US" dirty="0"/>
              <a:t>the weight of a node is the size or the amount of work associated with the corresponding task.</a:t>
            </a:r>
          </a:p>
          <a:p>
            <a:r>
              <a:rPr lang="en-US" dirty="0"/>
              <a:t>A shorter critical path favors a higher average-degree of concurrency.</a:t>
            </a:r>
          </a:p>
          <a:p>
            <a:r>
              <a:rPr lang="en-US" dirty="0"/>
              <a:t>Both, maximum and average degree of concurrency increases as tasks become smaller(finer)</a:t>
            </a:r>
          </a:p>
        </p:txBody>
      </p:sp>
    </p:spTree>
    <p:extLst>
      <p:ext uri="{BB962C8B-B14F-4D97-AF65-F5344CB8AC3E}">
        <p14:creationId xmlns:p14="http://schemas.microsoft.com/office/powerpoint/2010/main" val="1040142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0D8D519B-40B0-4AA6-A3B0-E15DDF79F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00" y="1619841"/>
            <a:ext cx="8323551" cy="3618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principles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55226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Average Degree of Concurrency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Critical path lengths:</a:t>
            </a:r>
            <a:r>
              <a:rPr lang="en-US" sz="2000" dirty="0"/>
              <a:t> 27 and 34 </a:t>
            </a:r>
          </a:p>
          <a:p>
            <a:pPr marL="0" indent="0">
              <a:buNone/>
            </a:pPr>
            <a:r>
              <a:rPr lang="en-US" sz="2000" b="1" dirty="0"/>
              <a:t>Total amount of work:</a:t>
            </a:r>
            <a:r>
              <a:rPr lang="en-US" sz="2000" dirty="0"/>
              <a:t> 63 and 64</a:t>
            </a:r>
          </a:p>
          <a:p>
            <a:pPr marL="0" indent="0">
              <a:buNone/>
            </a:pPr>
            <a:r>
              <a:rPr lang="en-US" sz="2000" b="1" dirty="0"/>
              <a:t>Average degree of concurrency</a:t>
            </a:r>
            <a:r>
              <a:rPr lang="en-US" sz="2000" dirty="0"/>
              <a:t>: 2.33 and 1.88</a:t>
            </a:r>
          </a:p>
        </p:txBody>
      </p:sp>
    </p:spTree>
    <p:extLst>
      <p:ext uri="{BB962C8B-B14F-4D97-AF65-F5344CB8AC3E}">
        <p14:creationId xmlns:p14="http://schemas.microsoft.com/office/powerpoint/2010/main" val="3098648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9DDCE7-96C6-480E-8A61-569285291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28" y="2171700"/>
            <a:ext cx="6900618" cy="45441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principles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Determine critical path length and average-concurrency?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741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</a:t>
            </a:r>
            <a:r>
              <a:rPr lang="en-US" altLang="en-US" dirty="0" smtClean="0"/>
              <a:t>rinciples </a:t>
            </a:r>
            <a:r>
              <a:rPr lang="en-US" altLang="en-US" dirty="0"/>
              <a:t>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Task Interact Graph</a:t>
            </a:r>
          </a:p>
          <a:p>
            <a:r>
              <a:rPr lang="en-US" dirty="0"/>
              <a:t>Depicts pattern of interaction between the tasks</a:t>
            </a:r>
          </a:p>
          <a:p>
            <a:r>
              <a:rPr lang="en-US" dirty="0"/>
              <a:t>Dependency graphs only show that how output of first task becomes input to the next level task.</a:t>
            </a:r>
          </a:p>
          <a:p>
            <a:r>
              <a:rPr lang="en-US" dirty="0"/>
              <a:t>But how the tasks interact with each other  to access distributed data is only depicted by task interaction graphs</a:t>
            </a:r>
          </a:p>
          <a:p>
            <a:r>
              <a:rPr lang="en-US" dirty="0"/>
              <a:t>The nodes in a task-interaction graph represent tasks</a:t>
            </a:r>
          </a:p>
          <a:p>
            <a:r>
              <a:rPr lang="en-US" dirty="0"/>
              <a:t>The edges connect tasks that interact with each other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91728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principles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Task Interact Graph</a:t>
            </a:r>
          </a:p>
          <a:p>
            <a:r>
              <a:rPr lang="en-US" dirty="0"/>
              <a:t>The edges in a task interaction graph are usually </a:t>
            </a:r>
            <a:r>
              <a:rPr lang="en-US" b="1" dirty="0"/>
              <a:t>undirected</a:t>
            </a:r>
          </a:p>
          <a:p>
            <a:pPr lvl="1"/>
            <a:r>
              <a:rPr lang="en-US"/>
              <a:t>but </a:t>
            </a:r>
            <a:r>
              <a:rPr lang="en-US" dirty="0"/>
              <a:t>directed edges can be used to indicate the direction of flow of data, if it is unidirectional.</a:t>
            </a:r>
          </a:p>
          <a:p>
            <a:r>
              <a:rPr lang="en-US" dirty="0"/>
              <a:t>The edge-set of a task-interaction graph is usually a </a:t>
            </a:r>
            <a:r>
              <a:rPr lang="en-US" b="1" dirty="0"/>
              <a:t>superset</a:t>
            </a:r>
            <a:r>
              <a:rPr lang="en-US" dirty="0"/>
              <a:t> of the edge-set of the task-dependency graph</a:t>
            </a:r>
          </a:p>
          <a:p>
            <a:r>
              <a:rPr lang="en-US" dirty="0"/>
              <a:t>In database query processing example, the task-interaction graph is the </a:t>
            </a:r>
            <a:r>
              <a:rPr lang="en-US" b="1" dirty="0"/>
              <a:t>same</a:t>
            </a:r>
            <a:r>
              <a:rPr lang="en-US" dirty="0"/>
              <a:t> as the task-dependency graph.  </a:t>
            </a:r>
          </a:p>
        </p:txBody>
      </p:sp>
    </p:spTree>
    <p:extLst>
      <p:ext uri="{BB962C8B-B14F-4D97-AF65-F5344CB8AC3E}">
        <p14:creationId xmlns:p14="http://schemas.microsoft.com/office/powerpoint/2010/main" val="36085645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3B878926-C00A-421A-B6D3-ACAC7F8DA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00" y="1793276"/>
            <a:ext cx="8683625" cy="434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principles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Task Interact Graph (</a:t>
            </a:r>
            <a:r>
              <a:rPr lang="en-US" dirty="0"/>
              <a:t>Sparse-matrix multiplication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876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principles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Processes and Mapping</a:t>
            </a:r>
          </a:p>
          <a:p>
            <a:r>
              <a:rPr lang="en-US" dirty="0"/>
              <a:t>Logical processing or computing agent that performs tasks is called </a:t>
            </a:r>
            <a:r>
              <a:rPr lang="en-US" b="1" dirty="0"/>
              <a:t>process</a:t>
            </a:r>
            <a:r>
              <a:rPr lang="en-US" dirty="0"/>
              <a:t>.</a:t>
            </a:r>
          </a:p>
          <a:p>
            <a:r>
              <a:rPr lang="en-US" dirty="0"/>
              <a:t>The mechanism by which tasks are assigned to processes for execution is called </a:t>
            </a:r>
            <a:r>
              <a:rPr lang="en-US" b="1" i="1" dirty="0"/>
              <a:t>mapping.</a:t>
            </a:r>
          </a:p>
          <a:p>
            <a:r>
              <a:rPr lang="en-US" dirty="0"/>
              <a:t>Multiple tasks can be mapped on a single process </a:t>
            </a:r>
            <a:endParaRPr lang="en-US" b="1" i="1" dirty="0"/>
          </a:p>
          <a:p>
            <a:r>
              <a:rPr lang="en-US" dirty="0"/>
              <a:t>Independent task should be mapped onto different processes</a:t>
            </a:r>
          </a:p>
          <a:p>
            <a:r>
              <a:rPr lang="en-US" dirty="0"/>
              <a:t>Map tasks with high mutual-interactions onto a single process </a:t>
            </a:r>
          </a:p>
        </p:txBody>
      </p:sp>
    </p:spTree>
    <p:extLst>
      <p:ext uri="{BB962C8B-B14F-4D97-AF65-F5344CB8AC3E}">
        <p14:creationId xmlns:p14="http://schemas.microsoft.com/office/powerpoint/2010/main" val="1721209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5F692957-5E38-4CED-879F-1328103CB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7" y="1755459"/>
            <a:ext cx="8683625" cy="4567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principles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Processes and Mapping</a:t>
            </a:r>
          </a:p>
        </p:txBody>
      </p:sp>
    </p:spTree>
    <p:extLst>
      <p:ext uri="{BB962C8B-B14F-4D97-AF65-F5344CB8AC3E}">
        <p14:creationId xmlns:p14="http://schemas.microsoft.com/office/powerpoint/2010/main" val="24303851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/>
              <a:t>principles of Parallel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53" y="1335366"/>
            <a:ext cx="8440880" cy="4987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Processes and Processors</a:t>
            </a:r>
          </a:p>
          <a:p>
            <a:r>
              <a:rPr lang="en-US" b="1" dirty="0"/>
              <a:t>Processes </a:t>
            </a:r>
            <a:r>
              <a:rPr lang="en-US" dirty="0"/>
              <a:t>are logical computing agents that perform tasks</a:t>
            </a:r>
          </a:p>
          <a:p>
            <a:r>
              <a:rPr lang="en-US" b="1" dirty="0"/>
              <a:t>Processors</a:t>
            </a:r>
            <a:r>
              <a:rPr lang="en-US" dirty="0"/>
              <a:t> are the hardware units that physically perform computations</a:t>
            </a:r>
          </a:p>
          <a:p>
            <a:r>
              <a:rPr lang="en-US" dirty="0"/>
              <a:t>Depending on the problem, multiple processes can be mapped on a single processor</a:t>
            </a:r>
          </a:p>
          <a:p>
            <a:r>
              <a:rPr lang="en-US" dirty="0"/>
              <a:t>But, in most of the cases, there is one-to-one correspondence between processors and processes</a:t>
            </a:r>
          </a:p>
          <a:p>
            <a:r>
              <a:rPr lang="en-US" dirty="0"/>
              <a:t>So, we assume that there are as many processes as the number of physical CPUs on the parallel computer</a:t>
            </a:r>
          </a:p>
        </p:txBody>
      </p:sp>
    </p:spTree>
    <p:extLst>
      <p:ext uri="{BB962C8B-B14F-4D97-AF65-F5344CB8AC3E}">
        <p14:creationId xmlns:p14="http://schemas.microsoft.com/office/powerpoint/2010/main" val="3902214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9799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09" y="967417"/>
            <a:ext cx="2834152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>
                <a:solidFill>
                  <a:srgbClr val="FEFFFF"/>
                </a:solidFill>
              </a:rPr>
              <a:t>Questions</a:t>
            </a:r>
          </a:p>
        </p:txBody>
      </p:sp>
      <p:sp>
        <p:nvSpPr>
          <p:cNvPr id="49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4053016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9" descr="Help">
            <a:extLst>
              <a:ext uri="{FF2B5EF4-FFF2-40B4-BE49-F238E27FC236}">
                <a16:creationId xmlns:a16="http://schemas.microsoft.com/office/drawing/2014/main" id="{1545BE9E-711D-438E-B83C-21C83592E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483319" y="972342"/>
            <a:ext cx="4230377" cy="423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668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B38B-89BC-41E9-B368-C232B1E49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596C9-EC0E-473B-9040-9141FE961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Kumar, V., </a:t>
            </a:r>
            <a:r>
              <a:rPr lang="en-US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Grama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, A., Gupta, A., &amp; </a:t>
            </a:r>
            <a:r>
              <a:rPr lang="en-US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Karypis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, G. (1994). </a:t>
            </a:r>
            <a:r>
              <a:rPr lang="en-US" sz="1200" i="1" dirty="0">
                <a:solidFill>
                  <a:srgbClr val="222222"/>
                </a:solidFill>
                <a:latin typeface="Arial" panose="020B0604020202020204" pitchFamily="34" charset="0"/>
              </a:rPr>
              <a:t>Introduction to parallel computing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 (Vol. 110). Redwood City, CA: Benjamin/Cummings.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Quinn, M. J. Parallel Programming in C with MPI and OpenMP,(2003).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8114206"/>
      </p:ext>
    </p:extLst>
  </p:cSld>
  <p:clrMapOvr>
    <a:masterClrMapping/>
  </p:clrMapOvr>
</p:sld>
</file>

<file path=ppt/theme/theme1.xml><?xml version="1.0" encoding="utf-8"?>
<a:theme xmlns:a="http://schemas.openxmlformats.org/drawingml/2006/main" name="1_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2009</TotalTime>
  <Words>1609</Words>
  <Application>Microsoft Office PowerPoint</Application>
  <PresentationFormat>On-screen Show (4:3)</PresentationFormat>
  <Paragraphs>201</Paragraphs>
  <Slides>28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Century Gothic</vt:lpstr>
      <vt:lpstr>Monotype Sorts</vt:lpstr>
      <vt:lpstr>Wingdings 3</vt:lpstr>
      <vt:lpstr>1_Wisp</vt:lpstr>
      <vt:lpstr>Default Design</vt:lpstr>
      <vt:lpstr>PowerPoint Presentation</vt:lpstr>
      <vt:lpstr>PowerPoint Presentation</vt:lpstr>
      <vt:lpstr>Agenda</vt:lpstr>
      <vt:lpstr>Quick Review to the Previous Lecture</vt:lpstr>
      <vt:lpstr>Principles of Parallel Algorithm Design </vt:lpstr>
      <vt:lpstr>Principles of Parallel Algorithm Design</vt:lpstr>
      <vt:lpstr>Principles of Parallel Algorithm Design</vt:lpstr>
      <vt:lpstr>principles of Parallel Algorithm Design</vt:lpstr>
      <vt:lpstr>PowerPoint Presentation</vt:lpstr>
      <vt:lpstr>PowerPoint Presentation</vt:lpstr>
      <vt:lpstr>principles of Parallel Algorithm Design</vt:lpstr>
      <vt:lpstr>PowerPoint Presentation</vt:lpstr>
      <vt:lpstr>PowerPoint Presentation</vt:lpstr>
      <vt:lpstr>principles of Parallel Algorithm Design</vt:lpstr>
      <vt:lpstr>principles of Parallel Algorithm Design</vt:lpstr>
      <vt:lpstr>principles of Parallel Algorithm Design</vt:lpstr>
      <vt:lpstr>principles of Parallel Algorithm Design</vt:lpstr>
      <vt:lpstr>principles of Parallel Algorithm Design</vt:lpstr>
      <vt:lpstr>principles of Parallel Algorithm Design</vt:lpstr>
      <vt:lpstr>principles of Parallel Algorithm Design</vt:lpstr>
      <vt:lpstr>Principles of Parallel Algorithm Design</vt:lpstr>
      <vt:lpstr>principles of Parallel Algorithm Design</vt:lpstr>
      <vt:lpstr>principles of Parallel Algorithm Design</vt:lpstr>
      <vt:lpstr>principles of Parallel Algorithm Design</vt:lpstr>
      <vt:lpstr>principles of Parallel Algorithm Design</vt:lpstr>
      <vt:lpstr>principles of Parallel Algorithm Design</vt:lpstr>
      <vt:lpstr>Questions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CS416 – Parallel and Distributed Computing</dc:title>
  <dc:creator>Muhammad Husnain</dc:creator>
  <cp:lastModifiedBy>Umar</cp:lastModifiedBy>
  <cp:revision>142</cp:revision>
  <dcterms:created xsi:type="dcterms:W3CDTF">2020-02-07T07:53:43Z</dcterms:created>
  <dcterms:modified xsi:type="dcterms:W3CDTF">2024-04-25T07:14:14Z</dcterms:modified>
</cp:coreProperties>
</file>